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147483124" r:id="rId2"/>
    <p:sldId id="256" r:id="rId3"/>
    <p:sldId id="2147483222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2104E-77D5-214E-AD42-519E1C8FF7BF}" v="4" dt="2026-08-13T18:23:17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2"/>
    <p:restoredTop sz="94661"/>
  </p:normalViewPr>
  <p:slideViewPr>
    <p:cSldViewPr snapToGrid="0">
      <p:cViewPr varScale="1">
        <p:scale>
          <a:sx n="199" d="100"/>
          <a:sy n="199" d="100"/>
        </p:scale>
        <p:origin x="5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575E9-289F-0B49-ADB4-12FE30C0608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361AD-5689-1F42-807E-D2D547C1C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31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F7EE4-7D84-4D77-B4B2-0C966043B36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63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1E230-8455-BB06-4F6E-97C06BBF4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B702D-6B54-02B1-5BA0-0E17EAF77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5556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0F067-3681-A1E0-D6CB-1914968E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12632-8B62-F927-2958-E392361EF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2791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1F9A-9901-B856-02B2-A06688D23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3C105-45FF-A4C4-7D4C-3A6116C90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9341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38EF-3A58-3A68-F1D4-7345C6FC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31BFD-0E4C-D77E-6425-92A6DFD73E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582002-4364-216C-7FF1-5BBFF55F5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9747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0DBB-1EFF-9F8C-93D2-E36101AD5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8EB96-042A-07B5-D835-5AB223A24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C60A9-57D0-7FA5-1C7B-0D9CE4F79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1993AB-6943-E8F6-984C-6A484F11D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070A92-F6BB-B0D8-176C-71F95D903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1886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C47D-E746-93E3-637D-29C6118FB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660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08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5301-6C30-691F-5E02-F69A5AE2C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A3290-00A5-DC30-9C87-C01D3B83C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6CF18-3535-7894-778C-25504BC46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4655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74FF8-B265-F80D-5843-317F965D3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49E289-5C3F-C151-B1FF-A57A7E988E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36B41-CA69-68F1-A158-52B92B25B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389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53E96-4E55-671E-E985-D7F49244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C4842B-B840-88A7-D62E-104E4B2EA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978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68571-B9E7-EBEE-BB4D-984783915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9F48C-6A33-024B-73B3-ECE0BA4DF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7887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-m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934DE5-9396-5A99-9E78-1222EC59FC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/>
        </p:blipFill>
        <p:spPr>
          <a:xfrm>
            <a:off x="0" y="4233"/>
            <a:ext cx="12190072" cy="6858000"/>
          </a:xfrm>
          <a:prstGeom prst="rect">
            <a:avLst/>
          </a:prstGeom>
        </p:spPr>
      </p:pic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2968C323-10BA-3F4F-90A6-9A79E5FF2F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8873" y="5317263"/>
            <a:ext cx="5686425" cy="7705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Name goes here</a:t>
            </a:r>
            <a:br>
              <a:rPr lang="en-US"/>
            </a:br>
            <a:r>
              <a:rPr lang="en-US"/>
              <a:t>Position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C861E3C-8230-296F-72BF-BEB912769B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3547" y="787134"/>
            <a:ext cx="6561349" cy="131488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 fontAlgn="b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defRPr sz="4800" b="0" i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Title with multiple lines here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2863497-253D-0001-302A-BF7F6FB0FA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8660" y="361951"/>
            <a:ext cx="6561349" cy="338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ln>
                  <a:noFill/>
                </a:ln>
                <a:solidFill>
                  <a:schemeClr val="tx1"/>
                </a:solidFill>
                <a:latin typeface="+mn-lt"/>
                <a:ea typeface="Fira Sans Medium" panose="020B05030500000200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Date/subtitle goes here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950B077-7ABD-1CA0-7680-D20F94CEA91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207" y="6023611"/>
            <a:ext cx="1524000" cy="472440"/>
          </a:xfrm>
          <a:prstGeom prst="rect">
            <a:avLst/>
          </a:prstGeom>
        </p:spPr>
      </p:pic>
      <p:sp>
        <p:nvSpPr>
          <p:cNvPr id="2" name="Graphic 7">
            <a:extLst>
              <a:ext uri="{FF2B5EF4-FFF2-40B4-BE49-F238E27FC236}">
                <a16:creationId xmlns:a16="http://schemas.microsoft.com/office/drawing/2014/main" id="{BD4FD3ED-E1C4-C93F-F3C4-B72BA4CD8548}"/>
              </a:ext>
            </a:extLst>
          </p:cNvPr>
          <p:cNvSpPr/>
          <p:nvPr userDrawn="1"/>
        </p:nvSpPr>
        <p:spPr>
          <a:xfrm>
            <a:off x="10819197" y="5171846"/>
            <a:ext cx="1006623" cy="1324207"/>
          </a:xfrm>
          <a:custGeom>
            <a:avLst/>
            <a:gdLst>
              <a:gd name="connsiteX0" fmla="*/ 114195 w 228600"/>
              <a:gd name="connsiteY0" fmla="*/ 70725 h 300721"/>
              <a:gd name="connsiteX1" fmla="*/ 125880 w 228600"/>
              <a:gd name="connsiteY1" fmla="*/ 6663 h 300721"/>
              <a:gd name="connsiteX2" fmla="*/ 53690 w 228600"/>
              <a:gd name="connsiteY2" fmla="*/ 6663 h 300721"/>
              <a:gd name="connsiteX3" fmla="*/ 0 w 228600"/>
              <a:gd name="connsiteY3" fmla="*/ 300721 h 300721"/>
              <a:gd name="connsiteX4" fmla="*/ 81983 w 228600"/>
              <a:gd name="connsiteY4" fmla="*/ 300721 h 300721"/>
              <a:gd name="connsiteX5" fmla="*/ 104121 w 228600"/>
              <a:gd name="connsiteY5" fmla="*/ 179478 h 300721"/>
              <a:gd name="connsiteX6" fmla="*/ 212589 w 228600"/>
              <a:gd name="connsiteY6" fmla="*/ 88212 h 300721"/>
              <a:gd name="connsiteX7" fmla="*/ 228600 w 228600"/>
              <a:gd name="connsiteY7" fmla="*/ 501 h 300721"/>
              <a:gd name="connsiteX8" fmla="*/ 114195 w 228600"/>
              <a:gd name="connsiteY8" fmla="*/ 70725 h 300721"/>
              <a:gd name="connsiteX9" fmla="*/ 106394 w 228600"/>
              <a:gd name="connsiteY9" fmla="*/ 291216 h 300721"/>
              <a:gd name="connsiteX10" fmla="*/ 98075 w 228600"/>
              <a:gd name="connsiteY10" fmla="*/ 281671 h 300721"/>
              <a:gd name="connsiteX11" fmla="*/ 88106 w 228600"/>
              <a:gd name="connsiteY11" fmla="*/ 291216 h 300721"/>
              <a:gd name="connsiteX12" fmla="*/ 96426 w 228600"/>
              <a:gd name="connsiteY12" fmla="*/ 300721 h 300721"/>
              <a:gd name="connsiteX13" fmla="*/ 106394 w 228600"/>
              <a:gd name="connsiteY13" fmla="*/ 291216 h 300721"/>
              <a:gd name="connsiteX14" fmla="*/ 105091 w 228600"/>
              <a:gd name="connsiteY14" fmla="*/ 291096 h 300721"/>
              <a:gd name="connsiteX15" fmla="*/ 96426 w 228600"/>
              <a:gd name="connsiteY15" fmla="*/ 299363 h 300721"/>
              <a:gd name="connsiteX16" fmla="*/ 89410 w 228600"/>
              <a:gd name="connsiteY16" fmla="*/ 291336 h 300721"/>
              <a:gd name="connsiteX17" fmla="*/ 98075 w 228600"/>
              <a:gd name="connsiteY17" fmla="*/ 283069 h 300721"/>
              <a:gd name="connsiteX18" fmla="*/ 105091 w 228600"/>
              <a:gd name="connsiteY18" fmla="*/ 291096 h 300721"/>
              <a:gd name="connsiteX19" fmla="*/ 98765 w 228600"/>
              <a:gd name="connsiteY19" fmla="*/ 292374 h 300721"/>
              <a:gd name="connsiteX20" fmla="*/ 100222 w 228600"/>
              <a:gd name="connsiteY20" fmla="*/ 296807 h 300721"/>
              <a:gd name="connsiteX21" fmla="*/ 98803 w 228600"/>
              <a:gd name="connsiteY21" fmla="*/ 296807 h 300721"/>
              <a:gd name="connsiteX22" fmla="*/ 97385 w 228600"/>
              <a:gd name="connsiteY22" fmla="*/ 292494 h 300721"/>
              <a:gd name="connsiteX23" fmla="*/ 95353 w 228600"/>
              <a:gd name="connsiteY23" fmla="*/ 292494 h 300721"/>
              <a:gd name="connsiteX24" fmla="*/ 94586 w 228600"/>
              <a:gd name="connsiteY24" fmla="*/ 296807 h 300721"/>
              <a:gd name="connsiteX25" fmla="*/ 93244 w 228600"/>
              <a:gd name="connsiteY25" fmla="*/ 296807 h 300721"/>
              <a:gd name="connsiteX26" fmla="*/ 95276 w 228600"/>
              <a:gd name="connsiteY26" fmla="*/ 285585 h 300721"/>
              <a:gd name="connsiteX27" fmla="*/ 98803 w 228600"/>
              <a:gd name="connsiteY27" fmla="*/ 285585 h 300721"/>
              <a:gd name="connsiteX28" fmla="*/ 101679 w 228600"/>
              <a:gd name="connsiteY28" fmla="*/ 288420 h 300721"/>
              <a:gd name="connsiteX29" fmla="*/ 98765 w 228600"/>
              <a:gd name="connsiteY29" fmla="*/ 292374 h 300721"/>
              <a:gd name="connsiteX30" fmla="*/ 98803 w 228600"/>
              <a:gd name="connsiteY30" fmla="*/ 286943 h 300721"/>
              <a:gd name="connsiteX31" fmla="*/ 96349 w 228600"/>
              <a:gd name="connsiteY31" fmla="*/ 286943 h 300721"/>
              <a:gd name="connsiteX32" fmla="*/ 95583 w 228600"/>
              <a:gd name="connsiteY32" fmla="*/ 291136 h 300721"/>
              <a:gd name="connsiteX33" fmla="*/ 97806 w 228600"/>
              <a:gd name="connsiteY33" fmla="*/ 291136 h 300721"/>
              <a:gd name="connsiteX34" fmla="*/ 100337 w 228600"/>
              <a:gd name="connsiteY34" fmla="*/ 288900 h 300721"/>
              <a:gd name="connsiteX35" fmla="*/ 98803 w 228600"/>
              <a:gd name="connsiteY35" fmla="*/ 286943 h 300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28600" h="300721">
                <a:moveTo>
                  <a:pt x="114195" y="70725"/>
                </a:moveTo>
                <a:lnTo>
                  <a:pt x="125880" y="6663"/>
                </a:lnTo>
                <a:lnTo>
                  <a:pt x="53690" y="6663"/>
                </a:lnTo>
                <a:lnTo>
                  <a:pt x="0" y="300721"/>
                </a:lnTo>
                <a:lnTo>
                  <a:pt x="81983" y="300721"/>
                </a:lnTo>
                <a:lnTo>
                  <a:pt x="104121" y="179478"/>
                </a:lnTo>
                <a:cubicBezTo>
                  <a:pt x="117174" y="107983"/>
                  <a:pt x="156551" y="79374"/>
                  <a:pt x="212589" y="88212"/>
                </a:cubicBezTo>
                <a:lnTo>
                  <a:pt x="228600" y="501"/>
                </a:lnTo>
                <a:cubicBezTo>
                  <a:pt x="178150" y="-4291"/>
                  <a:pt x="133150" y="25773"/>
                  <a:pt x="114195" y="70725"/>
                </a:cubicBezTo>
                <a:close/>
                <a:moveTo>
                  <a:pt x="106394" y="291216"/>
                </a:moveTo>
                <a:cubicBezTo>
                  <a:pt x="106854" y="285944"/>
                  <a:pt x="103135" y="281671"/>
                  <a:pt x="98075" y="281671"/>
                </a:cubicBezTo>
                <a:cubicBezTo>
                  <a:pt x="93014" y="281671"/>
                  <a:pt x="88567" y="285944"/>
                  <a:pt x="88106" y="291216"/>
                </a:cubicBezTo>
                <a:cubicBezTo>
                  <a:pt x="87608" y="296048"/>
                  <a:pt x="91020" y="300721"/>
                  <a:pt x="96426" y="300721"/>
                </a:cubicBezTo>
                <a:cubicBezTo>
                  <a:pt x="101487" y="300761"/>
                  <a:pt x="105934" y="296488"/>
                  <a:pt x="106394" y="291216"/>
                </a:cubicBezTo>
                <a:close/>
                <a:moveTo>
                  <a:pt x="105091" y="291096"/>
                </a:moveTo>
                <a:cubicBezTo>
                  <a:pt x="104707" y="295649"/>
                  <a:pt x="100797" y="299363"/>
                  <a:pt x="96426" y="299363"/>
                </a:cubicBezTo>
                <a:cubicBezTo>
                  <a:pt x="92132" y="299363"/>
                  <a:pt x="89027" y="295769"/>
                  <a:pt x="89410" y="291336"/>
                </a:cubicBezTo>
                <a:cubicBezTo>
                  <a:pt x="89793" y="286823"/>
                  <a:pt x="93666" y="283069"/>
                  <a:pt x="98075" y="283069"/>
                </a:cubicBezTo>
                <a:cubicBezTo>
                  <a:pt x="102330" y="283069"/>
                  <a:pt x="105474" y="286663"/>
                  <a:pt x="105091" y="291096"/>
                </a:cubicBezTo>
                <a:close/>
                <a:moveTo>
                  <a:pt x="98765" y="292374"/>
                </a:moveTo>
                <a:lnTo>
                  <a:pt x="100222" y="296807"/>
                </a:lnTo>
                <a:lnTo>
                  <a:pt x="98803" y="296807"/>
                </a:lnTo>
                <a:lnTo>
                  <a:pt x="97385" y="292494"/>
                </a:lnTo>
                <a:lnTo>
                  <a:pt x="95353" y="292494"/>
                </a:lnTo>
                <a:lnTo>
                  <a:pt x="94586" y="296807"/>
                </a:lnTo>
                <a:lnTo>
                  <a:pt x="93244" y="296807"/>
                </a:lnTo>
                <a:lnTo>
                  <a:pt x="95276" y="285585"/>
                </a:lnTo>
                <a:lnTo>
                  <a:pt x="98803" y="285585"/>
                </a:lnTo>
                <a:cubicBezTo>
                  <a:pt x="100413" y="285585"/>
                  <a:pt x="101640" y="286823"/>
                  <a:pt x="101679" y="288420"/>
                </a:cubicBezTo>
                <a:cubicBezTo>
                  <a:pt x="101717" y="289898"/>
                  <a:pt x="100720" y="291815"/>
                  <a:pt x="98765" y="292374"/>
                </a:cubicBezTo>
                <a:close/>
                <a:moveTo>
                  <a:pt x="98803" y="286943"/>
                </a:moveTo>
                <a:lnTo>
                  <a:pt x="96349" y="286943"/>
                </a:lnTo>
                <a:lnTo>
                  <a:pt x="95583" y="291136"/>
                </a:lnTo>
                <a:lnTo>
                  <a:pt x="97806" y="291136"/>
                </a:lnTo>
                <a:cubicBezTo>
                  <a:pt x="98995" y="291136"/>
                  <a:pt x="100030" y="290178"/>
                  <a:pt x="100337" y="288900"/>
                </a:cubicBezTo>
                <a:cubicBezTo>
                  <a:pt x="100567" y="287901"/>
                  <a:pt x="99800" y="286943"/>
                  <a:pt x="98803" y="286943"/>
                </a:cubicBezTo>
                <a:close/>
              </a:path>
            </a:pathLst>
          </a:custGeom>
          <a:solidFill>
            <a:schemeClr val="bg2"/>
          </a:solidFill>
          <a:ln w="9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619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333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88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325FFC-50E7-9C08-B7DE-DE877DEC7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E7EA6-BCD8-A6FE-1728-41421D3D4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07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5" r:id="rId13"/>
    <p:sldLayoutId id="214748366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0CA4D0-EEA4-2AE3-2815-A000585FA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650" y="496188"/>
            <a:ext cx="11214751" cy="584391"/>
          </a:xfrm>
        </p:spPr>
        <p:txBody>
          <a:bodyPr anchor="t"/>
          <a:lstStyle/>
          <a:p>
            <a:r>
              <a:rPr lang="en-US" sz="4267" dirty="0">
                <a:solidFill>
                  <a:schemeClr val="tx2"/>
                </a:solidFill>
              </a:rPr>
              <a:t>RACKAI Roadmap</a:t>
            </a:r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321558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0624" y="1554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RACKAI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554480" y="128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Roadmap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05088" y="2286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Mission: secure, scalable AI at enterprise scale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11480" y="1060704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0F8A5F"/>
          </a:solidFill>
          <a:ln w="12700">
            <a:solidFill>
              <a:srgbClr val="0F8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7899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Q3'2026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36776" y="10789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A89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490472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8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the platform foundation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11480" y="180136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Infrastructure, GPU support and core fine-tuning capabilities.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411480" y="2249424"/>
            <a:ext cx="27249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249424"/>
            <a:ext cx="54864" cy="749808"/>
          </a:xfrm>
          <a:prstGeom prst="rect">
            <a:avLst/>
          </a:prstGeom>
          <a:solidFill>
            <a:srgbClr val="0F8A5F"/>
          </a:solidFill>
          <a:ln w="12700">
            <a:solidFill>
              <a:srgbClr val="0F8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&amp; API foundation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" y="25877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MSP features, routing, API validation and KServe upgrades.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272491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108960"/>
            <a:ext cx="54864" cy="896112"/>
          </a:xfrm>
          <a:prstGeom prst="rect">
            <a:avLst/>
          </a:prstGeom>
          <a:solidFill>
            <a:srgbClr val="0F8A5F"/>
          </a:solidFill>
          <a:ln w="12700">
            <a:solidFill>
              <a:srgbClr val="0F8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" y="3218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&amp; runtime efficiency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34472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+ NVIDIA support, accelerator selection, AIM integration and speculative decoding.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411480" y="4114800"/>
            <a:ext cx="27249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4114800"/>
            <a:ext cx="54864" cy="768096"/>
          </a:xfrm>
          <a:prstGeom prst="rect">
            <a:avLst/>
          </a:prstGeom>
          <a:solidFill>
            <a:srgbClr val="0F8A5F"/>
          </a:solidFill>
          <a:ln w="12700">
            <a:solidFill>
              <a:srgbClr val="0F8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" y="4224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Fine-tuning foundations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" y="4453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Context-parallel FT, DPO and SLM support.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11480" y="4992624"/>
            <a:ext cx="27249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4992624"/>
            <a:ext cx="54864" cy="768096"/>
          </a:xfrm>
          <a:prstGeom prst="rect">
            <a:avLst/>
          </a:prstGeom>
          <a:solidFill>
            <a:srgbClr val="0F8A5F"/>
          </a:solidFill>
          <a:ln w="12700">
            <a:solidFill>
              <a:srgbClr val="0F8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6072" y="51023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readiness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" y="5330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OpenCenter upgrades and repeatable AI performance benchmarking.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3291840" y="1060704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2563C9"/>
          </a:solidFill>
          <a:ln w="12700">
            <a:solidFill>
              <a:srgbClr val="2563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0" y="107899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Q4'2026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17136" y="10789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A89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1490472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563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efficiency and maturity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3291840" y="180136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data workflows, automation and inference visibility.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3291840" y="2249424"/>
            <a:ext cx="27249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91840" y="2249424"/>
            <a:ext cx="54864" cy="749808"/>
          </a:xfrm>
          <a:prstGeom prst="rect">
            <a:avLst/>
          </a:prstGeom>
          <a:solidFill>
            <a:srgbClr val="2563C9"/>
          </a:solidFill>
          <a:ln w="12700">
            <a:solidFill>
              <a:srgbClr val="2563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56432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efficiency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56432" y="25877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memory fragmentation and improve model density and utilization.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3291840" y="3108960"/>
            <a:ext cx="272491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91840" y="3108960"/>
            <a:ext cx="54864" cy="868680"/>
          </a:xfrm>
          <a:prstGeom prst="rect">
            <a:avLst/>
          </a:prstGeom>
          <a:solidFill>
            <a:srgbClr val="2563C9"/>
          </a:solidFill>
          <a:ln w="12700">
            <a:solidFill>
              <a:srgbClr val="2563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456432" y="3218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synthetic data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56432" y="3447288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dataset management and add synthetic-data workflows.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3291840" y="4087368"/>
            <a:ext cx="272491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91840" y="4087368"/>
            <a:ext cx="54864" cy="804672"/>
          </a:xfrm>
          <a:prstGeom prst="rect">
            <a:avLst/>
          </a:prstGeom>
          <a:solidFill>
            <a:srgbClr val="2563C9"/>
          </a:solidFill>
          <a:ln w="12700">
            <a:solidFill>
              <a:srgbClr val="2563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456432" y="41970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automation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456432" y="44256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infrastructure, Kubernetes/OpenCenter and RackAI deployment.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3291840" y="5001768"/>
            <a:ext cx="272491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91840" y="5001768"/>
            <a:ext cx="54864" cy="804672"/>
          </a:xfrm>
          <a:prstGeom prst="rect">
            <a:avLst/>
          </a:prstGeom>
          <a:solidFill>
            <a:srgbClr val="2563C9"/>
          </a:solidFill>
          <a:ln w="12700">
            <a:solidFill>
              <a:srgbClr val="2563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56432" y="51114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observability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456432" y="53400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latency, throughput, health and resource utilization.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6172200" y="1060704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72200" y="107899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Q1'2027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97496" y="10789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A89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72200" y="1490472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6B4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model choice &amp; consumption</a:t>
            </a:r>
            <a:endParaRPr lang="en-US" sz="1550" dirty="0"/>
          </a:p>
        </p:txBody>
      </p:sp>
      <p:sp>
        <p:nvSpPr>
          <p:cNvPr id="54" name="Text 52"/>
          <p:cNvSpPr/>
          <p:nvPr/>
        </p:nvSpPr>
        <p:spPr>
          <a:xfrm>
            <a:off x="6172200" y="180136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Bring-your-own-model, multiple runtimes and serverless inference.</a:t>
            </a:r>
            <a:endParaRPr lang="en-US" sz="890" dirty="0"/>
          </a:p>
        </p:txBody>
      </p:sp>
      <p:sp>
        <p:nvSpPr>
          <p:cNvPr id="55" name="Shape 53"/>
          <p:cNvSpPr/>
          <p:nvPr/>
        </p:nvSpPr>
        <p:spPr>
          <a:xfrm>
            <a:off x="6172200" y="2249424"/>
            <a:ext cx="272491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172200" y="2249424"/>
            <a:ext cx="54864" cy="73152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36792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Benchmarking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336792" y="25877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model, hardware and runtime performance comparisons.</a:t>
            </a:r>
            <a:endParaRPr lang="en-US" sz="870" dirty="0"/>
          </a:p>
        </p:txBody>
      </p:sp>
      <p:sp>
        <p:nvSpPr>
          <p:cNvPr id="59" name="Shape 57"/>
          <p:cNvSpPr/>
          <p:nvPr/>
        </p:nvSpPr>
        <p:spPr>
          <a:xfrm>
            <a:off x="6172200" y="3090672"/>
            <a:ext cx="27249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172200" y="3090672"/>
            <a:ext cx="54864" cy="84124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336792" y="32004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BYOM / Import Model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336792" y="34290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compatible customer models into the managed RackAI lifecycle.</a:t>
            </a:r>
            <a:endParaRPr lang="en-US" sz="870" dirty="0"/>
          </a:p>
        </p:txBody>
      </p:sp>
      <p:sp>
        <p:nvSpPr>
          <p:cNvPr id="63" name="Shape 61"/>
          <p:cNvSpPr/>
          <p:nvPr/>
        </p:nvSpPr>
        <p:spPr>
          <a:xfrm>
            <a:off x="6172200" y="4041648"/>
            <a:ext cx="27249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172200" y="4041648"/>
            <a:ext cx="54864" cy="84124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336792" y="41513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Serverless inference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336792" y="437997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Managed, consumption-based inference with automatic scaling.</a:t>
            </a:r>
            <a:endParaRPr lang="en-US" sz="870" dirty="0"/>
          </a:p>
        </p:txBody>
      </p:sp>
      <p:sp>
        <p:nvSpPr>
          <p:cNvPr id="67" name="Shape 65"/>
          <p:cNvSpPr/>
          <p:nvPr/>
        </p:nvSpPr>
        <p:spPr>
          <a:xfrm>
            <a:off x="6172200" y="4992624"/>
            <a:ext cx="27249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172200" y="4992624"/>
            <a:ext cx="54864" cy="84124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336792" y="51023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Multi-runtime inference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336792" y="53309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SGLang and llama.cpp for broader workload coverage.</a:t>
            </a:r>
            <a:endParaRPr lang="en-US" sz="870" dirty="0"/>
          </a:p>
        </p:txBody>
      </p:sp>
      <p:sp>
        <p:nvSpPr>
          <p:cNvPr id="71" name="Shape 69"/>
          <p:cNvSpPr/>
          <p:nvPr/>
        </p:nvSpPr>
        <p:spPr>
          <a:xfrm>
            <a:off x="9052560" y="1060704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F07C00"/>
          </a:solidFill>
          <a:ln w="12700">
            <a:solidFill>
              <a:srgbClr val="F0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052560" y="107899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Q2'2027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0277856" y="10789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A89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SCALE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052560" y="1490472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07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the enterprise AI service layer</a:t>
            </a:r>
            <a:endParaRPr lang="en-US" sz="1550" dirty="0"/>
          </a:p>
        </p:txBody>
      </p:sp>
      <p:sp>
        <p:nvSpPr>
          <p:cNvPr id="75" name="Text 73"/>
          <p:cNvSpPr/>
          <p:nvPr/>
        </p:nvSpPr>
        <p:spPr>
          <a:xfrm>
            <a:off x="9052560" y="180136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inference, governance and developer capabilities.</a:t>
            </a:r>
            <a:endParaRPr lang="en-US" sz="890" dirty="0"/>
          </a:p>
        </p:txBody>
      </p:sp>
      <p:sp>
        <p:nvSpPr>
          <p:cNvPr id="76" name="Shape 74"/>
          <p:cNvSpPr/>
          <p:nvPr/>
        </p:nvSpPr>
        <p:spPr>
          <a:xfrm>
            <a:off x="9052560" y="2249424"/>
            <a:ext cx="27249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9052560" y="2249424"/>
            <a:ext cx="54864" cy="914400"/>
          </a:xfrm>
          <a:prstGeom prst="rect">
            <a:avLst/>
          </a:prstGeom>
          <a:solidFill>
            <a:srgbClr val="F07C00"/>
          </a:solidFill>
          <a:ln w="12700">
            <a:solidFill>
              <a:srgbClr val="F0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9217152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inference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9217152" y="258775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inference, evaluation, experiment tracking, quantization and custom containers.</a:t>
            </a:r>
            <a:endParaRPr lang="en-US" sz="870" dirty="0"/>
          </a:p>
        </p:txBody>
      </p:sp>
      <p:sp>
        <p:nvSpPr>
          <p:cNvPr id="80" name="Shape 78"/>
          <p:cNvSpPr/>
          <p:nvPr/>
        </p:nvSpPr>
        <p:spPr>
          <a:xfrm>
            <a:off x="9052560" y="3273552"/>
            <a:ext cx="272491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9052560" y="3273552"/>
            <a:ext cx="54864" cy="786384"/>
          </a:xfrm>
          <a:prstGeom prst="rect">
            <a:avLst/>
          </a:prstGeom>
          <a:solidFill>
            <a:srgbClr val="F07C00"/>
          </a:solidFill>
          <a:ln w="12700">
            <a:solidFill>
              <a:srgbClr val="F0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9217152" y="33832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fine-tuning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9217152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Tool/function calling and vision-language model fine-tuning.</a:t>
            </a:r>
            <a:endParaRPr lang="en-US" sz="870" dirty="0"/>
          </a:p>
        </p:txBody>
      </p:sp>
      <p:sp>
        <p:nvSpPr>
          <p:cNvPr id="84" name="Shape 82"/>
          <p:cNvSpPr/>
          <p:nvPr/>
        </p:nvSpPr>
        <p:spPr>
          <a:xfrm>
            <a:off x="9052560" y="4169664"/>
            <a:ext cx="27249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9052560" y="4169664"/>
            <a:ext cx="54864" cy="914400"/>
          </a:xfrm>
          <a:prstGeom prst="rect">
            <a:avLst/>
          </a:prstGeom>
          <a:solidFill>
            <a:srgbClr val="F07C00"/>
          </a:solidFill>
          <a:ln w="12700">
            <a:solidFill>
              <a:srgbClr val="F0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217152" y="4279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model services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9217152" y="450799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Embeddings, reranking, guardrails, customer models and model lifecycle.</a:t>
            </a:r>
            <a:endParaRPr lang="en-US" sz="870" dirty="0"/>
          </a:p>
        </p:txBody>
      </p:sp>
      <p:sp>
        <p:nvSpPr>
          <p:cNvPr id="88" name="Shape 86"/>
          <p:cNvSpPr/>
          <p:nvPr/>
        </p:nvSpPr>
        <p:spPr>
          <a:xfrm>
            <a:off x="9052560" y="5193792"/>
            <a:ext cx="27249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9052560" y="5193792"/>
            <a:ext cx="54864" cy="914400"/>
          </a:xfrm>
          <a:prstGeom prst="rect">
            <a:avLst/>
          </a:prstGeom>
          <a:solidFill>
            <a:srgbClr val="F07C00"/>
          </a:solidFill>
          <a:ln w="12700">
            <a:solidFill>
              <a:srgbClr val="F0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9217152" y="53035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developer experience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9217152" y="55321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health, tracing, private endpoints, structured output, checkpoints and API/token management.</a:t>
            </a:r>
            <a:endParaRPr lang="en-US" sz="870" dirty="0"/>
          </a:p>
        </p:txBody>
      </p:sp>
      <p:sp>
        <p:nvSpPr>
          <p:cNvPr id="94" name="Text 92"/>
          <p:cNvSpPr/>
          <p:nvPr/>
        </p:nvSpPr>
        <p:spPr>
          <a:xfrm>
            <a:off x="1828800" y="6441948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→ Fine-tune → Evaluate → Deploy → Observe → Govern</a:t>
            </a:r>
            <a:endParaRPr lang="en-US" sz="920" dirty="0"/>
          </a:p>
        </p:txBody>
      </p:sp>
      <p:pic>
        <p:nvPicPr>
          <p:cNvPr id="97" name="Image 0" descr="/home/claude/illustrations/logo.png">
            <a:extLst>
              <a:ext uri="{FF2B5EF4-FFF2-40B4-BE49-F238E27FC236}">
                <a16:creationId xmlns:a16="http://schemas.microsoft.com/office/drawing/2014/main" id="{D6A56C30-A789-A551-C302-260327356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1356" y="109728"/>
            <a:ext cx="320040" cy="402336"/>
          </a:xfrm>
          <a:prstGeom prst="rect">
            <a:avLst/>
          </a:prstGeom>
        </p:spPr>
      </p:pic>
      <p:sp>
        <p:nvSpPr>
          <p:cNvPr id="98" name="Text 2">
            <a:extLst>
              <a:ext uri="{FF2B5EF4-FFF2-40B4-BE49-F238E27FC236}">
                <a16:creationId xmlns:a16="http://schemas.microsoft.com/office/drawing/2014/main" id="{4290BFDD-A7F6-315B-36E5-F50B953BF54E}"/>
              </a:ext>
            </a:extLst>
          </p:cNvPr>
          <p:cNvSpPr/>
          <p:nvPr/>
        </p:nvSpPr>
        <p:spPr>
          <a:xfrm>
            <a:off x="344170" y="25603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FF0000"/>
                </a:solidFill>
              </a:rPr>
              <a:t>RackAI</a:t>
            </a:r>
            <a:r>
              <a:rPr lang="en-US" sz="2100" b="1" dirty="0">
                <a:solidFill>
                  <a:srgbClr val="FF0000"/>
                </a:solidFill>
              </a:rPr>
              <a:t> – Inferencing &amp; Finetuning as a Service </a:t>
            </a:r>
            <a:r>
              <a:rPr lang="en-US" sz="2100" b="1" dirty="0">
                <a:solidFill>
                  <a:srgbClr val="12304A"/>
                </a:solidFill>
              </a:rPr>
              <a:t>Roadmap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50292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04A"/>
                </a:solidFill>
              </a:rPr>
              <a:t>Roadmap Breakdown </a:t>
            </a:r>
            <a:r>
              <a:rPr lang="en-US" sz="2100" b="1" dirty="0">
                <a:solidFill>
                  <a:srgbClr val="FF0000"/>
                </a:solidFill>
              </a:rPr>
              <a:t>(1/2)</a:t>
            </a:r>
            <a:endParaRPr lang="en-US" sz="2100" dirty="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307592"/>
            <a:ext cx="5532120" cy="347472"/>
          </a:xfrm>
          <a:prstGeom prst="roundRect">
            <a:avLst>
              <a:gd name="adj" fmla="val 10526"/>
            </a:avLst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" y="137160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Q3’2026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709928" y="1380744"/>
            <a:ext cx="4197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263640" y="1307592"/>
            <a:ext cx="5532120" cy="347472"/>
          </a:xfrm>
          <a:prstGeom prst="roundRect">
            <a:avLst>
              <a:gd name="adj" fmla="val 10526"/>
            </a:avLst>
          </a:prstGeom>
          <a:solidFill>
            <a:srgbClr val="315DDC"/>
          </a:solidFill>
          <a:ln w="12700">
            <a:solidFill>
              <a:srgbClr val="315D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91656" y="137160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Q4’2026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70648" y="1380744"/>
            <a:ext cx="4197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02920" y="1764792"/>
            <a:ext cx="2683764" cy="201168"/>
          </a:xfrm>
          <a:prstGeom prst="roundRect">
            <a:avLst>
              <a:gd name="adj" fmla="val 13636"/>
            </a:avLst>
          </a:prstGeom>
          <a:solidFill>
            <a:srgbClr val="E8F6F0"/>
          </a:solidFill>
          <a:ln w="12700">
            <a:solidFill>
              <a:srgbClr val="E8F6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" y="1805940"/>
            <a:ext cx="25374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2304A"/>
                </a:solidFill>
              </a:rPr>
              <a:t>PLATFORM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02920" y="2071116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2020824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3384D"/>
                </a:solidFill>
              </a:rPr>
              <a:t>MSP Features</a:t>
            </a:r>
            <a:r>
              <a:rPr lang="en-US" sz="730" dirty="0">
                <a:solidFill>
                  <a:srgbClr val="617285"/>
                </a:solidFill>
              </a:rPr>
              <a:t> — Multi-tenant controls for securely operating and scaling AI services.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502920" y="2427732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2377440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3384D"/>
                </a:solidFill>
              </a:rPr>
              <a:t>Routing</a:t>
            </a:r>
            <a:r>
              <a:rPr lang="en-US" sz="730" dirty="0">
                <a:solidFill>
                  <a:srgbClr val="617285"/>
                </a:solidFill>
              </a:rPr>
              <a:t> — Route requests across models, endpoints and capacity for availability.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502920" y="2784348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" y="2734056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3384D"/>
                </a:solidFill>
              </a:rPr>
              <a:t>AMD + NVIDIA node support</a:t>
            </a:r>
            <a:r>
              <a:rPr lang="en-US" sz="730" dirty="0">
                <a:solidFill>
                  <a:srgbClr val="617285"/>
                </a:solidFill>
              </a:rPr>
              <a:t> — Run workloads across both accelerator ecosystems for flexibility.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502920" y="3140964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3090672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3384D"/>
                </a:solidFill>
              </a:rPr>
              <a:t>API Layer Validation</a:t>
            </a:r>
            <a:r>
              <a:rPr lang="en-US" sz="730" dirty="0">
                <a:solidFill>
                  <a:srgbClr val="617285"/>
                </a:solidFill>
              </a:rPr>
              <a:t> — Validate reliability, security, performance and compatibility.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502920" y="3497580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3447288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3384D"/>
                </a:solidFill>
              </a:rPr>
              <a:t>KServe Upgrade</a:t>
            </a:r>
            <a:r>
              <a:rPr lang="en-US" sz="730" dirty="0">
                <a:solidFill>
                  <a:srgbClr val="617285"/>
                </a:solidFill>
              </a:rPr>
              <a:t> — Modernize serving components for stability and compatibility.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502920" y="3854196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" y="3803904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3384D"/>
                </a:solidFill>
              </a:rPr>
              <a:t>Model parameter / recipe enhancements</a:t>
            </a:r>
            <a:r>
              <a:rPr lang="en-US" sz="730" dirty="0">
                <a:solidFill>
                  <a:srgbClr val="617285"/>
                </a:solidFill>
              </a:rPr>
              <a:t> — Broaden deployment recipes and configurable model settings.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3351276" y="1764792"/>
            <a:ext cx="2683764" cy="201168"/>
          </a:xfrm>
          <a:prstGeom prst="roundRect">
            <a:avLst>
              <a:gd name="adj" fmla="val 13636"/>
            </a:avLst>
          </a:prstGeom>
          <a:solidFill>
            <a:srgbClr val="E8F6F0"/>
          </a:solidFill>
          <a:ln w="12700">
            <a:solidFill>
              <a:srgbClr val="E8F6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24428" y="1805940"/>
            <a:ext cx="25374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2304A"/>
                </a:solidFill>
              </a:rPr>
              <a:t>PERFORMANCE &amp; INFRASTRUCTURE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3351276" y="2071116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0148" y="2020824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5" b="1" dirty="0">
                <a:solidFill>
                  <a:srgbClr val="23384D"/>
                </a:solidFill>
              </a:rPr>
              <a:t>Context Parallel FT</a:t>
            </a:r>
            <a:r>
              <a:rPr lang="en-US" sz="725" dirty="0">
                <a:solidFill>
                  <a:srgbClr val="617285"/>
                </a:solidFill>
              </a:rPr>
              <a:t> — Distribute long-context fine-tuning across GPUs.</a:t>
            </a:r>
            <a:endParaRPr lang="en-US" sz="725" dirty="0"/>
          </a:p>
        </p:txBody>
      </p:sp>
      <p:sp>
        <p:nvSpPr>
          <p:cNvPr id="30" name="Shape 28"/>
          <p:cNvSpPr/>
          <p:nvPr/>
        </p:nvSpPr>
        <p:spPr>
          <a:xfrm>
            <a:off x="3351276" y="2427732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0148" y="2377440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5" b="1" dirty="0">
                <a:solidFill>
                  <a:srgbClr val="23384D"/>
                </a:solidFill>
              </a:rPr>
              <a:t>Accelerator selection</a:t>
            </a:r>
            <a:r>
              <a:rPr lang="en-US" sz="725" dirty="0">
                <a:solidFill>
                  <a:srgbClr val="617285"/>
                </a:solidFill>
              </a:rPr>
              <a:t> — Match workloads to the best accelerator by performance, availability and cost.</a:t>
            </a:r>
            <a:endParaRPr lang="en-US" sz="725" dirty="0"/>
          </a:p>
        </p:txBody>
      </p:sp>
      <p:sp>
        <p:nvSpPr>
          <p:cNvPr id="32" name="Shape 30"/>
          <p:cNvSpPr/>
          <p:nvPr/>
        </p:nvSpPr>
        <p:spPr>
          <a:xfrm>
            <a:off x="3351276" y="2784348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0148" y="2734056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5" b="1" dirty="0">
                <a:solidFill>
                  <a:srgbClr val="23384D"/>
                </a:solidFill>
              </a:rPr>
              <a:t>AMD AIM engine integration</a:t>
            </a:r>
            <a:r>
              <a:rPr lang="en-US" sz="725" dirty="0">
                <a:solidFill>
                  <a:srgbClr val="617285"/>
                </a:solidFill>
              </a:rPr>
              <a:t> — Enable optimized inference workflows on AMD GPUs.</a:t>
            </a:r>
            <a:endParaRPr lang="en-US" sz="725" dirty="0"/>
          </a:p>
        </p:txBody>
      </p:sp>
      <p:sp>
        <p:nvSpPr>
          <p:cNvPr id="35" name="Text 33"/>
          <p:cNvSpPr/>
          <p:nvPr/>
        </p:nvSpPr>
        <p:spPr>
          <a:xfrm>
            <a:off x="6360311" y="4123679"/>
            <a:ext cx="34009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5" b="1" dirty="0">
                <a:solidFill>
                  <a:srgbClr val="23384D"/>
                </a:solidFill>
              </a:rPr>
              <a:t>Speculative Decoding</a:t>
            </a:r>
            <a:r>
              <a:rPr lang="en-US" sz="725" dirty="0">
                <a:solidFill>
                  <a:srgbClr val="617285"/>
                </a:solidFill>
              </a:rPr>
              <a:t> — Improve generation throughput and latency.</a:t>
            </a:r>
            <a:endParaRPr lang="en-US" sz="725" dirty="0"/>
          </a:p>
        </p:txBody>
      </p:sp>
      <p:sp>
        <p:nvSpPr>
          <p:cNvPr id="37" name="Text 35"/>
          <p:cNvSpPr/>
          <p:nvPr/>
        </p:nvSpPr>
        <p:spPr>
          <a:xfrm>
            <a:off x="6380492" y="4343144"/>
            <a:ext cx="415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5" b="1" dirty="0">
                <a:solidFill>
                  <a:srgbClr val="23384D"/>
                </a:solidFill>
              </a:rPr>
              <a:t>SLM support</a:t>
            </a:r>
            <a:r>
              <a:rPr lang="en-US" sz="725" dirty="0">
                <a:solidFill>
                  <a:srgbClr val="617285"/>
                </a:solidFill>
              </a:rPr>
              <a:t> — Support smaller, efficient models for targeted workloads.</a:t>
            </a:r>
            <a:endParaRPr lang="en-US" sz="725" dirty="0"/>
          </a:p>
        </p:txBody>
      </p:sp>
      <p:sp>
        <p:nvSpPr>
          <p:cNvPr id="38" name="Shape 36"/>
          <p:cNvSpPr/>
          <p:nvPr/>
        </p:nvSpPr>
        <p:spPr>
          <a:xfrm>
            <a:off x="3354201" y="3126081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70148" y="3099816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5" b="1" dirty="0">
                <a:solidFill>
                  <a:srgbClr val="23384D"/>
                </a:solidFill>
              </a:rPr>
              <a:t>DPO fine tuning</a:t>
            </a:r>
            <a:r>
              <a:rPr lang="en-US" sz="725" dirty="0">
                <a:solidFill>
                  <a:srgbClr val="617285"/>
                </a:solidFill>
              </a:rPr>
              <a:t> — Align models using preference-based training.</a:t>
            </a:r>
            <a:endParaRPr lang="en-US" sz="725" dirty="0"/>
          </a:p>
        </p:txBody>
      </p:sp>
      <p:sp>
        <p:nvSpPr>
          <p:cNvPr id="41" name="Text 39"/>
          <p:cNvSpPr/>
          <p:nvPr/>
        </p:nvSpPr>
        <p:spPr>
          <a:xfrm>
            <a:off x="6391656" y="4538365"/>
            <a:ext cx="38805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5" b="1" dirty="0">
                <a:solidFill>
                  <a:srgbClr val="23384D"/>
                </a:solidFill>
              </a:rPr>
              <a:t>Synthetic Data Generation</a:t>
            </a:r>
            <a:r>
              <a:rPr lang="en-US" sz="725" dirty="0">
                <a:solidFill>
                  <a:srgbClr val="617285"/>
                </a:solidFill>
              </a:rPr>
              <a:t> — Create training data when customer data is limited.</a:t>
            </a:r>
            <a:endParaRPr lang="en-US" sz="725" dirty="0"/>
          </a:p>
        </p:txBody>
      </p:sp>
      <p:sp>
        <p:nvSpPr>
          <p:cNvPr id="42" name="Shape 40"/>
          <p:cNvSpPr/>
          <p:nvPr/>
        </p:nvSpPr>
        <p:spPr>
          <a:xfrm>
            <a:off x="502920" y="4206240"/>
            <a:ext cx="2683764" cy="201168"/>
          </a:xfrm>
          <a:prstGeom prst="roundRect">
            <a:avLst>
              <a:gd name="adj" fmla="val 13636"/>
            </a:avLst>
          </a:prstGeom>
          <a:solidFill>
            <a:srgbClr val="E8F6F0"/>
          </a:solidFill>
          <a:ln w="12700">
            <a:solidFill>
              <a:srgbClr val="E8F6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6072" y="4247388"/>
            <a:ext cx="25374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2304A"/>
                </a:solidFill>
              </a:rPr>
              <a:t>PLATFORM OPERATIONS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502920" y="4512564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1792" y="4462272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23384D"/>
                </a:solidFill>
              </a:rPr>
              <a:t>OpenCenter Upgrade (Dev)</a:t>
            </a:r>
            <a:r>
              <a:rPr lang="en-US" sz="720" dirty="0">
                <a:solidFill>
                  <a:srgbClr val="617285"/>
                </a:solidFill>
              </a:rPr>
              <a:t> — Upgrade and validate the development environment.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502920" y="4869180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1792" y="4818888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23384D"/>
                </a:solidFill>
              </a:rPr>
              <a:t>OpenCenter Upgrade (Staging)</a:t>
            </a:r>
            <a:r>
              <a:rPr lang="en-US" sz="720" dirty="0">
                <a:solidFill>
                  <a:srgbClr val="617285"/>
                </a:solidFill>
              </a:rPr>
              <a:t> — Validate the upgrade in pre-production.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502920" y="5225796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1792" y="5175504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23384D"/>
                </a:solidFill>
              </a:rPr>
              <a:t>OpenCenter Upgrade (Prod)</a:t>
            </a:r>
            <a:r>
              <a:rPr lang="en-US" sz="720" dirty="0">
                <a:solidFill>
                  <a:srgbClr val="617285"/>
                </a:solidFill>
              </a:rPr>
              <a:t> — Deploy the validated upgrade into production.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502920" y="5582412"/>
            <a:ext cx="68580" cy="68580"/>
          </a:xfrm>
          <a:prstGeom prst="ellipse">
            <a:avLst/>
          </a:prstGeom>
          <a:solidFill>
            <a:srgbClr val="14A36E"/>
          </a:solidFill>
          <a:ln w="12700">
            <a:solidFill>
              <a:srgbClr val="14A3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1792" y="5532120"/>
            <a:ext cx="2564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23384D"/>
                </a:solidFill>
              </a:rPr>
              <a:t>AI Performance Benchmarks</a:t>
            </a:r>
            <a:r>
              <a:rPr lang="en-US" sz="720" dirty="0">
                <a:solidFill>
                  <a:srgbClr val="617285"/>
                </a:solidFill>
              </a:rPr>
              <a:t> — Establish repeatable internal performance benchmarks.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263640" y="1764792"/>
            <a:ext cx="5532120" cy="201168"/>
          </a:xfrm>
          <a:prstGeom prst="roundRect">
            <a:avLst>
              <a:gd name="adj" fmla="val 13636"/>
            </a:avLst>
          </a:prstGeom>
          <a:solidFill>
            <a:srgbClr val="EDF1FF"/>
          </a:solidFill>
          <a:ln w="12700">
            <a:solidFill>
              <a:srgbClr val="ED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36792" y="1805940"/>
            <a:ext cx="5385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2304A"/>
                </a:solidFill>
              </a:rPr>
              <a:t>CORE IMPROVEMENTS</a:t>
            </a:r>
            <a:endParaRPr lang="en-US" sz="730" dirty="0"/>
          </a:p>
        </p:txBody>
      </p:sp>
      <p:sp>
        <p:nvSpPr>
          <p:cNvPr id="54" name="Shape 52"/>
          <p:cNvSpPr/>
          <p:nvPr/>
        </p:nvSpPr>
        <p:spPr>
          <a:xfrm>
            <a:off x="6263640" y="2071116"/>
            <a:ext cx="68580" cy="68580"/>
          </a:xfrm>
          <a:prstGeom prst="ellipse">
            <a:avLst/>
          </a:prstGeom>
          <a:solidFill>
            <a:srgbClr val="315DDC"/>
          </a:solidFill>
          <a:ln w="12700">
            <a:solidFill>
              <a:srgbClr val="315D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382512" y="2020824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23384D"/>
                </a:solidFill>
              </a:rPr>
              <a:t>Refrag</a:t>
            </a:r>
            <a:r>
              <a:rPr lang="en-US" sz="810" dirty="0">
                <a:solidFill>
                  <a:srgbClr val="617285"/>
                </a:solidFill>
              </a:rPr>
              <a:t> — Reduce GPU memory fragmentation to improve utilization, model density and runtime stability.</a:t>
            </a:r>
            <a:endParaRPr lang="en-US" sz="810" dirty="0"/>
          </a:p>
        </p:txBody>
      </p:sp>
      <p:sp>
        <p:nvSpPr>
          <p:cNvPr id="56" name="Shape 54"/>
          <p:cNvSpPr/>
          <p:nvPr/>
        </p:nvSpPr>
        <p:spPr>
          <a:xfrm>
            <a:off x="6263640" y="2427732"/>
            <a:ext cx="68580" cy="68580"/>
          </a:xfrm>
          <a:prstGeom prst="ellipse">
            <a:avLst/>
          </a:prstGeom>
          <a:solidFill>
            <a:srgbClr val="315DDC"/>
          </a:solidFill>
          <a:ln w="12700">
            <a:solidFill>
              <a:srgbClr val="315D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82512" y="2377440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23384D"/>
                </a:solidFill>
              </a:rPr>
              <a:t>Dataset Management Improvement</a:t>
            </a:r>
            <a:r>
              <a:rPr lang="en-US" sz="810" dirty="0">
                <a:solidFill>
                  <a:srgbClr val="617285"/>
                </a:solidFill>
              </a:rPr>
              <a:t> — Improve ingestion, validation, versioning and lifecycle management for fine-tuning data.</a:t>
            </a:r>
            <a:endParaRPr lang="en-US" sz="810" dirty="0"/>
          </a:p>
        </p:txBody>
      </p:sp>
      <p:sp>
        <p:nvSpPr>
          <p:cNvPr id="58" name="Shape 56"/>
          <p:cNvSpPr/>
          <p:nvPr/>
        </p:nvSpPr>
        <p:spPr>
          <a:xfrm>
            <a:off x="6263640" y="2784348"/>
            <a:ext cx="68580" cy="68580"/>
          </a:xfrm>
          <a:prstGeom prst="ellipse">
            <a:avLst/>
          </a:prstGeom>
          <a:solidFill>
            <a:srgbClr val="315DDC"/>
          </a:solidFill>
          <a:ln w="12700">
            <a:solidFill>
              <a:srgbClr val="315D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382512" y="2734056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23384D"/>
                </a:solidFill>
              </a:rPr>
              <a:t>Synthetic Data Generation</a:t>
            </a:r>
            <a:r>
              <a:rPr lang="en-US" sz="810" dirty="0">
                <a:solidFill>
                  <a:srgbClr val="617285"/>
                </a:solidFill>
              </a:rPr>
              <a:t> — Build managed workflows for producing and preparing high-quality synthetic datasets.</a:t>
            </a:r>
            <a:endParaRPr lang="en-US" sz="810" dirty="0"/>
          </a:p>
        </p:txBody>
      </p:sp>
      <p:sp>
        <p:nvSpPr>
          <p:cNvPr id="60" name="Shape 58"/>
          <p:cNvSpPr/>
          <p:nvPr/>
        </p:nvSpPr>
        <p:spPr>
          <a:xfrm>
            <a:off x="6263640" y="3140964"/>
            <a:ext cx="68580" cy="68580"/>
          </a:xfrm>
          <a:prstGeom prst="ellipse">
            <a:avLst/>
          </a:prstGeom>
          <a:solidFill>
            <a:srgbClr val="315DDC"/>
          </a:solidFill>
          <a:ln w="12700">
            <a:solidFill>
              <a:srgbClr val="315D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382512" y="3090672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23384D"/>
                </a:solidFill>
              </a:rPr>
              <a:t>End-to-end Deployment Automation</a:t>
            </a:r>
            <a:r>
              <a:rPr lang="en-US" sz="810" dirty="0">
                <a:solidFill>
                  <a:srgbClr val="617285"/>
                </a:solidFill>
              </a:rPr>
              <a:t> — Automate infrastructure, Kubernetes/OpenCenter and RackAI deployment for faster, repeatable delivery.</a:t>
            </a:r>
            <a:endParaRPr lang="en-US" sz="810" dirty="0"/>
          </a:p>
        </p:txBody>
      </p:sp>
      <p:sp>
        <p:nvSpPr>
          <p:cNvPr id="62" name="Shape 60"/>
          <p:cNvSpPr/>
          <p:nvPr/>
        </p:nvSpPr>
        <p:spPr>
          <a:xfrm>
            <a:off x="6263640" y="3497580"/>
            <a:ext cx="68580" cy="68580"/>
          </a:xfrm>
          <a:prstGeom prst="ellipse">
            <a:avLst/>
          </a:prstGeom>
          <a:solidFill>
            <a:srgbClr val="315DDC"/>
          </a:solidFill>
          <a:ln w="12700">
            <a:solidFill>
              <a:srgbClr val="315D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382512" y="3447288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23384D"/>
                </a:solidFill>
              </a:rPr>
              <a:t>Inference observability</a:t>
            </a:r>
            <a:r>
              <a:rPr lang="en-US" sz="810" dirty="0">
                <a:solidFill>
                  <a:srgbClr val="617285"/>
                </a:solidFill>
              </a:rPr>
              <a:t> — Expose latency, throughput, health, errors and resource utilization across inference services.</a:t>
            </a:r>
            <a:endParaRPr lang="en-US" sz="810" dirty="0"/>
          </a:p>
        </p:txBody>
      </p:sp>
      <p:pic>
        <p:nvPicPr>
          <p:cNvPr id="67" name="Image 0" descr="/home/claude/illustrations/logo.png">
            <a:extLst>
              <a:ext uri="{FF2B5EF4-FFF2-40B4-BE49-F238E27FC236}">
                <a16:creationId xmlns:a16="http://schemas.microsoft.com/office/drawing/2014/main" id="{2D686983-1D0A-96BD-73CE-99A99C47D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1356" y="109728"/>
            <a:ext cx="320040" cy="402336"/>
          </a:xfrm>
          <a:prstGeom prst="rect">
            <a:avLst/>
          </a:prstGeom>
        </p:spPr>
      </p:pic>
      <p:sp>
        <p:nvSpPr>
          <p:cNvPr id="2" name="Shape 60">
            <a:extLst>
              <a:ext uri="{FF2B5EF4-FFF2-40B4-BE49-F238E27FC236}">
                <a16:creationId xmlns:a16="http://schemas.microsoft.com/office/drawing/2014/main" id="{497F8162-74C2-CC44-7C4D-1794586434EA}"/>
              </a:ext>
            </a:extLst>
          </p:cNvPr>
          <p:cNvSpPr/>
          <p:nvPr/>
        </p:nvSpPr>
        <p:spPr>
          <a:xfrm>
            <a:off x="6252604" y="4139474"/>
            <a:ext cx="68580" cy="68580"/>
          </a:xfrm>
          <a:prstGeom prst="ellipse">
            <a:avLst/>
          </a:prstGeom>
          <a:solidFill>
            <a:srgbClr val="315DDC"/>
          </a:solidFill>
          <a:ln w="12700">
            <a:solidFill>
              <a:srgbClr val="315D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60">
            <a:extLst>
              <a:ext uri="{FF2B5EF4-FFF2-40B4-BE49-F238E27FC236}">
                <a16:creationId xmlns:a16="http://schemas.microsoft.com/office/drawing/2014/main" id="{C20B929F-8A34-D1F1-AC4D-1E9B373E9462}"/>
              </a:ext>
            </a:extLst>
          </p:cNvPr>
          <p:cNvSpPr/>
          <p:nvPr/>
        </p:nvSpPr>
        <p:spPr>
          <a:xfrm>
            <a:off x="6248544" y="4358426"/>
            <a:ext cx="68580" cy="68580"/>
          </a:xfrm>
          <a:prstGeom prst="ellipse">
            <a:avLst/>
          </a:prstGeom>
          <a:solidFill>
            <a:srgbClr val="315DDC"/>
          </a:solidFill>
          <a:ln w="12700">
            <a:solidFill>
              <a:srgbClr val="315D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0">
            <a:extLst>
              <a:ext uri="{FF2B5EF4-FFF2-40B4-BE49-F238E27FC236}">
                <a16:creationId xmlns:a16="http://schemas.microsoft.com/office/drawing/2014/main" id="{633B77EB-1134-BA7F-6AF1-FBC515447B4C}"/>
              </a:ext>
            </a:extLst>
          </p:cNvPr>
          <p:cNvSpPr/>
          <p:nvPr/>
        </p:nvSpPr>
        <p:spPr>
          <a:xfrm>
            <a:off x="6239256" y="3727290"/>
            <a:ext cx="5532120" cy="201168"/>
          </a:xfrm>
          <a:prstGeom prst="roundRect">
            <a:avLst>
              <a:gd name="adj" fmla="val 13636"/>
            </a:avLst>
          </a:prstGeom>
          <a:solidFill>
            <a:srgbClr val="EDF1FF"/>
          </a:solidFill>
          <a:ln w="12700">
            <a:solidFill>
              <a:srgbClr val="ED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0">
            <a:extLst>
              <a:ext uri="{FF2B5EF4-FFF2-40B4-BE49-F238E27FC236}">
                <a16:creationId xmlns:a16="http://schemas.microsoft.com/office/drawing/2014/main" id="{1BD0CB7E-7F65-6F09-8DE3-EF03CC7D6BA8}"/>
              </a:ext>
            </a:extLst>
          </p:cNvPr>
          <p:cNvSpPr/>
          <p:nvPr/>
        </p:nvSpPr>
        <p:spPr>
          <a:xfrm>
            <a:off x="6239256" y="4558284"/>
            <a:ext cx="68580" cy="68580"/>
          </a:xfrm>
          <a:prstGeom prst="ellipse">
            <a:avLst/>
          </a:prstGeom>
          <a:solidFill>
            <a:srgbClr val="315DDC"/>
          </a:solidFill>
          <a:ln w="12700">
            <a:solidFill>
              <a:srgbClr val="315D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02920" y="1307592"/>
            <a:ext cx="3749040" cy="347472"/>
          </a:xfrm>
          <a:prstGeom prst="roundRect">
            <a:avLst>
              <a:gd name="adj" fmla="val 10526"/>
            </a:avLst>
          </a:prstGeom>
          <a:solidFill>
            <a:srgbClr val="6E4FC4"/>
          </a:solidFill>
          <a:ln w="12700">
            <a:solidFill>
              <a:srgbClr val="6E4F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" y="137160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Q1’2027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709928" y="1380744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480560" y="1307592"/>
            <a:ext cx="7708392" cy="347472"/>
          </a:xfrm>
          <a:prstGeom prst="roundRect">
            <a:avLst>
              <a:gd name="adj" fmla="val 10526"/>
            </a:avLst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08576" y="137160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Q2’2027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87568" y="1380744"/>
            <a:ext cx="6373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02920" y="1764792"/>
            <a:ext cx="3749040" cy="201168"/>
          </a:xfrm>
          <a:prstGeom prst="roundRect">
            <a:avLst>
              <a:gd name="adj" fmla="val 13636"/>
            </a:avLst>
          </a:prstGeom>
          <a:solidFill>
            <a:srgbClr val="F2EEFB"/>
          </a:solidFill>
          <a:ln w="12700">
            <a:solidFill>
              <a:srgbClr val="F2EE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" y="1805940"/>
            <a:ext cx="3602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2304A"/>
                </a:solidFill>
              </a:rPr>
              <a:t>INFERENCE PLATFORM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02920" y="2071116"/>
            <a:ext cx="68580" cy="68580"/>
          </a:xfrm>
          <a:prstGeom prst="ellipse">
            <a:avLst/>
          </a:prstGeom>
          <a:solidFill>
            <a:srgbClr val="6E4FC4"/>
          </a:solidFill>
          <a:ln w="12700">
            <a:solidFill>
              <a:srgbClr val="6E4F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2020824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23384D"/>
                </a:solidFill>
              </a:rPr>
              <a:t>Benchmarking</a:t>
            </a:r>
            <a:r>
              <a:rPr lang="en-US" sz="800" dirty="0">
                <a:solidFill>
                  <a:srgbClr val="617285"/>
                </a:solidFill>
              </a:rPr>
              <a:t> — Compare models, runtimes and hardware consistently.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2427732"/>
            <a:ext cx="68580" cy="68580"/>
          </a:xfrm>
          <a:prstGeom prst="ellipse">
            <a:avLst/>
          </a:prstGeom>
          <a:solidFill>
            <a:srgbClr val="6E4FC4"/>
          </a:solidFill>
          <a:ln w="12700">
            <a:solidFill>
              <a:srgbClr val="6E4F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2377440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23384D"/>
                </a:solidFill>
              </a:rPr>
              <a:t>BYOM / Import Model</a:t>
            </a:r>
            <a:r>
              <a:rPr lang="en-US" sz="800" dirty="0">
                <a:solidFill>
                  <a:srgbClr val="617285"/>
                </a:solidFill>
              </a:rPr>
              <a:t> — Bring customer models into RackAI with validation and governance.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784348"/>
            <a:ext cx="68580" cy="68580"/>
          </a:xfrm>
          <a:prstGeom prst="ellipse">
            <a:avLst/>
          </a:prstGeom>
          <a:solidFill>
            <a:srgbClr val="6E4FC4"/>
          </a:solidFill>
          <a:ln w="12700">
            <a:solidFill>
              <a:srgbClr val="6E4F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" y="2734056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23384D"/>
                </a:solidFill>
              </a:rPr>
              <a:t>Serverless inference</a:t>
            </a:r>
            <a:r>
              <a:rPr lang="en-US" sz="800" dirty="0">
                <a:solidFill>
                  <a:srgbClr val="617285"/>
                </a:solidFill>
              </a:rPr>
              <a:t> — Offer managed, consumption-based inference with automatic scaling.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3140964"/>
            <a:ext cx="68580" cy="68580"/>
          </a:xfrm>
          <a:prstGeom prst="ellipse">
            <a:avLst/>
          </a:prstGeom>
          <a:solidFill>
            <a:srgbClr val="6E4FC4"/>
          </a:solidFill>
          <a:ln w="12700">
            <a:solidFill>
              <a:srgbClr val="6E4F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3090672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23384D"/>
                </a:solidFill>
              </a:rPr>
              <a:t>SGLang support</a:t>
            </a:r>
            <a:r>
              <a:rPr lang="en-US" sz="800" dirty="0">
                <a:solidFill>
                  <a:srgbClr val="617285"/>
                </a:solidFill>
              </a:rPr>
              <a:t> — Add an alternative high-performance runtime for advanced workloads.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3497580"/>
            <a:ext cx="68580" cy="68580"/>
          </a:xfrm>
          <a:prstGeom prst="ellipse">
            <a:avLst/>
          </a:prstGeom>
          <a:solidFill>
            <a:srgbClr val="6E4FC4"/>
          </a:solidFill>
          <a:ln w="12700">
            <a:solidFill>
              <a:srgbClr val="6E4F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3447288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23384D"/>
                </a:solidFill>
              </a:rPr>
              <a:t>Llama.cpp support</a:t>
            </a:r>
            <a:r>
              <a:rPr lang="en-US" sz="800" dirty="0">
                <a:solidFill>
                  <a:srgbClr val="617285"/>
                </a:solidFill>
              </a:rPr>
              <a:t> — Add lightweight inference for constrained and quantized scenarios.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80560" y="1764792"/>
            <a:ext cx="3753612" cy="201168"/>
          </a:xfrm>
          <a:prstGeom prst="roundRect">
            <a:avLst>
              <a:gd name="adj" fmla="val 13636"/>
            </a:avLst>
          </a:prstGeom>
          <a:solidFill>
            <a:srgbClr val="FFF1DF"/>
          </a:solidFill>
          <a:ln w="12700">
            <a:solidFill>
              <a:srgbClr val="FFF1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53712" y="1805940"/>
            <a:ext cx="36073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2304A"/>
                </a:solidFill>
              </a:rPr>
              <a:t>INFERENCE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4480560" y="2071116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99432" y="2020824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3384D"/>
                </a:solidFill>
              </a:rPr>
              <a:t>Batch inference</a:t>
            </a:r>
            <a:r>
              <a:rPr lang="en-US" sz="710" dirty="0">
                <a:solidFill>
                  <a:srgbClr val="617285"/>
                </a:solidFill>
              </a:rPr>
              <a:t> — Run high-volume asynchronous jobs for throughput.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4480560" y="2427732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99432" y="2377440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3384D"/>
                </a:solidFill>
              </a:rPr>
              <a:t>Evaluation framework</a:t>
            </a:r>
            <a:r>
              <a:rPr lang="en-US" sz="710" dirty="0">
                <a:solidFill>
                  <a:srgbClr val="617285"/>
                </a:solidFill>
              </a:rPr>
              <a:t> — Compare models for quality, safety, performance and cost.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4480560" y="2784348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99432" y="2734056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3384D"/>
                </a:solidFill>
              </a:rPr>
              <a:t>Training experiment tracking</a:t>
            </a:r>
            <a:r>
              <a:rPr lang="en-US" sz="710" dirty="0">
                <a:solidFill>
                  <a:srgbClr val="617285"/>
                </a:solidFill>
              </a:rPr>
              <a:t> — Track datasets, metrics and checkpoints for reproducibility.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4480560" y="3140964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99432" y="3090672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3384D"/>
                </a:solidFill>
              </a:rPr>
              <a:t>Quantization support</a:t>
            </a:r>
            <a:r>
              <a:rPr lang="en-US" sz="710" dirty="0">
                <a:solidFill>
                  <a:srgbClr val="617285"/>
                </a:solidFill>
              </a:rPr>
              <a:t> — Reduce model size and compute requirements while preserving quality.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4480560" y="3497580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99432" y="3447288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3384D"/>
                </a:solidFill>
              </a:rPr>
              <a:t>Custom inference containers</a:t>
            </a:r>
            <a:r>
              <a:rPr lang="en-US" sz="710" dirty="0">
                <a:solidFill>
                  <a:srgbClr val="617285"/>
                </a:solidFill>
              </a:rPr>
              <a:t> — Deploy approved containers for specialized models and runtimes.</a:t>
            </a:r>
            <a:endParaRPr lang="en-US" sz="710" dirty="0"/>
          </a:p>
        </p:txBody>
      </p:sp>
      <p:sp>
        <p:nvSpPr>
          <p:cNvPr id="39" name="Shape 37"/>
          <p:cNvSpPr/>
          <p:nvPr/>
        </p:nvSpPr>
        <p:spPr>
          <a:xfrm>
            <a:off x="4480560" y="3840480"/>
            <a:ext cx="3753612" cy="201168"/>
          </a:xfrm>
          <a:prstGeom prst="roundRect">
            <a:avLst>
              <a:gd name="adj" fmla="val 13636"/>
            </a:avLst>
          </a:prstGeom>
          <a:solidFill>
            <a:srgbClr val="FFF1DF"/>
          </a:solidFill>
          <a:ln w="12700">
            <a:solidFill>
              <a:srgbClr val="FFF1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53712" y="3881628"/>
            <a:ext cx="36073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2304A"/>
                </a:solidFill>
              </a:rPr>
              <a:t>FINE-TUNING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4480560" y="4146804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99432" y="4096512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3384D"/>
                </a:solidFill>
              </a:rPr>
              <a:t>Tool/function-calling fine-tuning</a:t>
            </a:r>
            <a:r>
              <a:rPr lang="en-US" sz="710" dirty="0">
                <a:solidFill>
                  <a:srgbClr val="617285"/>
                </a:solidFill>
              </a:rPr>
              <a:t> — Improve reliable tool selection and structured calls.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4480560" y="4503420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99432" y="4453128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3384D"/>
                </a:solidFill>
              </a:rPr>
              <a:t>Vision/VLM fine-tuning</a:t>
            </a:r>
            <a:r>
              <a:rPr lang="en-US" sz="710" dirty="0">
                <a:solidFill>
                  <a:srgbClr val="617285"/>
                </a:solidFill>
              </a:rPr>
              <a:t> — Customize multimodal models for domain-specific use cases.</a:t>
            </a:r>
            <a:endParaRPr lang="en-US" sz="710" dirty="0"/>
          </a:p>
        </p:txBody>
      </p:sp>
      <p:sp>
        <p:nvSpPr>
          <p:cNvPr id="45" name="Shape 43"/>
          <p:cNvSpPr/>
          <p:nvPr/>
        </p:nvSpPr>
        <p:spPr>
          <a:xfrm>
            <a:off x="8435340" y="1764792"/>
            <a:ext cx="3753612" cy="201168"/>
          </a:xfrm>
          <a:prstGeom prst="roundRect">
            <a:avLst>
              <a:gd name="adj" fmla="val 13636"/>
            </a:avLst>
          </a:prstGeom>
          <a:solidFill>
            <a:srgbClr val="FFF1DF"/>
          </a:solidFill>
          <a:ln w="12700">
            <a:solidFill>
              <a:srgbClr val="FFF1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508492" y="1805940"/>
            <a:ext cx="36073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2304A"/>
                </a:solidFill>
              </a:rPr>
              <a:t>PLATFORM SERVICES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8435340" y="2071116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54212" y="2020824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3384D"/>
                </a:solidFill>
              </a:rPr>
              <a:t>Embeddings &amp; Reranking APIs</a:t>
            </a:r>
            <a:r>
              <a:rPr lang="en-US" sz="710" dirty="0">
                <a:solidFill>
                  <a:srgbClr val="617285"/>
                </a:solidFill>
              </a:rPr>
              <a:t> — Provide managed retrieval models for RAG and semantic search.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8435340" y="2427732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554212" y="2377440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3384D"/>
                </a:solidFill>
              </a:rPr>
              <a:t>Guardrails / Content Safety</a:t>
            </a:r>
            <a:r>
              <a:rPr lang="en-US" sz="710" dirty="0">
                <a:solidFill>
                  <a:srgbClr val="617285"/>
                </a:solidFill>
              </a:rPr>
              <a:t> — Apply configurable input/output safety policies.</a:t>
            </a:r>
            <a:endParaRPr lang="en-US" sz="710" dirty="0"/>
          </a:p>
        </p:txBody>
      </p:sp>
      <p:sp>
        <p:nvSpPr>
          <p:cNvPr id="51" name="Shape 49"/>
          <p:cNvSpPr/>
          <p:nvPr/>
        </p:nvSpPr>
        <p:spPr>
          <a:xfrm>
            <a:off x="8435340" y="2784348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554212" y="2734056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3384D"/>
                </a:solidFill>
              </a:rPr>
              <a:t>Customer Model Request Support</a:t>
            </a:r>
            <a:r>
              <a:rPr lang="en-US" sz="710" dirty="0">
                <a:solidFill>
                  <a:srgbClr val="617285"/>
                </a:solidFill>
              </a:rPr>
              <a:t> — Assess and onboard customer-requested models.</a:t>
            </a:r>
            <a:endParaRPr lang="en-US" sz="710" dirty="0"/>
          </a:p>
        </p:txBody>
      </p:sp>
      <p:sp>
        <p:nvSpPr>
          <p:cNvPr id="53" name="Shape 51"/>
          <p:cNvSpPr/>
          <p:nvPr/>
        </p:nvSpPr>
        <p:spPr>
          <a:xfrm>
            <a:off x="8435340" y="3140964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554212" y="3090672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3384D"/>
                </a:solidFill>
              </a:rPr>
              <a:t>Model Lifecycle</a:t>
            </a:r>
            <a:r>
              <a:rPr lang="en-US" sz="710" dirty="0">
                <a:solidFill>
                  <a:srgbClr val="617285"/>
                </a:solidFill>
              </a:rPr>
              <a:t> — Manage models from onboarding through versioning and retirement.</a:t>
            </a:r>
            <a:endParaRPr lang="en-US" sz="710" dirty="0"/>
          </a:p>
        </p:txBody>
      </p:sp>
      <p:sp>
        <p:nvSpPr>
          <p:cNvPr id="55" name="Shape 53"/>
          <p:cNvSpPr/>
          <p:nvPr/>
        </p:nvSpPr>
        <p:spPr>
          <a:xfrm>
            <a:off x="8435340" y="3497580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554212" y="3447288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3384D"/>
                </a:solidFill>
              </a:rPr>
              <a:t>Model &amp; Endpoint Health Management</a:t>
            </a:r>
            <a:r>
              <a:rPr lang="en-US" sz="710" dirty="0">
                <a:solidFill>
                  <a:srgbClr val="617285"/>
                </a:solidFill>
              </a:rPr>
              <a:t> — Monitor health and automate recovery.</a:t>
            </a:r>
            <a:endParaRPr lang="en-US" sz="710" dirty="0"/>
          </a:p>
        </p:txBody>
      </p:sp>
      <p:sp>
        <p:nvSpPr>
          <p:cNvPr id="57" name="Shape 55"/>
          <p:cNvSpPr/>
          <p:nvPr/>
        </p:nvSpPr>
        <p:spPr>
          <a:xfrm>
            <a:off x="8435340" y="3840480"/>
            <a:ext cx="3753612" cy="201168"/>
          </a:xfrm>
          <a:prstGeom prst="roundRect">
            <a:avLst>
              <a:gd name="adj" fmla="val 13636"/>
            </a:avLst>
          </a:prstGeom>
          <a:solidFill>
            <a:srgbClr val="FFF1DF"/>
          </a:solidFill>
          <a:ln w="12700">
            <a:solidFill>
              <a:srgbClr val="FFF1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508492" y="3881628"/>
            <a:ext cx="36073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2304A"/>
                </a:solidFill>
              </a:rPr>
              <a:t>DEVELOPER &amp; ENTERPRISE EXPERIENCE</a:t>
            </a:r>
            <a:endParaRPr lang="en-US" sz="730" dirty="0"/>
          </a:p>
        </p:txBody>
      </p:sp>
      <p:sp>
        <p:nvSpPr>
          <p:cNvPr id="59" name="Shape 57"/>
          <p:cNvSpPr/>
          <p:nvPr/>
        </p:nvSpPr>
        <p:spPr>
          <a:xfrm>
            <a:off x="8435340" y="4146804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554212" y="4096512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23384D"/>
                </a:solidFill>
              </a:rPr>
              <a:t>Prompt / Response Logging &amp; Tracing</a:t>
            </a:r>
            <a:r>
              <a:rPr lang="en-US" sz="700" dirty="0">
                <a:solidFill>
                  <a:srgbClr val="617285"/>
                </a:solidFill>
              </a:rPr>
              <a:t> — Trace inference for troubleshooting, governance and audit.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435340" y="4503420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554212" y="4453128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23384D"/>
                </a:solidFill>
              </a:rPr>
              <a:t>Private Inference Endpoints</a:t>
            </a:r>
            <a:r>
              <a:rPr lang="en-US" sz="700" dirty="0">
                <a:solidFill>
                  <a:srgbClr val="617285"/>
                </a:solidFill>
              </a:rPr>
              <a:t> — Provide isolated private endpoints for secure workloads.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8435340" y="4860036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554212" y="4809744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23384D"/>
                </a:solidFill>
              </a:rPr>
              <a:t>Structured Output / JSON Mode</a:t>
            </a:r>
            <a:r>
              <a:rPr lang="en-US" sz="700" dirty="0">
                <a:solidFill>
                  <a:srgbClr val="617285"/>
                </a:solidFill>
              </a:rPr>
              <a:t> — Support schema-constrained outputs for applications and agents.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435340" y="5216652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554212" y="5166360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23384D"/>
                </a:solidFill>
              </a:rPr>
              <a:t>Fine-Tuning Checkpoint Management</a:t>
            </a:r>
            <a:r>
              <a:rPr lang="en-US" sz="700" dirty="0">
                <a:solidFill>
                  <a:srgbClr val="617285"/>
                </a:solidFill>
              </a:rPr>
              <a:t> — Save, compare and manage fine-tuning checkpoints.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435340" y="5573268"/>
            <a:ext cx="68580" cy="68580"/>
          </a:xfrm>
          <a:prstGeom prst="ellipse">
            <a:avLst/>
          </a:prstGeom>
          <a:solidFill>
            <a:srgbClr val="F28A13"/>
          </a:solidFill>
          <a:ln w="12700">
            <a:solidFill>
              <a:srgbClr val="F28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554212" y="5522976"/>
            <a:ext cx="3634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23384D"/>
                </a:solidFill>
              </a:rPr>
              <a:t>API Key / Token Management</a:t>
            </a:r>
            <a:r>
              <a:rPr lang="en-US" sz="700" dirty="0">
                <a:solidFill>
                  <a:srgbClr val="617285"/>
                </a:solidFill>
              </a:rPr>
              <a:t> — Manage credentials with scopes, rotation and access controls.</a:t>
            </a:r>
            <a:endParaRPr lang="en-US" sz="700" dirty="0"/>
          </a:p>
        </p:txBody>
      </p:sp>
      <p:sp>
        <p:nvSpPr>
          <p:cNvPr id="72" name="Text 2">
            <a:extLst>
              <a:ext uri="{FF2B5EF4-FFF2-40B4-BE49-F238E27FC236}">
                <a16:creationId xmlns:a16="http://schemas.microsoft.com/office/drawing/2014/main" id="{99774EDC-090C-1754-DC3E-9719A5FF4432}"/>
              </a:ext>
            </a:extLst>
          </p:cNvPr>
          <p:cNvSpPr/>
          <p:nvPr/>
        </p:nvSpPr>
        <p:spPr>
          <a:xfrm>
            <a:off x="502920" y="3246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04A"/>
                </a:solidFill>
              </a:rPr>
              <a:t>Roadmap Breakdown </a:t>
            </a:r>
            <a:r>
              <a:rPr lang="en-US" sz="2100" b="1" dirty="0">
                <a:solidFill>
                  <a:srgbClr val="FF0000"/>
                </a:solidFill>
              </a:rPr>
              <a:t>(2/2)</a:t>
            </a:r>
            <a:endParaRPr lang="en-US" sz="2100" dirty="0">
              <a:solidFill>
                <a:srgbClr val="FF0000"/>
              </a:solidFill>
            </a:endParaRPr>
          </a:p>
        </p:txBody>
      </p:sp>
      <p:pic>
        <p:nvPicPr>
          <p:cNvPr id="74" name="Image 0" descr="/home/claude/illustrations/logo.png">
            <a:extLst>
              <a:ext uri="{FF2B5EF4-FFF2-40B4-BE49-F238E27FC236}">
                <a16:creationId xmlns:a16="http://schemas.microsoft.com/office/drawing/2014/main" id="{108D8FC5-2600-80D5-F8B3-649A3D48A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1356" y="109728"/>
            <a:ext cx="320040" cy="402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f09a8f-df31-4464-b100-d09a5dbff5c8}" enabled="1" method="Standard" siteId="{570057f4-73ef-41c8-bcbb-08db2fc15c2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1712</TotalTime>
  <Words>922</Words>
  <Application>Microsoft Office PowerPoint</Application>
  <PresentationFormat>Widescreen</PresentationFormat>
  <Paragraphs>117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RACKAI Roadmap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Garner</dc:creator>
  <cp:lastModifiedBy>Amine Badaoui</cp:lastModifiedBy>
  <cp:revision>6</cp:revision>
  <dcterms:created xsi:type="dcterms:W3CDTF">2026-08-04T14:07:56Z</dcterms:created>
  <dcterms:modified xsi:type="dcterms:W3CDTF">2026-10-02T14:41:10Z</dcterms:modified>
</cp:coreProperties>
</file>