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816" r:id="rId4"/>
    <p:sldMasterId id="2147483830" r:id="rId5"/>
  </p:sldMasterIdLst>
  <p:notesMasterIdLst>
    <p:notesMasterId r:id="rId32"/>
  </p:notesMasterIdLst>
  <p:handoutMasterIdLst>
    <p:handoutMasterId r:id="rId33"/>
  </p:handoutMasterIdLst>
  <p:sldIdLst>
    <p:sldId id="256" r:id="rId26"/>
    <p:sldId id="257" r:id="rId27"/>
    <p:sldId id="258" r:id="rId28"/>
    <p:sldId id="259" r:id="rId29"/>
    <p:sldId id="260" r:id="rId30"/>
    <p:sldId id="261" r:id="rId31"/>
    <p:sldId id="262" r:id="rId25"/>
    <p:sldId id="263" r:id="rId24"/>
    <p:sldId id="264" r:id="rId23"/>
    <p:sldId id="265" r:id="rId22"/>
    <p:sldId id="266" r:id="rId21"/>
    <p:sldId id="267" r:id="rId20"/>
    <p:sldId id="268" r:id="rId19"/>
    <p:sldId id="269" r:id="rId18"/>
    <p:sldId id="270" r:id="rId17"/>
    <p:sldId id="271" r:id="rId16"/>
    <p:sldId id="272" r:id="rId15"/>
    <p:sldId id="273" r:id="rId14"/>
    <p:sldId id="274" r:id="rId13"/>
    <p:sldId id="275" r:id="rId12"/>
  </p:sldIdLst>
  <p:sldSz cx="12192000" cy="6858000"/>
  <p:notesSz cx="6858000" cy="9144000"/>
  <p:embeddedFontLst>
    <p:embeddedFont>
      <p:font typeface="Aptos Light" panose="020B0004020202020204" pitchFamily="34" charset="0"/>
      <p:regular r:id="rId34"/>
      <p:italic r:id="rId35"/>
    </p:embeddedFont>
    <p:embeddedFont>
      <p:font typeface="Aptos SemiBold" panose="020B0004020202020204" pitchFamily="34" charset="0"/>
      <p:regular r:id="rId36"/>
      <p:bold r:id="rId37"/>
      <p:italic r:id="rId38"/>
      <p:boldItalic r:id="rId39"/>
    </p:embeddedFont>
    <p:embeddedFont>
      <p:font typeface="Fira Sans" panose="020B0503050000020004" pitchFamily="34" charset="0"/>
      <p:regular r:id="rId40"/>
      <p:bold r:id="rId41"/>
      <p:italic r:id="rId42"/>
      <p:boldItalic r:id="rId43"/>
    </p:embeddedFont>
    <p:embeddedFont>
      <p:font typeface="Fira Sans Light" panose="020B0403050000020004" pitchFamily="34" charset="0"/>
      <p:regular r:id="rId44"/>
      <p:italic r:id="rId45"/>
    </p:embeddedFont>
  </p:embeddedFontLst>
  <p:defaultTextStyle>
    <a:defPPr>
      <a:defRPr lang="en-US"/>
    </a:defPPr>
    <a:lvl1pPr marL="0" algn="l" defTabSz="228594" rtl="0" eaLnBrk="1" latinLnBrk="0" hangingPunct="1">
      <a:defRPr sz="900" kern="1200">
        <a:solidFill>
          <a:schemeClr val="tx1"/>
        </a:solidFill>
        <a:latin typeface="+mn-lt"/>
        <a:ea typeface="+mn-ea"/>
        <a:cs typeface="+mn-cs"/>
      </a:defRPr>
    </a:lvl1pPr>
    <a:lvl2pPr marL="228594" algn="l" defTabSz="228594" rtl="0" eaLnBrk="1" latinLnBrk="0" hangingPunct="1">
      <a:defRPr sz="900" kern="1200">
        <a:solidFill>
          <a:schemeClr val="tx1"/>
        </a:solidFill>
        <a:latin typeface="+mn-lt"/>
        <a:ea typeface="+mn-ea"/>
        <a:cs typeface="+mn-cs"/>
      </a:defRPr>
    </a:lvl2pPr>
    <a:lvl3pPr marL="457189" algn="l" defTabSz="228594" rtl="0" eaLnBrk="1" latinLnBrk="0" hangingPunct="1">
      <a:defRPr sz="900" kern="1200">
        <a:solidFill>
          <a:schemeClr val="tx1"/>
        </a:solidFill>
        <a:latin typeface="+mn-lt"/>
        <a:ea typeface="+mn-ea"/>
        <a:cs typeface="+mn-cs"/>
      </a:defRPr>
    </a:lvl3pPr>
    <a:lvl4pPr marL="685783" algn="l" defTabSz="228594" rtl="0" eaLnBrk="1" latinLnBrk="0" hangingPunct="1">
      <a:defRPr sz="900" kern="1200">
        <a:solidFill>
          <a:schemeClr val="tx1"/>
        </a:solidFill>
        <a:latin typeface="+mn-lt"/>
        <a:ea typeface="+mn-ea"/>
        <a:cs typeface="+mn-cs"/>
      </a:defRPr>
    </a:lvl4pPr>
    <a:lvl5pPr marL="914377" algn="l" defTabSz="228594" rtl="0" eaLnBrk="1" latinLnBrk="0" hangingPunct="1">
      <a:defRPr sz="900" kern="1200">
        <a:solidFill>
          <a:schemeClr val="tx1"/>
        </a:solidFill>
        <a:latin typeface="+mn-lt"/>
        <a:ea typeface="+mn-ea"/>
        <a:cs typeface="+mn-cs"/>
      </a:defRPr>
    </a:lvl5pPr>
    <a:lvl6pPr marL="1142971" algn="l" defTabSz="228594" rtl="0" eaLnBrk="1" latinLnBrk="0" hangingPunct="1">
      <a:defRPr sz="900" kern="1200">
        <a:solidFill>
          <a:schemeClr val="tx1"/>
        </a:solidFill>
        <a:latin typeface="+mn-lt"/>
        <a:ea typeface="+mn-ea"/>
        <a:cs typeface="+mn-cs"/>
      </a:defRPr>
    </a:lvl6pPr>
    <a:lvl7pPr marL="1371566" algn="l" defTabSz="228594" rtl="0" eaLnBrk="1" latinLnBrk="0" hangingPunct="1">
      <a:defRPr sz="900" kern="1200">
        <a:solidFill>
          <a:schemeClr val="tx1"/>
        </a:solidFill>
        <a:latin typeface="+mn-lt"/>
        <a:ea typeface="+mn-ea"/>
        <a:cs typeface="+mn-cs"/>
      </a:defRPr>
    </a:lvl7pPr>
    <a:lvl8pPr marL="1600160" algn="l" defTabSz="228594" rtl="0" eaLnBrk="1" latinLnBrk="0" hangingPunct="1">
      <a:defRPr sz="900" kern="1200">
        <a:solidFill>
          <a:schemeClr val="tx1"/>
        </a:solidFill>
        <a:latin typeface="+mn-lt"/>
        <a:ea typeface="+mn-ea"/>
        <a:cs typeface="+mn-cs"/>
      </a:defRPr>
    </a:lvl8pPr>
    <a:lvl9pPr marL="1828754" algn="l" defTabSz="228594" rtl="0" eaLnBrk="1" latinLnBrk="0" hangingPunct="1">
      <a:defRPr sz="9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96520898-FA03-594C-93C1-2506E9CB6FB4}">
          <p14:sldIdLst>
            <p14:sldId id="2113417385"/>
            <p14:sldId id="2147483325"/>
            <p14:sldId id="2147483326"/>
            <p14:sldId id="2147483327"/>
            <p14:sldId id="2147483345"/>
            <p14:sldId id="2147483332"/>
            <p14:sldId id="2147483333"/>
            <p14:sldId id="2147483334"/>
            <p14:sldId id="2147483347"/>
            <p14:sldId id="2147483348"/>
            <p14:sldId id="2147483360"/>
          </p14:sldIdLst>
        </p14:section>
        <p14:section name="Appendix" id="{57A4A585-C16A-1E4A-86E2-875EF8521882}">
          <p14:sldIdLst>
            <p14:sldId id="2147483341"/>
            <p14:sldId id="2147483342"/>
            <p14:sldId id="2147483344"/>
            <p14:sldId id="2147483349"/>
            <p14:sldId id="2147483350"/>
            <p14:sldId id="2147483351"/>
            <p14:sldId id="2147483352"/>
            <p14:sldId id="2147483353"/>
            <p14:sldId id="2147483354"/>
            <p14:sldId id="2147483355"/>
            <p14:sldId id="2147483356"/>
            <p14:sldId id="2147483357"/>
            <p14:sldId id="2147483358"/>
            <p14:sldId id="2147483359"/>
            <p14:sldId id="214748332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3E5C945-CEBF-2539-EFBA-7C1F61C6EC0C}" name="Abi Watson" initials="" userId="S::Abi.Watson@rackspace.co.uk::cbd6f91d-7bfe-46bf-bc79-2b67dca856ba" providerId="AD"/>
  <p188:author id="{5AC40678-2316-3FD6-2065-A5157CFD2023}" name="Sharon Varalli" initials="SV" userId="S::sharon.varalli@rackspace.com::468ff1f1-cca4-4d2e-aec1-ab1448da8af6" providerId="AD"/>
  <p188:author id="{CF07637E-6335-8D6F-2AA0-981C3BD822E4}" name="Michelle Ramirez" initials="MR" userId="S::michelle.ramirez@rackspace.com::6b40b934-c05d-4627-93b5-7325360e4cab" providerId="AD"/>
  <p188:author id="{30F882DE-5878-3698-9EDC-9D053FF08B40}" name="Abigail Watson" initials="AW" userId="431c2d1e37c77107"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Kim Wright" initials="KW" lastIdx="3" clrIdx="1">
    <p:extLst>
      <p:ext uri="{19B8F6BF-5375-455C-9EA6-DF929625EA0E}">
        <p15:presenceInfo xmlns:p15="http://schemas.microsoft.com/office/powerpoint/2012/main" userId="S::kim.wright@rackspace.com::c351f5f5-0fc6-4393-8dd9-32c85309048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F6FC"/>
    <a:srgbClr val="1C1C1C"/>
    <a:srgbClr val="111111"/>
    <a:srgbClr val="D1FFFB"/>
    <a:srgbClr val="003482"/>
    <a:srgbClr val="D8EBF9"/>
    <a:srgbClr val="005AC8"/>
    <a:srgbClr val="64005A"/>
    <a:srgbClr val="9E0000"/>
    <a:srgbClr val="BB5C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815"/>
    <p:restoredTop sz="95796" autoAdjust="0"/>
  </p:normalViewPr>
  <p:slideViewPr>
    <p:cSldViewPr snapToGrid="0" showGuides="1">
      <p:cViewPr varScale="1">
        <p:scale>
          <a:sx n="97" d="100"/>
          <a:sy n="97" d="100"/>
        </p:scale>
        <p:origin x="298" y="82"/>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2" Type="http://schemas.openxmlformats.org/officeDocument/2006/relationships/slide" Target="slides/slide20.xml"/><Relationship Id="rId13" Type="http://schemas.openxmlformats.org/officeDocument/2006/relationships/slide" Target="slides/slide19.xml"/><Relationship Id="rId14" Type="http://schemas.openxmlformats.org/officeDocument/2006/relationships/slide" Target="slides/slide18.xml"/><Relationship Id="rId15" Type="http://schemas.openxmlformats.org/officeDocument/2006/relationships/slide" Target="slides/slide17.xml"/><Relationship Id="rId16" Type="http://schemas.openxmlformats.org/officeDocument/2006/relationships/slide" Target="slides/slide16.xml"/><Relationship Id="rId17" Type="http://schemas.openxmlformats.org/officeDocument/2006/relationships/slide" Target="slides/slide15.xml"/><Relationship Id="rId18" Type="http://schemas.openxmlformats.org/officeDocument/2006/relationships/slide" Target="slides/slide14.xml"/><Relationship Id="rId19" Type="http://schemas.openxmlformats.org/officeDocument/2006/relationships/slide" Target="slides/slide13.xml"/><Relationship Id="rId20" Type="http://schemas.openxmlformats.org/officeDocument/2006/relationships/slide" Target="slides/slide12.xml"/><Relationship Id="rId21" Type="http://schemas.openxmlformats.org/officeDocument/2006/relationships/slide" Target="slides/slide11.xml"/><Relationship Id="rId22" Type="http://schemas.openxmlformats.org/officeDocument/2006/relationships/slide" Target="slides/slide10.xml"/><Relationship Id="rId23" Type="http://schemas.openxmlformats.org/officeDocument/2006/relationships/slide" Target="slides/slide9.xml"/><Relationship Id="rId24" Type="http://schemas.openxmlformats.org/officeDocument/2006/relationships/slide" Target="slides/slide8.xml"/><Relationship Id="rId25" Type="http://schemas.openxmlformats.org/officeDocument/2006/relationships/slide" Target="slides/slide7.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notesMaster" Target="notesMasters/notesMaster1.xml"/><Relationship Id="rId33" Type="http://schemas.openxmlformats.org/officeDocument/2006/relationships/handoutMaster" Target="handoutMasters/handout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font" Target="fonts/font8.fntdata"/><Relationship Id="rId42" Type="http://schemas.openxmlformats.org/officeDocument/2006/relationships/font" Target="fonts/font9.fntdata"/><Relationship Id="rId43" Type="http://schemas.openxmlformats.org/officeDocument/2006/relationships/font" Target="fonts/font10.fntdata"/><Relationship Id="rId44" Type="http://schemas.openxmlformats.org/officeDocument/2006/relationships/font" Target="fonts/font11.fntdata"/><Relationship Id="rId45" Type="http://schemas.openxmlformats.org/officeDocument/2006/relationships/font" Target="fonts/font12.fntdata"/><Relationship Id="rId46" Type="http://schemas.openxmlformats.org/officeDocument/2006/relationships/commentAuthors" Target="commentAuthors.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10/7/2026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0941AB6-8DCA-40B8-B06C-2834861451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F0DA6C-0510-45D0-8510-74AF9D91696C}"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0" y="8793270"/>
            <a:ext cx="2971800" cy="350730"/>
          </a:xfrm>
          <a:prstGeom prst="rect">
            <a:avLst/>
          </a:prstGeom>
        </p:spPr>
        <p:txBody>
          <a:bodyPr vert="horz" lIns="91440" tIns="45720" rIns="91440" bIns="45720" rtlCol="0" anchor="t" anchorCtr="0"/>
          <a:lstStyle>
            <a:lvl1pPr algn="l">
              <a:defRPr sz="1000">
                <a:latin typeface="Aptos" panose="020B0004020202020204" pitchFamily="34" charset="0"/>
              </a:defRPr>
            </a:lvl1pPr>
          </a:lstStyle>
          <a:p>
            <a:fld id="{94C1FFEF-7AA5-49AA-AC58-7D6786C64E8F}" type="datetimeFigureOut">
              <a:rPr lang="en-US" smtClean="0"/>
              <a:pPr/>
              <a:t>10/7/2026</a:t>
            </a:fld>
            <a:endParaRPr lang="en-US">
              <a:latin typeface="Aptos" panose="020B0004020202020204" pitchFamily="34" charset="0"/>
            </a:endParaRPr>
          </a:p>
        </p:txBody>
      </p:sp>
      <p:sp>
        <p:nvSpPr>
          <p:cNvPr id="4" name="Slide Image Placeholder 3"/>
          <p:cNvSpPr>
            <a:spLocks noGrp="1" noRot="1" noChangeAspect="1"/>
          </p:cNvSpPr>
          <p:nvPr>
            <p:ph type="sldImg" idx="2"/>
          </p:nvPr>
        </p:nvSpPr>
        <p:spPr>
          <a:xfrm>
            <a:off x="990600" y="349250"/>
            <a:ext cx="4876800" cy="2743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04800" y="3344449"/>
            <a:ext cx="6248400" cy="527345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3884613" y="8793271"/>
            <a:ext cx="2971800" cy="350729"/>
          </a:xfrm>
          <a:prstGeom prst="rect">
            <a:avLst/>
          </a:prstGeom>
        </p:spPr>
        <p:txBody>
          <a:bodyPr vert="horz" lIns="91440" tIns="45720" rIns="91440" bIns="45720" rtlCol="0" anchor="t" anchorCtr="0"/>
          <a:lstStyle>
            <a:lvl1pPr algn="r">
              <a:defRPr sz="1000">
                <a:latin typeface="Aptos" panose="020B0004020202020204" pitchFamily="34" charset="0"/>
              </a:defRPr>
            </a:lvl1pPr>
          </a:lstStyle>
          <a:p>
            <a:fld id="{743F7EE4-7D84-4D77-B4B2-0C966043B366}" type="slidenum">
              <a:rPr lang="en-US" smtClean="0"/>
              <a:pPr/>
              <a:t>‹#›</a:t>
            </a:fld>
            <a:endParaRPr lang="en-US">
              <a:latin typeface="Aptos" panose="020B0004020202020204" pitchFamily="34" charset="0"/>
            </a:endParaRPr>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Aptos" panose="020B0004020202020204" pitchFamily="34" charset="0"/>
        <a:ea typeface="+mn-ea"/>
        <a:cs typeface="+mn-cs"/>
      </a:defRPr>
    </a:lvl1pPr>
    <a:lvl2pPr marL="457189" algn="l" defTabSz="914377" rtl="0" eaLnBrk="1" latinLnBrk="0" hangingPunct="1">
      <a:defRPr sz="1200" kern="1200">
        <a:solidFill>
          <a:schemeClr val="tx1"/>
        </a:solidFill>
        <a:latin typeface="Aptos" panose="020B0004020202020204" pitchFamily="34" charset="0"/>
        <a:ea typeface="+mn-ea"/>
        <a:cs typeface="+mn-cs"/>
      </a:defRPr>
    </a:lvl2pPr>
    <a:lvl3pPr marL="914377" algn="l" defTabSz="914377" rtl="0" eaLnBrk="1" latinLnBrk="0" hangingPunct="1">
      <a:defRPr sz="1200" kern="1200">
        <a:solidFill>
          <a:schemeClr val="tx1"/>
        </a:solidFill>
        <a:latin typeface="Aptos" panose="020B0004020202020204" pitchFamily="34" charset="0"/>
        <a:ea typeface="+mn-ea"/>
        <a:cs typeface="+mn-cs"/>
      </a:defRPr>
    </a:lvl3pPr>
    <a:lvl4pPr marL="1371566" algn="l" defTabSz="914377" rtl="0" eaLnBrk="1" latinLnBrk="0" hangingPunct="1">
      <a:defRPr sz="1200" kern="1200">
        <a:solidFill>
          <a:schemeClr val="tx1"/>
        </a:solidFill>
        <a:latin typeface="Aptos" panose="020B0004020202020204" pitchFamily="34" charset="0"/>
        <a:ea typeface="+mn-ea"/>
        <a:cs typeface="+mn-cs"/>
      </a:defRPr>
    </a:lvl4pPr>
    <a:lvl5pPr marL="1828754" algn="l" defTabSz="914377" rtl="0" eaLnBrk="1" latinLnBrk="0" hangingPunct="1">
      <a:defRPr sz="1200" kern="1200">
        <a:solidFill>
          <a:schemeClr val="tx1"/>
        </a:solidFill>
        <a:latin typeface="Aptos" panose="020B00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conversations today, joined by one question: what can RackAI credibly claim, and what evidence supports it. I'm looking for decisions and owners, not sign-off on every detail.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Opener: I'm not here to ask everyone to agree with every detail of a new framework. I'm asking us to agree on what RackAI needs to prove next, which decisions get us there, and who owns them. We already have customers, engineering commitments and real infrastructure investments; the intent is to make those compound into a differentiated, repeatable business, not restart the roadmap. Then: bottom line first. Read the bold sentence, then the three columns. The failure test is deliberate: it tells the room what 'done' looks like and gives everyone permission to hold me, and themselves, to it. At the close, come back to this slide and check each 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centres of gravity define the problems we're good at solving. Operator: we take responsibility for running the customer's AI, accountable for SLOs, incidents, lifecycle, capacity and cost. Sovereign provider: it stays theirs; they control where data, models, inference and operations run, and they can verify it. Plenty of providers offer one without the other: managed AI services run it on infrastructure the customer doesn't control; private infrastructure gives control but leaves the customer running it. We win where a customer needs both. That's the name we already use, the Private Enterprise AI Operator. This is a positioning model, not a literal competitive map: some managed providers offer private deployments, and some public platforms offer real operational guarantees. It's the intersection we deliberately target. Everything today should be judged against these two: does it make us a better operator, a more credible sovereign provider, or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Opener: we've said RackAI's identity is to be the best operator of private enterprise AI. A feature list can't tell us whether we're getting there, so the roadmap is organized around four claims we have to earn. We don't have demand data yet, and I'm not going to pretend we do: the order is chosen to answer our biggest open questions as early and cheaply as possible.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canonical Minimum Operable Estate from the roadmap: 1 customer, 1 private environment, 2 models, a governed harness v1, 1 owned GPU source behind the supply interface, basic routing, metering, observability, identity and policy, an audit trail and model lifecycle. Placement is human-operated: we don't need closed-loop automation or multi-cluster orchestration to learn how to be an operator. We need one operated estate, then ten, then we automate what hurts. MOE-0 runs this on a friendly or internal estate to make the operating model work. MOE-1 runs it for an external, regulated customer who delegates operations and pays. MOE-0 must never be cited as proof of the operator model. The exact v1 scope is still to be ratified.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identities show up here: the operator takes accountability; the sovereign provider keeps control with the customer, verifiably. What we're really communicating: today RackAI supplies capability; the customer operates it and carries the outcome. MOE-1 is the first time a customer hands us that accountability: serving, reliability, model lifecycle, incidents, capacity and cost, inside their own boundary, and pays us for it. That is the difference between a GPU or inference supplier and an operator. It's also what makes the Empirical Map possible: we only learn across estates if we operate them. How it materializes: five things you could point at. A signed scope of delegated responsibility; agreed SLOs and a visible incident path; running inside their boundary with an inspectable audit trail; a recurring evidence report; and an invoice for operating, not just capacity. If we can't show those five, we haven't done MOE-1. This is a proposed definition; the acceptance gate is still to be ratified.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revenue counts: 'I'm not suggesting our current revenue or customers don't count. They don't necessarily prove our differentiated operating model; MOE-1 is the first customer who validates it.' Delegated operations means we own serving, reliability, model lifecycle, incident response, capacity and cost for the workload. Backlog: 'We're not throwing out the backlog. When two pieces of work compete for the same people, we prioritize the one that moves us toward a customer proof, unless a contractual commitment, security obligation or reliability issue overrides it.' Ask for two dates: when MOE-0 is named, and when MOE-1 happens. Say: I'm proposing we steer toward two dated milestones: a rehearsal on a friendly estate, then a real external customer who hands us operational responsibility and pays. If they say 'both': agreed, the backlog doesn't disappear. I'm asking which wins when they conflict for the same engineers.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staircase shows rising evidence, not hard delivery dependencies. We can't claim a later proof until its test passes, but work on all four starts now. Proof 3 passes when MOE-1 passes; the Empirical Map (Proof 2) is the load-bearing capability that makes operating estates improve with scale.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mechanism, in plain English. Every estate we operate produces evidence about what works (observe); we find which configurations produce which outcomes across estates (learn); that recommends a better model, runtime, hardware or configuration (decide); and we measure the real outcome and feed it back (validate). The crucial question is what can transfer without transferring customer data: only explicitly approved, privacy-preserving operating insights. Raw customer data and tenant-private telemetry stay within their authorized boundaries. Aggregated signals can still be sensitive, so what transfers is governed, not assumed safe.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gaps speak. Delivery is strong on the measurement substrate. The five gaps have no delivery milestone today, and they are exactly where the operator identity has to be proven.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co-development has driven down the total cost of code, so we don't need to build a forever repo. We plan for a path to success over the next six months and assume the product will evolve substantially in the six months after. What doesn't get cheaper is what code can't regenerate: you can rewrite a service in weeks, but you can't backfill telemetry you never captured, rebuild a customer's trust, or shorten a compliance lead time. That's where we invest early. And we still run the most informative experiments first, because each answer can reorder the next cycle. Operating before automating is about knowing what to automate, not about the cost of building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K1 and K2 would most change where money goes. Ask: what would make us stop investing in the Empirical Map? And: if a customer wants private inference but won't let us run it, is that a business we want?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2 asks for priority and owners, not a budget: owners come back with capacity, cost and what gets displaced. The substrate behind the flywheel: economics (cost model), supply optionality (supply interface), and accumulated operating intelligence (the Empirical Map). The Map is load-bearing: it is what makes our decisions improve with every estate. K2 is how we check early that it compounds. Fill the owner and date lines live.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about scope: benchmarking MI350P doesn't certify sovereignty. A perfectly benchmarked service can still fail a customer's sovereignty requirements. MI350P qualification evidences one part of the sovereign promise: capacity we control, whose performance we can prove, with no uncontrolled egress and auditable provenance (the B4 sovereign-operation checks). The minimum control envelope and MOE-1 establish the rest: identity, policy, isolation, audit and compliance evidence. This part is about the sovereign provider: capacity we own and control, whose behaviour we can prove, inside a boundary the customer can trust. Opener: we have new MI350P capacity, and people will naturally compare it with NVIDIA. I want a consistent way to establish what we've proven, what we haven't, and what we're comfortable telling customers. I care more about agreeing the outcome and the ownership than defending the exact structure.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need to beat NVIDIA to be credible; we need to show we can deliver a defined workload at predictable performance, reliability, security and cost. Comparison hierarchy: (1) AMD's published references; (2) our own repeatable workload baselines; (3) current NVIDIA platforms (B200/B300) using published, comparable data where conditions genuinely match; (4) what customers would actually buy: hosted inference, dedicated GPUs, self-managed. H100 is an internal reference only: leading with it invites 'why compare your newest AMD to an older NVIDIA?'. Each objective gives Sales something usable without pretending it proves production readiness. Follow-up question: what would constitute a win for MI350P? Parity, better economics at the same SLO, or serving workloads that would otherwise need more NVIDIA GPUs?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Columns: link and owner, the artifact it hands up, and what it may claim. This is qualification ownership, not the production support RACI: who takes the incident, coordinates recovery and talks to the customer is what MOE-0 establishes. Read bottom to top. Below the Kubernetes line, Infra owns the evidence that the capacity is healthy. Above it, RackAI owns the evidence for what runs on it. We troubleshoot together, but each result has one accountable owner. What each link may NOT claim: B1 nothing about AI; B2 no serving latency or 'AI benchmarked'; B3 no 'production-ready', SLO or $; B4 no price; B5 no assumed cost presented as fact.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Pushback 'we need numbers fast': the intent is useful numbers quickly; the first baseline can start while the rest is agreed. 'Overengineering?': it would be if we ran the whole matrix upfront; we run the minimum evidence for the next decision. Ask: what evidence do we already have that we can reuse?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time gets tight: (1) what MI350P proves first; (2) confirmed topology; (3) first workload and reference method; (4) owners for baseline and service qualification; (5) SLO decision owner and date.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answer to 'what will be materially different in 90 days if we make these decisions?'. Read left to right, one row per function, so every leader sees their own line. These are proposed targets, not approved commitments. Before we leave, someone must own validating the dates and resources behind them; otherwise we leave with alignment but not executable commitments. The decision record will turn them into owned, dated items.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Outcome 1 proves the operator; outcome 2 makes us a credible sovereign provider. Close by returning to the bottom-line slide: did we get every 'you will leave with' item, and did we avoid each failure condition? Then: which of these can we decide in the room, and which need an owner and a date? Then: what would make anyone here disagree with this a month from now?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1" y="139065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90"/>
            <a:ext cx="11495555" cy="498940"/>
          </a:xfrm>
        </p:spPr>
        <p:txBody>
          <a:bodyPr>
            <a:spAutoFit/>
          </a:bodyPr>
          <a:lstStyle/>
          <a:p>
            <a:r>
              <a:rPr lang="en-US"/>
              <a:t>Click to edit Master title style</a:t>
            </a:r>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4050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mple with subheadin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1"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90"/>
            <a:ext cx="11495555" cy="498919"/>
          </a:xfrm>
        </p:spPr>
        <p:txBody>
          <a:bodyPr>
            <a:spAutoFit/>
          </a:bodyPr>
          <a:lstStyle>
            <a:lvl1pPr>
              <a:defRPr>
                <a:solidFill>
                  <a:schemeClr val="tx1"/>
                </a:solidFill>
              </a:defRPr>
            </a:lvl1pPr>
          </a:lstStyle>
          <a:p>
            <a:r>
              <a:rPr lang="en-US"/>
              <a:t>Click to edit Master title style</a:t>
            </a:r>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61951" y="1172451"/>
            <a:ext cx="11468100" cy="292388"/>
          </a:xfrm>
        </p:spPr>
        <p:txBody>
          <a:bodyPr lIns="0"/>
          <a:lstStyle>
            <a:lvl1pPr marL="0" indent="0">
              <a:buNone/>
              <a:defRPr sz="1900" b="1"/>
            </a:lvl1pPr>
            <a:lvl2pPr marL="283361"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3055388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eam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8" y="268589"/>
            <a:ext cx="2817495" cy="1028423"/>
          </a:xfrm>
        </p:spPr>
        <p:txBody>
          <a:bodyPr/>
          <a:lstStyle/>
          <a:p>
            <a:r>
              <a:rPr lang="en-US"/>
              <a:t>Click to edit Master title style</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Picture Placeholder 3">
            <a:extLst>
              <a:ext uri="{FF2B5EF4-FFF2-40B4-BE49-F238E27FC236}">
                <a16:creationId xmlns:a16="http://schemas.microsoft.com/office/drawing/2014/main" id="{B22941CD-3706-4648-F497-A5C41764F3A9}"/>
              </a:ext>
            </a:extLst>
          </p:cNvPr>
          <p:cNvSpPr>
            <a:spLocks noGrp="1"/>
          </p:cNvSpPr>
          <p:nvPr>
            <p:ph type="pic" sz="quarter" idx="10"/>
          </p:nvPr>
        </p:nvSpPr>
        <p:spPr>
          <a:xfrm>
            <a:off x="3238500" y="361947"/>
            <a:ext cx="1440000" cy="1443600"/>
          </a:xfrm>
          <a:prstGeom prst="ellipse">
            <a:avLst/>
          </a:prstGeom>
          <a:solidFill>
            <a:schemeClr val="bg1">
              <a:lumMod val="95000"/>
            </a:schemeClr>
          </a:solidFill>
          <a:ln>
            <a:solidFill>
              <a:schemeClr val="bg2"/>
            </a:solidFill>
          </a:ln>
        </p:spPr>
        <p:txBody>
          <a:bodyPr/>
          <a:lstStyle/>
          <a:p>
            <a:endParaRPr lang="en-US"/>
          </a:p>
        </p:txBody>
      </p:sp>
      <p:sp>
        <p:nvSpPr>
          <p:cNvPr id="4" name="Text Placeholder 6">
            <a:extLst>
              <a:ext uri="{FF2B5EF4-FFF2-40B4-BE49-F238E27FC236}">
                <a16:creationId xmlns:a16="http://schemas.microsoft.com/office/drawing/2014/main" id="{FD0677A4-D11B-77E9-6AB0-4B31F7F876DD}"/>
              </a:ext>
            </a:extLst>
          </p:cNvPr>
          <p:cNvSpPr>
            <a:spLocks noGrp="1"/>
          </p:cNvSpPr>
          <p:nvPr>
            <p:ph type="body" sz="quarter" idx="11" hasCustomPrompt="1"/>
          </p:nvPr>
        </p:nvSpPr>
        <p:spPr>
          <a:xfrm>
            <a:off x="3238501" y="1905002"/>
            <a:ext cx="1952625" cy="276999"/>
          </a:xfrm>
        </p:spPr>
        <p:txBody>
          <a:bodyPr lIns="0">
            <a:noAutofit/>
          </a:bodyPr>
          <a:lstStyle>
            <a:lvl1pPr marL="0" indent="0">
              <a:buNone/>
              <a:defRPr sz="1400" b="1" i="0">
                <a:latin typeface="+mj-lt"/>
                <a:ea typeface="Fira Sans SemiBold" panose="020B0503050000020004" pitchFamily="34" charset="0"/>
              </a:defRPr>
            </a:lvl1pPr>
          </a:lstStyle>
          <a:p>
            <a:pPr lvl="0"/>
            <a:r>
              <a:rPr lang="en-GB"/>
              <a:t>Name</a:t>
            </a:r>
            <a:endParaRPr lang="en-US"/>
          </a:p>
        </p:txBody>
      </p:sp>
      <p:sp>
        <p:nvSpPr>
          <p:cNvPr id="5" name="Text Placeholder 6">
            <a:extLst>
              <a:ext uri="{FF2B5EF4-FFF2-40B4-BE49-F238E27FC236}">
                <a16:creationId xmlns:a16="http://schemas.microsoft.com/office/drawing/2014/main" id="{B98A0B79-C251-AB61-F703-F68CF6AFF88C}"/>
              </a:ext>
            </a:extLst>
          </p:cNvPr>
          <p:cNvSpPr>
            <a:spLocks noGrp="1"/>
          </p:cNvSpPr>
          <p:nvPr>
            <p:ph type="body" sz="quarter" idx="12" hasCustomPrompt="1"/>
          </p:nvPr>
        </p:nvSpPr>
        <p:spPr>
          <a:xfrm>
            <a:off x="3238501" y="2281519"/>
            <a:ext cx="1952625" cy="27699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7" name="Picture Placeholder 3">
            <a:extLst>
              <a:ext uri="{FF2B5EF4-FFF2-40B4-BE49-F238E27FC236}">
                <a16:creationId xmlns:a16="http://schemas.microsoft.com/office/drawing/2014/main" id="{B2BA89CA-9D12-B949-5E3D-BB756EBD36F0}"/>
              </a:ext>
            </a:extLst>
          </p:cNvPr>
          <p:cNvSpPr>
            <a:spLocks noGrp="1"/>
          </p:cNvSpPr>
          <p:nvPr>
            <p:ph type="pic" sz="quarter" idx="13"/>
          </p:nvPr>
        </p:nvSpPr>
        <p:spPr>
          <a:xfrm>
            <a:off x="5452395" y="361947"/>
            <a:ext cx="1440000" cy="1443600"/>
          </a:xfrm>
          <a:prstGeom prst="ellipse">
            <a:avLst/>
          </a:prstGeom>
          <a:solidFill>
            <a:schemeClr val="bg1">
              <a:lumMod val="95000"/>
            </a:schemeClr>
          </a:solidFill>
          <a:ln>
            <a:solidFill>
              <a:schemeClr val="bg2"/>
            </a:solidFill>
          </a:ln>
        </p:spPr>
        <p:txBody>
          <a:bodyPr/>
          <a:lstStyle/>
          <a:p>
            <a:endParaRPr lang="en-US"/>
          </a:p>
        </p:txBody>
      </p:sp>
      <p:sp>
        <p:nvSpPr>
          <p:cNvPr id="10" name="Text Placeholder 6">
            <a:extLst>
              <a:ext uri="{FF2B5EF4-FFF2-40B4-BE49-F238E27FC236}">
                <a16:creationId xmlns:a16="http://schemas.microsoft.com/office/drawing/2014/main" id="{6256245C-BC5C-EE21-8C76-FBA9B0539B24}"/>
              </a:ext>
            </a:extLst>
          </p:cNvPr>
          <p:cNvSpPr>
            <a:spLocks noGrp="1"/>
          </p:cNvSpPr>
          <p:nvPr>
            <p:ph type="body" sz="quarter" idx="14" hasCustomPrompt="1"/>
          </p:nvPr>
        </p:nvSpPr>
        <p:spPr>
          <a:xfrm>
            <a:off x="5452396" y="1905002"/>
            <a:ext cx="1952625" cy="276999"/>
          </a:xfrm>
        </p:spPr>
        <p:txBody>
          <a:bodyPr lIns="0">
            <a:noAutofit/>
          </a:bodyPr>
          <a:lstStyle>
            <a:lvl1pPr marL="0" indent="0">
              <a:buNone/>
              <a:defRPr sz="1400" b="1" i="0">
                <a:latin typeface="+mj-lt"/>
                <a:ea typeface="Fira Sans SemiBold" panose="020B0503050000020004" pitchFamily="34" charset="0"/>
              </a:defRPr>
            </a:lvl1pPr>
          </a:lstStyle>
          <a:p>
            <a:pPr lvl="0"/>
            <a:r>
              <a:rPr lang="en-GB"/>
              <a:t>Name</a:t>
            </a:r>
            <a:endParaRPr lang="en-US"/>
          </a:p>
        </p:txBody>
      </p:sp>
      <p:sp>
        <p:nvSpPr>
          <p:cNvPr id="11" name="Text Placeholder 6">
            <a:extLst>
              <a:ext uri="{FF2B5EF4-FFF2-40B4-BE49-F238E27FC236}">
                <a16:creationId xmlns:a16="http://schemas.microsoft.com/office/drawing/2014/main" id="{5BD4185A-5465-863F-4745-FA6B0D1B072B}"/>
              </a:ext>
            </a:extLst>
          </p:cNvPr>
          <p:cNvSpPr>
            <a:spLocks noGrp="1"/>
          </p:cNvSpPr>
          <p:nvPr>
            <p:ph type="body" sz="quarter" idx="15" hasCustomPrompt="1"/>
          </p:nvPr>
        </p:nvSpPr>
        <p:spPr>
          <a:xfrm>
            <a:off x="5452396" y="2281519"/>
            <a:ext cx="1952625" cy="27699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12" name="Picture Placeholder 3">
            <a:extLst>
              <a:ext uri="{FF2B5EF4-FFF2-40B4-BE49-F238E27FC236}">
                <a16:creationId xmlns:a16="http://schemas.microsoft.com/office/drawing/2014/main" id="{1F70D95A-435F-5E57-E4DF-4BECF87B2FA8}"/>
              </a:ext>
            </a:extLst>
          </p:cNvPr>
          <p:cNvSpPr>
            <a:spLocks noGrp="1"/>
          </p:cNvSpPr>
          <p:nvPr>
            <p:ph type="pic" sz="quarter" idx="16"/>
          </p:nvPr>
        </p:nvSpPr>
        <p:spPr>
          <a:xfrm>
            <a:off x="7666288" y="361947"/>
            <a:ext cx="1440000" cy="1443600"/>
          </a:xfrm>
          <a:prstGeom prst="ellipse">
            <a:avLst/>
          </a:prstGeom>
          <a:solidFill>
            <a:schemeClr val="bg1">
              <a:lumMod val="95000"/>
            </a:schemeClr>
          </a:solidFill>
          <a:ln>
            <a:solidFill>
              <a:schemeClr val="bg2"/>
            </a:solidFill>
          </a:ln>
        </p:spPr>
        <p:txBody>
          <a:bodyPr/>
          <a:lstStyle/>
          <a:p>
            <a:endParaRPr lang="en-US"/>
          </a:p>
        </p:txBody>
      </p:sp>
      <p:sp>
        <p:nvSpPr>
          <p:cNvPr id="13" name="Text Placeholder 6">
            <a:extLst>
              <a:ext uri="{FF2B5EF4-FFF2-40B4-BE49-F238E27FC236}">
                <a16:creationId xmlns:a16="http://schemas.microsoft.com/office/drawing/2014/main" id="{F4CF8B56-A178-14B5-6C86-29BB6F713994}"/>
              </a:ext>
            </a:extLst>
          </p:cNvPr>
          <p:cNvSpPr>
            <a:spLocks noGrp="1"/>
          </p:cNvSpPr>
          <p:nvPr>
            <p:ph type="body" sz="quarter" idx="17" hasCustomPrompt="1"/>
          </p:nvPr>
        </p:nvSpPr>
        <p:spPr>
          <a:xfrm>
            <a:off x="7666289" y="1905002"/>
            <a:ext cx="1952625" cy="276999"/>
          </a:xfrm>
        </p:spPr>
        <p:txBody>
          <a:bodyPr lIns="0">
            <a:noAutofit/>
          </a:bodyPr>
          <a:lstStyle>
            <a:lvl1pPr marL="0" indent="0">
              <a:buNone/>
              <a:defRPr sz="1400" b="1" i="0">
                <a:latin typeface="+mj-lt"/>
                <a:ea typeface="Fira Sans SemiBold" panose="020B0503050000020004" pitchFamily="34" charset="0"/>
              </a:defRPr>
            </a:lvl1pPr>
          </a:lstStyle>
          <a:p>
            <a:pPr lvl="0"/>
            <a:r>
              <a:rPr lang="en-GB"/>
              <a:t>Name</a:t>
            </a:r>
            <a:endParaRPr lang="en-US"/>
          </a:p>
        </p:txBody>
      </p:sp>
      <p:sp>
        <p:nvSpPr>
          <p:cNvPr id="14" name="Text Placeholder 6">
            <a:extLst>
              <a:ext uri="{FF2B5EF4-FFF2-40B4-BE49-F238E27FC236}">
                <a16:creationId xmlns:a16="http://schemas.microsoft.com/office/drawing/2014/main" id="{05758F23-E9DF-E180-BB11-4C10009CADC8}"/>
              </a:ext>
            </a:extLst>
          </p:cNvPr>
          <p:cNvSpPr>
            <a:spLocks noGrp="1"/>
          </p:cNvSpPr>
          <p:nvPr>
            <p:ph type="body" sz="quarter" idx="18" hasCustomPrompt="1"/>
          </p:nvPr>
        </p:nvSpPr>
        <p:spPr>
          <a:xfrm>
            <a:off x="7666289" y="2281519"/>
            <a:ext cx="1952625" cy="27699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15" name="Picture Placeholder 3">
            <a:extLst>
              <a:ext uri="{FF2B5EF4-FFF2-40B4-BE49-F238E27FC236}">
                <a16:creationId xmlns:a16="http://schemas.microsoft.com/office/drawing/2014/main" id="{FC52A6AB-1727-A64D-B84F-6C19F78307AE}"/>
              </a:ext>
            </a:extLst>
          </p:cNvPr>
          <p:cNvSpPr>
            <a:spLocks noGrp="1"/>
          </p:cNvSpPr>
          <p:nvPr>
            <p:ph type="pic" sz="quarter" idx="19"/>
          </p:nvPr>
        </p:nvSpPr>
        <p:spPr>
          <a:xfrm>
            <a:off x="9880183" y="361947"/>
            <a:ext cx="1440000" cy="1443600"/>
          </a:xfrm>
          <a:prstGeom prst="ellipse">
            <a:avLst/>
          </a:prstGeom>
          <a:solidFill>
            <a:schemeClr val="bg1">
              <a:lumMod val="95000"/>
            </a:schemeClr>
          </a:solidFill>
          <a:ln>
            <a:solidFill>
              <a:schemeClr val="bg2"/>
            </a:solidFill>
          </a:ln>
        </p:spPr>
        <p:txBody>
          <a:bodyPr/>
          <a:lstStyle/>
          <a:p>
            <a:endParaRPr lang="en-US"/>
          </a:p>
        </p:txBody>
      </p:sp>
      <p:sp>
        <p:nvSpPr>
          <p:cNvPr id="16" name="Text Placeholder 6">
            <a:extLst>
              <a:ext uri="{FF2B5EF4-FFF2-40B4-BE49-F238E27FC236}">
                <a16:creationId xmlns:a16="http://schemas.microsoft.com/office/drawing/2014/main" id="{7BF9DB6F-5A8C-0BE1-4ACE-F8AA912AD8F3}"/>
              </a:ext>
            </a:extLst>
          </p:cNvPr>
          <p:cNvSpPr>
            <a:spLocks noGrp="1"/>
          </p:cNvSpPr>
          <p:nvPr>
            <p:ph type="body" sz="quarter" idx="20" hasCustomPrompt="1"/>
          </p:nvPr>
        </p:nvSpPr>
        <p:spPr>
          <a:xfrm>
            <a:off x="9880185" y="1905002"/>
            <a:ext cx="1952625" cy="276999"/>
          </a:xfrm>
        </p:spPr>
        <p:txBody>
          <a:bodyPr lIns="0">
            <a:noAutofit/>
          </a:bodyPr>
          <a:lstStyle>
            <a:lvl1pPr marL="0" indent="0">
              <a:buNone/>
              <a:defRPr sz="1400" b="1" i="0">
                <a:latin typeface="+mj-lt"/>
                <a:ea typeface="Fira Sans SemiBold" panose="020B0503050000020004" pitchFamily="34" charset="0"/>
              </a:defRPr>
            </a:lvl1pPr>
          </a:lstStyle>
          <a:p>
            <a:pPr lvl="0"/>
            <a:r>
              <a:rPr lang="en-GB"/>
              <a:t>Name</a:t>
            </a:r>
            <a:endParaRPr lang="en-US"/>
          </a:p>
        </p:txBody>
      </p:sp>
      <p:sp>
        <p:nvSpPr>
          <p:cNvPr id="17" name="Text Placeholder 6">
            <a:extLst>
              <a:ext uri="{FF2B5EF4-FFF2-40B4-BE49-F238E27FC236}">
                <a16:creationId xmlns:a16="http://schemas.microsoft.com/office/drawing/2014/main" id="{6E16BABE-88FC-9328-C844-978099CA04AB}"/>
              </a:ext>
            </a:extLst>
          </p:cNvPr>
          <p:cNvSpPr>
            <a:spLocks noGrp="1"/>
          </p:cNvSpPr>
          <p:nvPr>
            <p:ph type="body" sz="quarter" idx="21" hasCustomPrompt="1"/>
          </p:nvPr>
        </p:nvSpPr>
        <p:spPr>
          <a:xfrm>
            <a:off x="9880185" y="2281519"/>
            <a:ext cx="1952625" cy="27699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18" name="Picture Placeholder 3">
            <a:extLst>
              <a:ext uri="{FF2B5EF4-FFF2-40B4-BE49-F238E27FC236}">
                <a16:creationId xmlns:a16="http://schemas.microsoft.com/office/drawing/2014/main" id="{1EDD49F3-B20B-2E02-552E-E33F7CFB351C}"/>
              </a:ext>
            </a:extLst>
          </p:cNvPr>
          <p:cNvSpPr>
            <a:spLocks noGrp="1"/>
          </p:cNvSpPr>
          <p:nvPr>
            <p:ph type="pic" sz="quarter" idx="22"/>
          </p:nvPr>
        </p:nvSpPr>
        <p:spPr>
          <a:xfrm>
            <a:off x="3238500" y="2977210"/>
            <a:ext cx="1440000" cy="1443600"/>
          </a:xfrm>
          <a:prstGeom prst="ellipse">
            <a:avLst/>
          </a:prstGeom>
          <a:solidFill>
            <a:schemeClr val="bg1">
              <a:lumMod val="95000"/>
            </a:schemeClr>
          </a:solidFill>
          <a:ln>
            <a:solidFill>
              <a:schemeClr val="bg2"/>
            </a:solidFill>
          </a:ln>
        </p:spPr>
        <p:txBody>
          <a:bodyPr/>
          <a:lstStyle>
            <a:lvl1pPr>
              <a:defRPr>
                <a:latin typeface="+mn-lt"/>
              </a:defRPr>
            </a:lvl1pPr>
          </a:lstStyle>
          <a:p>
            <a:endParaRPr lang="en-US"/>
          </a:p>
        </p:txBody>
      </p:sp>
      <p:sp>
        <p:nvSpPr>
          <p:cNvPr id="19" name="Text Placeholder 6">
            <a:extLst>
              <a:ext uri="{FF2B5EF4-FFF2-40B4-BE49-F238E27FC236}">
                <a16:creationId xmlns:a16="http://schemas.microsoft.com/office/drawing/2014/main" id="{7D7BB651-AD3B-4648-2906-2BE6CDD7CCA3}"/>
              </a:ext>
            </a:extLst>
          </p:cNvPr>
          <p:cNvSpPr>
            <a:spLocks noGrp="1"/>
          </p:cNvSpPr>
          <p:nvPr>
            <p:ph type="body" sz="quarter" idx="23" hasCustomPrompt="1"/>
          </p:nvPr>
        </p:nvSpPr>
        <p:spPr>
          <a:xfrm>
            <a:off x="3238501" y="4520265"/>
            <a:ext cx="1952625" cy="276999"/>
          </a:xfrm>
        </p:spPr>
        <p:txBody>
          <a:bodyPr lIns="0">
            <a:noAutofit/>
          </a:bodyPr>
          <a:lstStyle>
            <a:lvl1pPr marL="0" indent="0">
              <a:buNone/>
              <a:defRPr sz="1400" b="1" i="0">
                <a:latin typeface="+mj-lt"/>
                <a:ea typeface="Fira Sans SemiBold" panose="020B0503050000020004" pitchFamily="34" charset="0"/>
              </a:defRPr>
            </a:lvl1pPr>
          </a:lstStyle>
          <a:p>
            <a:pPr lvl="0"/>
            <a:r>
              <a:rPr lang="en-GB"/>
              <a:t>Name</a:t>
            </a:r>
            <a:endParaRPr lang="en-US"/>
          </a:p>
        </p:txBody>
      </p:sp>
      <p:sp>
        <p:nvSpPr>
          <p:cNvPr id="20" name="Text Placeholder 6">
            <a:extLst>
              <a:ext uri="{FF2B5EF4-FFF2-40B4-BE49-F238E27FC236}">
                <a16:creationId xmlns:a16="http://schemas.microsoft.com/office/drawing/2014/main" id="{6ACB5547-8CC8-4FC5-C032-7A072971DA07}"/>
              </a:ext>
            </a:extLst>
          </p:cNvPr>
          <p:cNvSpPr>
            <a:spLocks noGrp="1"/>
          </p:cNvSpPr>
          <p:nvPr>
            <p:ph type="body" sz="quarter" idx="24" hasCustomPrompt="1"/>
          </p:nvPr>
        </p:nvSpPr>
        <p:spPr>
          <a:xfrm>
            <a:off x="3238501" y="4896782"/>
            <a:ext cx="1952625" cy="27699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21" name="Picture Placeholder 3">
            <a:extLst>
              <a:ext uri="{FF2B5EF4-FFF2-40B4-BE49-F238E27FC236}">
                <a16:creationId xmlns:a16="http://schemas.microsoft.com/office/drawing/2014/main" id="{FC0F0211-D68E-8FCC-58D6-7818E4B193C3}"/>
              </a:ext>
            </a:extLst>
          </p:cNvPr>
          <p:cNvSpPr>
            <a:spLocks noGrp="1"/>
          </p:cNvSpPr>
          <p:nvPr>
            <p:ph type="pic" sz="quarter" idx="25"/>
          </p:nvPr>
        </p:nvSpPr>
        <p:spPr>
          <a:xfrm>
            <a:off x="5452395" y="2977210"/>
            <a:ext cx="1440000" cy="1443600"/>
          </a:xfrm>
          <a:prstGeom prst="ellipse">
            <a:avLst/>
          </a:prstGeom>
          <a:solidFill>
            <a:schemeClr val="bg1">
              <a:lumMod val="95000"/>
            </a:schemeClr>
          </a:solidFill>
          <a:ln>
            <a:solidFill>
              <a:schemeClr val="bg2"/>
            </a:solidFill>
          </a:ln>
        </p:spPr>
        <p:txBody>
          <a:bodyPr/>
          <a:lstStyle>
            <a:lvl1pPr>
              <a:defRPr>
                <a:latin typeface="+mn-lt"/>
              </a:defRPr>
            </a:lvl1pPr>
          </a:lstStyle>
          <a:p>
            <a:endParaRPr lang="en-US"/>
          </a:p>
        </p:txBody>
      </p:sp>
      <p:sp>
        <p:nvSpPr>
          <p:cNvPr id="22" name="Text Placeholder 6">
            <a:extLst>
              <a:ext uri="{FF2B5EF4-FFF2-40B4-BE49-F238E27FC236}">
                <a16:creationId xmlns:a16="http://schemas.microsoft.com/office/drawing/2014/main" id="{913DFB7C-2E67-D4F7-9A6C-F41E3AA77F12}"/>
              </a:ext>
            </a:extLst>
          </p:cNvPr>
          <p:cNvSpPr>
            <a:spLocks noGrp="1"/>
          </p:cNvSpPr>
          <p:nvPr>
            <p:ph type="body" sz="quarter" idx="26" hasCustomPrompt="1"/>
          </p:nvPr>
        </p:nvSpPr>
        <p:spPr>
          <a:xfrm>
            <a:off x="5452396" y="4520265"/>
            <a:ext cx="1952625" cy="276999"/>
          </a:xfrm>
        </p:spPr>
        <p:txBody>
          <a:bodyPr lIns="0">
            <a:noAutofit/>
          </a:bodyPr>
          <a:lstStyle>
            <a:lvl1pPr marL="0" indent="0">
              <a:buNone/>
              <a:defRPr sz="1400" b="1" i="0">
                <a:latin typeface="+mj-lt"/>
                <a:ea typeface="Fira Sans SemiBold" panose="020B0503050000020004" pitchFamily="34" charset="0"/>
              </a:defRPr>
            </a:lvl1pPr>
          </a:lstStyle>
          <a:p>
            <a:pPr lvl="0"/>
            <a:r>
              <a:rPr lang="en-GB"/>
              <a:t>Name</a:t>
            </a:r>
            <a:endParaRPr lang="en-US"/>
          </a:p>
        </p:txBody>
      </p:sp>
      <p:sp>
        <p:nvSpPr>
          <p:cNvPr id="23" name="Text Placeholder 6">
            <a:extLst>
              <a:ext uri="{FF2B5EF4-FFF2-40B4-BE49-F238E27FC236}">
                <a16:creationId xmlns:a16="http://schemas.microsoft.com/office/drawing/2014/main" id="{EC3508B5-606F-031C-15EB-D2260029FEA9}"/>
              </a:ext>
            </a:extLst>
          </p:cNvPr>
          <p:cNvSpPr>
            <a:spLocks noGrp="1"/>
          </p:cNvSpPr>
          <p:nvPr>
            <p:ph type="body" sz="quarter" idx="27" hasCustomPrompt="1"/>
          </p:nvPr>
        </p:nvSpPr>
        <p:spPr>
          <a:xfrm>
            <a:off x="5452396" y="4896782"/>
            <a:ext cx="1952625" cy="27699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24" name="Picture Placeholder 3">
            <a:extLst>
              <a:ext uri="{FF2B5EF4-FFF2-40B4-BE49-F238E27FC236}">
                <a16:creationId xmlns:a16="http://schemas.microsoft.com/office/drawing/2014/main" id="{4515B920-8512-AAB6-0F62-CD19B1FC2CEE}"/>
              </a:ext>
            </a:extLst>
          </p:cNvPr>
          <p:cNvSpPr>
            <a:spLocks noGrp="1"/>
          </p:cNvSpPr>
          <p:nvPr>
            <p:ph type="pic" sz="quarter" idx="28"/>
          </p:nvPr>
        </p:nvSpPr>
        <p:spPr>
          <a:xfrm>
            <a:off x="7666288" y="2977210"/>
            <a:ext cx="1440000" cy="1443600"/>
          </a:xfrm>
          <a:prstGeom prst="ellipse">
            <a:avLst/>
          </a:prstGeom>
          <a:solidFill>
            <a:schemeClr val="bg1">
              <a:lumMod val="95000"/>
            </a:schemeClr>
          </a:solidFill>
          <a:ln>
            <a:solidFill>
              <a:schemeClr val="bg2"/>
            </a:solidFill>
          </a:ln>
        </p:spPr>
        <p:txBody>
          <a:bodyPr/>
          <a:lstStyle>
            <a:lvl1pPr>
              <a:defRPr>
                <a:latin typeface="+mn-lt"/>
              </a:defRPr>
            </a:lvl1pPr>
          </a:lstStyle>
          <a:p>
            <a:endParaRPr lang="en-US"/>
          </a:p>
        </p:txBody>
      </p:sp>
      <p:sp>
        <p:nvSpPr>
          <p:cNvPr id="25" name="Text Placeholder 6">
            <a:extLst>
              <a:ext uri="{FF2B5EF4-FFF2-40B4-BE49-F238E27FC236}">
                <a16:creationId xmlns:a16="http://schemas.microsoft.com/office/drawing/2014/main" id="{3783593B-9A17-156E-CEE3-9EF1A159ABE7}"/>
              </a:ext>
            </a:extLst>
          </p:cNvPr>
          <p:cNvSpPr>
            <a:spLocks noGrp="1"/>
          </p:cNvSpPr>
          <p:nvPr>
            <p:ph type="body" sz="quarter" idx="29" hasCustomPrompt="1"/>
          </p:nvPr>
        </p:nvSpPr>
        <p:spPr>
          <a:xfrm>
            <a:off x="7666289" y="4520265"/>
            <a:ext cx="1952625" cy="276999"/>
          </a:xfrm>
        </p:spPr>
        <p:txBody>
          <a:bodyPr lIns="0">
            <a:noAutofit/>
          </a:bodyPr>
          <a:lstStyle>
            <a:lvl1pPr marL="0" indent="0">
              <a:buNone/>
              <a:defRPr sz="1400" b="1" i="0">
                <a:latin typeface="+mj-lt"/>
                <a:ea typeface="Fira Sans SemiBold" panose="020B0503050000020004" pitchFamily="34" charset="0"/>
              </a:defRPr>
            </a:lvl1pPr>
          </a:lstStyle>
          <a:p>
            <a:pPr lvl="0"/>
            <a:r>
              <a:rPr lang="en-GB"/>
              <a:t>Name</a:t>
            </a:r>
            <a:endParaRPr lang="en-US"/>
          </a:p>
        </p:txBody>
      </p:sp>
      <p:sp>
        <p:nvSpPr>
          <p:cNvPr id="26" name="Text Placeholder 6">
            <a:extLst>
              <a:ext uri="{FF2B5EF4-FFF2-40B4-BE49-F238E27FC236}">
                <a16:creationId xmlns:a16="http://schemas.microsoft.com/office/drawing/2014/main" id="{1148398C-EB61-E70F-3E9F-876E5B1564ED}"/>
              </a:ext>
            </a:extLst>
          </p:cNvPr>
          <p:cNvSpPr>
            <a:spLocks noGrp="1"/>
          </p:cNvSpPr>
          <p:nvPr>
            <p:ph type="body" sz="quarter" idx="30" hasCustomPrompt="1"/>
          </p:nvPr>
        </p:nvSpPr>
        <p:spPr>
          <a:xfrm>
            <a:off x="7666289" y="4896782"/>
            <a:ext cx="1952625" cy="27699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sp>
        <p:nvSpPr>
          <p:cNvPr id="27" name="Picture Placeholder 3">
            <a:extLst>
              <a:ext uri="{FF2B5EF4-FFF2-40B4-BE49-F238E27FC236}">
                <a16:creationId xmlns:a16="http://schemas.microsoft.com/office/drawing/2014/main" id="{4FEF218B-9C5B-8F7A-4F0F-F4213E81CEDD}"/>
              </a:ext>
            </a:extLst>
          </p:cNvPr>
          <p:cNvSpPr>
            <a:spLocks noGrp="1"/>
          </p:cNvSpPr>
          <p:nvPr>
            <p:ph type="pic" sz="quarter" idx="31"/>
          </p:nvPr>
        </p:nvSpPr>
        <p:spPr>
          <a:xfrm>
            <a:off x="9880183" y="2977210"/>
            <a:ext cx="1440000" cy="1443600"/>
          </a:xfrm>
          <a:prstGeom prst="ellipse">
            <a:avLst/>
          </a:prstGeom>
          <a:solidFill>
            <a:schemeClr val="bg1">
              <a:lumMod val="95000"/>
            </a:schemeClr>
          </a:solidFill>
          <a:ln>
            <a:solidFill>
              <a:schemeClr val="bg2"/>
            </a:solidFill>
          </a:ln>
        </p:spPr>
        <p:txBody>
          <a:bodyPr/>
          <a:lstStyle>
            <a:lvl1pPr>
              <a:defRPr>
                <a:latin typeface="+mn-lt"/>
              </a:defRPr>
            </a:lvl1pPr>
          </a:lstStyle>
          <a:p>
            <a:endParaRPr lang="en-US"/>
          </a:p>
        </p:txBody>
      </p:sp>
      <p:sp>
        <p:nvSpPr>
          <p:cNvPr id="28" name="Text Placeholder 6">
            <a:extLst>
              <a:ext uri="{FF2B5EF4-FFF2-40B4-BE49-F238E27FC236}">
                <a16:creationId xmlns:a16="http://schemas.microsoft.com/office/drawing/2014/main" id="{F6EE859A-32C6-8F0F-6778-9D4FA89744CF}"/>
              </a:ext>
            </a:extLst>
          </p:cNvPr>
          <p:cNvSpPr>
            <a:spLocks noGrp="1"/>
          </p:cNvSpPr>
          <p:nvPr>
            <p:ph type="body" sz="quarter" idx="32" hasCustomPrompt="1"/>
          </p:nvPr>
        </p:nvSpPr>
        <p:spPr>
          <a:xfrm>
            <a:off x="9880185" y="4520265"/>
            <a:ext cx="1952625" cy="276999"/>
          </a:xfrm>
        </p:spPr>
        <p:txBody>
          <a:bodyPr lIns="0">
            <a:noAutofit/>
          </a:bodyPr>
          <a:lstStyle>
            <a:lvl1pPr marL="0" indent="0">
              <a:buNone/>
              <a:defRPr sz="1400" b="1" i="0">
                <a:latin typeface="+mj-lt"/>
                <a:ea typeface="Fira Sans SemiBold" panose="020B0503050000020004" pitchFamily="34" charset="0"/>
              </a:defRPr>
            </a:lvl1pPr>
          </a:lstStyle>
          <a:p>
            <a:pPr lvl="0"/>
            <a:r>
              <a:rPr lang="en-GB"/>
              <a:t>Name</a:t>
            </a:r>
            <a:endParaRPr lang="en-US"/>
          </a:p>
        </p:txBody>
      </p:sp>
      <p:sp>
        <p:nvSpPr>
          <p:cNvPr id="29" name="Text Placeholder 6">
            <a:extLst>
              <a:ext uri="{FF2B5EF4-FFF2-40B4-BE49-F238E27FC236}">
                <a16:creationId xmlns:a16="http://schemas.microsoft.com/office/drawing/2014/main" id="{805CC47E-975C-FF99-DCFD-F2ADCAAD843E}"/>
              </a:ext>
            </a:extLst>
          </p:cNvPr>
          <p:cNvSpPr>
            <a:spLocks noGrp="1"/>
          </p:cNvSpPr>
          <p:nvPr>
            <p:ph type="body" sz="quarter" idx="33" hasCustomPrompt="1"/>
          </p:nvPr>
        </p:nvSpPr>
        <p:spPr>
          <a:xfrm>
            <a:off x="9880185" y="4896782"/>
            <a:ext cx="1952625" cy="276999"/>
          </a:xfrm>
        </p:spPr>
        <p:txBody>
          <a:bodyPr lIns="0">
            <a:noAutofit/>
          </a:bodyPr>
          <a:lstStyle>
            <a:lvl1pPr marL="0" indent="0">
              <a:buNone/>
              <a:defRPr sz="1200" b="0" i="0">
                <a:latin typeface="+mn-lt"/>
                <a:ea typeface="Fira Sans SemiBold" panose="020B0503050000020004" pitchFamily="34" charset="0"/>
              </a:defRPr>
            </a:lvl1pPr>
          </a:lstStyle>
          <a:p>
            <a:pPr lvl="0"/>
            <a:r>
              <a:rPr lang="en-GB"/>
              <a:t>Title</a:t>
            </a:r>
            <a:endParaRPr lang="en-US"/>
          </a:p>
        </p:txBody>
      </p:sp>
      <p:pic>
        <p:nvPicPr>
          <p:cNvPr id="8" name="Graphic 7">
            <a:extLst>
              <a:ext uri="{FF2B5EF4-FFF2-40B4-BE49-F238E27FC236}">
                <a16:creationId xmlns:a16="http://schemas.microsoft.com/office/drawing/2014/main" id="{C65CA901-CA7F-8CCF-6108-A2703EDE4FB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2101257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90"/>
            <a:ext cx="11495555" cy="498940"/>
          </a:xfrm>
        </p:spPr>
        <p:txBody>
          <a:bodyPr/>
          <a:lstStyle/>
          <a:p>
            <a:r>
              <a:rPr lang="en-US"/>
              <a:t>Click to edit Master title style</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4C054481-42D8-E554-7FA4-33F4F30F942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3698403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9472AE0A-2AC2-CB13-6A23-5B95AF6E0B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74319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right panel">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77155" y="1905000"/>
            <a:ext cx="8225517" cy="1744067"/>
          </a:xfrm>
        </p:spPr>
        <p:txBody>
          <a:bodyPr vert="horz" wrap="square"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1126664"/>
            <a:ext cx="8258184" cy="29238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9" y="268589"/>
            <a:ext cx="8268174" cy="649858"/>
          </a:xfrm>
        </p:spPr>
        <p:txBody>
          <a:bodyPr wrap="square">
            <a:spAutoFit/>
          </a:bodyPr>
          <a:lstStyle/>
          <a:p>
            <a:r>
              <a:rPr lang="en-US"/>
              <a:t>Click to edit Master title style</a:t>
            </a:r>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4" name="Picture Placeholder 3">
            <a:extLst>
              <a:ext uri="{FF2B5EF4-FFF2-40B4-BE49-F238E27FC236}">
                <a16:creationId xmlns:a16="http://schemas.microsoft.com/office/drawing/2014/main" id="{2FB2966B-3616-BE9E-12F5-4594C9C94CCD}"/>
              </a:ext>
            </a:extLst>
          </p:cNvPr>
          <p:cNvSpPr>
            <a:spLocks noGrp="1"/>
          </p:cNvSpPr>
          <p:nvPr>
            <p:ph type="pic" sz="quarter" idx="14"/>
          </p:nvPr>
        </p:nvSpPr>
        <p:spPr>
          <a:xfrm>
            <a:off x="8972550" y="0"/>
            <a:ext cx="3219450" cy="6858000"/>
          </a:xfrm>
          <a:gradFill>
            <a:gsLst>
              <a:gs pos="100000">
                <a:schemeClr val="accent3"/>
              </a:gs>
              <a:gs pos="0">
                <a:schemeClr val="accent1"/>
              </a:gs>
              <a:gs pos="50000">
                <a:schemeClr val="accent2"/>
              </a:gs>
            </a:gsLst>
            <a:lin ang="5400000" scaled="0"/>
          </a:gradFill>
        </p:spPr>
        <p:txBody>
          <a:bodyPr/>
          <a:lstStyle/>
          <a:p>
            <a:endParaRPr lang="en-US"/>
          </a:p>
        </p:txBody>
      </p:sp>
    </p:spTree>
    <p:extLst>
      <p:ext uri="{BB962C8B-B14F-4D97-AF65-F5344CB8AC3E}">
        <p14:creationId xmlns:p14="http://schemas.microsoft.com/office/powerpoint/2010/main" val="3417935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or takeaway with picture — gre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C9A5A4-E1A7-48B5-DF76-2ADD7BE5C979}"/>
              </a:ext>
            </a:extLst>
          </p:cNvPr>
          <p:cNvSpPr/>
          <p:nvPr userDrawn="1"/>
        </p:nvSpPr>
        <p:spPr>
          <a:xfrm>
            <a:off x="3238500" y="0"/>
            <a:ext cx="89535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91467" y="767531"/>
            <a:ext cx="4911206" cy="1744067"/>
          </a:xfrm>
        </p:spPr>
        <p:txBody>
          <a:bodyPr vert="horz" wrap="square"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2511598"/>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9" y="268589"/>
            <a:ext cx="2618254" cy="2004138"/>
          </a:xfrm>
        </p:spPr>
        <p:txBody>
          <a:bodyPr wrap="square">
            <a:spAutoFit/>
          </a:bodyPr>
          <a:lstStyle/>
          <a:p>
            <a:r>
              <a:rPr lang="en-US"/>
              <a:t>Click to edit Master title style</a:t>
            </a:r>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4" name="Picture Placeholder 3">
            <a:extLst>
              <a:ext uri="{FF2B5EF4-FFF2-40B4-BE49-F238E27FC236}">
                <a16:creationId xmlns:a16="http://schemas.microsoft.com/office/drawing/2014/main" id="{2FB2966B-3616-BE9E-12F5-4594C9C94CCD}"/>
              </a:ext>
            </a:extLst>
          </p:cNvPr>
          <p:cNvSpPr>
            <a:spLocks noGrp="1"/>
          </p:cNvSpPr>
          <p:nvPr>
            <p:ph type="pic" sz="quarter" idx="14"/>
          </p:nvPr>
        </p:nvSpPr>
        <p:spPr>
          <a:xfrm>
            <a:off x="8972550" y="0"/>
            <a:ext cx="3219450" cy="6858000"/>
          </a:xfrm>
          <a:solidFill>
            <a:schemeClr val="bg2">
              <a:lumMod val="90000"/>
            </a:schemeClr>
          </a:solidFill>
        </p:spPr>
        <p:txBody>
          <a:bodyPr/>
          <a:lstStyle/>
          <a:p>
            <a:endParaRPr lang="en-US"/>
          </a:p>
        </p:txBody>
      </p:sp>
    </p:spTree>
    <p:extLst>
      <p:ext uri="{BB962C8B-B14F-4D97-AF65-F5344CB8AC3E}">
        <p14:creationId xmlns:p14="http://schemas.microsoft.com/office/powerpoint/2010/main" val="1866958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or takeaway with picture — pi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C9A5A4-E1A7-48B5-DF76-2ADD7BE5C979}"/>
              </a:ext>
            </a:extLst>
          </p:cNvPr>
          <p:cNvSpPr/>
          <p:nvPr userDrawn="1"/>
        </p:nvSpPr>
        <p:spPr>
          <a:xfrm>
            <a:off x="3238500" y="0"/>
            <a:ext cx="89535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91467" y="767531"/>
            <a:ext cx="4911206" cy="1744067"/>
          </a:xfrm>
        </p:spPr>
        <p:txBody>
          <a:bodyPr vert="horz" wrap="square"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2511598"/>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9" y="268589"/>
            <a:ext cx="2618254" cy="2004138"/>
          </a:xfrm>
        </p:spPr>
        <p:txBody>
          <a:bodyPr wrap="square">
            <a:spAutoFit/>
          </a:bodyPr>
          <a:lstStyle/>
          <a:p>
            <a:r>
              <a:rPr lang="en-US"/>
              <a:t>Click to edit Master title style</a:t>
            </a:r>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4" name="Picture Placeholder 3">
            <a:extLst>
              <a:ext uri="{FF2B5EF4-FFF2-40B4-BE49-F238E27FC236}">
                <a16:creationId xmlns:a16="http://schemas.microsoft.com/office/drawing/2014/main" id="{2FB2966B-3616-BE9E-12F5-4594C9C94CCD}"/>
              </a:ext>
            </a:extLst>
          </p:cNvPr>
          <p:cNvSpPr>
            <a:spLocks noGrp="1"/>
          </p:cNvSpPr>
          <p:nvPr>
            <p:ph type="pic" sz="quarter" idx="14"/>
          </p:nvPr>
        </p:nvSpPr>
        <p:spPr>
          <a:xfrm>
            <a:off x="8972550" y="0"/>
            <a:ext cx="3219450" cy="6858000"/>
          </a:xfrm>
          <a:solidFill>
            <a:schemeClr val="bg2">
              <a:lumMod val="90000"/>
            </a:schemeClr>
          </a:solidFill>
        </p:spPr>
        <p:txBody>
          <a:bodyPr/>
          <a:lstStyle/>
          <a:p>
            <a:endParaRPr lang="en-US"/>
          </a:p>
        </p:txBody>
      </p:sp>
    </p:spTree>
    <p:extLst>
      <p:ext uri="{BB962C8B-B14F-4D97-AF65-F5344CB8AC3E}">
        <p14:creationId xmlns:p14="http://schemas.microsoft.com/office/powerpoint/2010/main" val="2729138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Agenda or takeaway with picture — ligh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C9A5A4-E1A7-48B5-DF76-2ADD7BE5C979}"/>
              </a:ext>
            </a:extLst>
          </p:cNvPr>
          <p:cNvSpPr/>
          <p:nvPr userDrawn="1"/>
        </p:nvSpPr>
        <p:spPr>
          <a:xfrm>
            <a:off x="3238500" y="0"/>
            <a:ext cx="573405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91467" y="767531"/>
            <a:ext cx="4911206" cy="1744067"/>
          </a:xfrm>
        </p:spPr>
        <p:txBody>
          <a:bodyPr vert="horz" wrap="square"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2511598"/>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9" y="268589"/>
            <a:ext cx="2618254" cy="2004138"/>
          </a:xfrm>
        </p:spPr>
        <p:txBody>
          <a:bodyPr wrap="square">
            <a:spAutoFit/>
          </a:bodyPr>
          <a:lstStyle/>
          <a:p>
            <a:r>
              <a:rPr lang="en-US"/>
              <a:t>Click to edit Master title style</a:t>
            </a:r>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21567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or takeaway with picture — ligh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C9A5A4-E1A7-48B5-DF76-2ADD7BE5C979}"/>
              </a:ext>
            </a:extLst>
          </p:cNvPr>
          <p:cNvSpPr/>
          <p:nvPr userDrawn="1"/>
        </p:nvSpPr>
        <p:spPr>
          <a:xfrm>
            <a:off x="3238500" y="0"/>
            <a:ext cx="89535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ectangle 2">
            <a:extLst>
              <a:ext uri="{FF2B5EF4-FFF2-40B4-BE49-F238E27FC236}">
                <a16:creationId xmlns:a16="http://schemas.microsoft.com/office/drawing/2014/main" id="{6E74D709-4F9A-4734-1B32-4CE7B421E77C}"/>
              </a:ext>
            </a:extLst>
          </p:cNvPr>
          <p:cNvSpPr/>
          <p:nvPr userDrawn="1"/>
        </p:nvSpPr>
        <p:spPr>
          <a:xfrm>
            <a:off x="8972550" y="0"/>
            <a:ext cx="3219450" cy="6858000"/>
          </a:xfrm>
          <a:prstGeom prst="rect">
            <a:avLst/>
          </a:prstGeom>
          <a:gradFill>
            <a:gsLst>
              <a:gs pos="0">
                <a:schemeClr val="accent1"/>
              </a:gs>
              <a:gs pos="52000">
                <a:schemeClr val="accent2"/>
              </a:gs>
              <a:gs pos="99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91467" y="767531"/>
            <a:ext cx="4911206" cy="1744067"/>
          </a:xfrm>
        </p:spPr>
        <p:txBody>
          <a:bodyPr vert="horz" wrap="square"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2511598"/>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9" y="268589"/>
            <a:ext cx="2618254" cy="2004138"/>
          </a:xfrm>
        </p:spPr>
        <p:txBody>
          <a:bodyPr wrap="square">
            <a:spAutoFit/>
          </a:bodyPr>
          <a:lstStyle/>
          <a:p>
            <a:r>
              <a:rPr lang="en-US"/>
              <a:t>Click to edit Master title style</a:t>
            </a:r>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4" name="Picture Placeholder 3">
            <a:extLst>
              <a:ext uri="{FF2B5EF4-FFF2-40B4-BE49-F238E27FC236}">
                <a16:creationId xmlns:a16="http://schemas.microsoft.com/office/drawing/2014/main" id="{2FB2966B-3616-BE9E-12F5-4594C9C94CCD}"/>
              </a:ext>
            </a:extLst>
          </p:cNvPr>
          <p:cNvSpPr>
            <a:spLocks noGrp="1"/>
          </p:cNvSpPr>
          <p:nvPr>
            <p:ph type="pic" sz="quarter" idx="14"/>
          </p:nvPr>
        </p:nvSpPr>
        <p:spPr>
          <a:xfrm>
            <a:off x="8972550" y="0"/>
            <a:ext cx="3219450" cy="6858000"/>
          </a:xfrm>
          <a:solidFill>
            <a:schemeClr val="bg2">
              <a:lumMod val="90000"/>
            </a:schemeClr>
          </a:solidFill>
        </p:spPr>
        <p:txBody>
          <a:bodyPr/>
          <a:lstStyle/>
          <a:p>
            <a:endParaRPr lang="en-US"/>
          </a:p>
        </p:txBody>
      </p:sp>
      <p:sp>
        <p:nvSpPr>
          <p:cNvPr id="6" name="Rectangle 5">
            <a:extLst>
              <a:ext uri="{FF2B5EF4-FFF2-40B4-BE49-F238E27FC236}">
                <a16:creationId xmlns:a16="http://schemas.microsoft.com/office/drawing/2014/main" id="{B61D0160-6429-C71F-CFF8-B65C6EA87743}"/>
              </a:ext>
            </a:extLst>
          </p:cNvPr>
          <p:cNvSpPr/>
          <p:nvPr userDrawn="1"/>
        </p:nvSpPr>
        <p:spPr>
          <a:xfrm>
            <a:off x="8919942" y="-4762"/>
            <a:ext cx="52608" cy="6862761"/>
          </a:xfrm>
          <a:prstGeom prst="rect">
            <a:avLst/>
          </a:prstGeom>
          <a:gradFill>
            <a:gsLst>
              <a:gs pos="0">
                <a:schemeClr val="accent1"/>
              </a:gs>
              <a:gs pos="50000">
                <a:schemeClr val="accent2"/>
              </a:gs>
              <a:gs pos="100000">
                <a:schemeClr val="accent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027363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Agenda or takeaway with picture — ligh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C9A5A4-E1A7-48B5-DF76-2ADD7BE5C979}"/>
              </a:ext>
            </a:extLst>
          </p:cNvPr>
          <p:cNvSpPr/>
          <p:nvPr userDrawn="1"/>
        </p:nvSpPr>
        <p:spPr>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ectangle 2">
            <a:extLst>
              <a:ext uri="{FF2B5EF4-FFF2-40B4-BE49-F238E27FC236}">
                <a16:creationId xmlns:a16="http://schemas.microsoft.com/office/drawing/2014/main" id="{6E74D709-4F9A-4734-1B32-4CE7B421E77C}"/>
              </a:ext>
            </a:extLst>
          </p:cNvPr>
          <p:cNvSpPr/>
          <p:nvPr userDrawn="1"/>
        </p:nvSpPr>
        <p:spPr>
          <a:xfrm>
            <a:off x="8972550" y="0"/>
            <a:ext cx="3219450" cy="6858000"/>
          </a:xfrm>
          <a:prstGeom prst="rect">
            <a:avLst/>
          </a:prstGeom>
          <a:gradFill>
            <a:gsLst>
              <a:gs pos="0">
                <a:schemeClr val="accent1"/>
              </a:gs>
              <a:gs pos="52000">
                <a:schemeClr val="accent2"/>
              </a:gs>
              <a:gs pos="99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343177" y="767531"/>
            <a:ext cx="2259496" cy="2575064"/>
          </a:xfrm>
        </p:spPr>
        <p:txBody>
          <a:bodyPr vert="horz" wrap="square"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2511598"/>
            <a:ext cx="5356003" cy="584775"/>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5376519" cy="1231106"/>
          </a:xfrm>
        </p:spPr>
        <p:txBody>
          <a:bodyPr wrap="square">
            <a:spAutoFit/>
          </a:bodyPr>
          <a:lstStyle/>
          <a:p>
            <a:r>
              <a:rPr lang="en-US"/>
              <a:t>Click to edit Master title style</a:t>
            </a:r>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4" name="Picture Placeholder 3">
            <a:extLst>
              <a:ext uri="{FF2B5EF4-FFF2-40B4-BE49-F238E27FC236}">
                <a16:creationId xmlns:a16="http://schemas.microsoft.com/office/drawing/2014/main" id="{2FB2966B-3616-BE9E-12F5-4594C9C94CCD}"/>
              </a:ext>
            </a:extLst>
          </p:cNvPr>
          <p:cNvSpPr>
            <a:spLocks noGrp="1"/>
          </p:cNvSpPr>
          <p:nvPr>
            <p:ph type="pic" sz="quarter" idx="14"/>
          </p:nvPr>
        </p:nvSpPr>
        <p:spPr>
          <a:xfrm>
            <a:off x="8972550" y="0"/>
            <a:ext cx="3219450" cy="6858000"/>
          </a:xfrm>
          <a:solidFill>
            <a:schemeClr val="bg2">
              <a:lumMod val="90000"/>
            </a:schemeClr>
          </a:solidFill>
        </p:spPr>
        <p:txBody>
          <a:bodyPr/>
          <a:lstStyle/>
          <a:p>
            <a:endParaRPr lang="en-US"/>
          </a:p>
        </p:txBody>
      </p:sp>
      <p:sp>
        <p:nvSpPr>
          <p:cNvPr id="6" name="Rectangle 5">
            <a:extLst>
              <a:ext uri="{FF2B5EF4-FFF2-40B4-BE49-F238E27FC236}">
                <a16:creationId xmlns:a16="http://schemas.microsoft.com/office/drawing/2014/main" id="{B61D0160-6429-C71F-CFF8-B65C6EA87743}"/>
              </a:ext>
            </a:extLst>
          </p:cNvPr>
          <p:cNvSpPr/>
          <p:nvPr userDrawn="1"/>
        </p:nvSpPr>
        <p:spPr>
          <a:xfrm>
            <a:off x="8919942" y="-4762"/>
            <a:ext cx="52608" cy="6862761"/>
          </a:xfrm>
          <a:prstGeom prst="rect">
            <a:avLst/>
          </a:prstGeom>
          <a:gradFill>
            <a:gsLst>
              <a:gs pos="0">
                <a:schemeClr val="accent1"/>
              </a:gs>
              <a:gs pos="50000">
                <a:schemeClr val="accent2"/>
              </a:gs>
              <a:gs pos="100000">
                <a:schemeClr val="accent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52340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556027" y="767531"/>
            <a:ext cx="8262594" cy="276999"/>
          </a:xfrm>
        </p:spPr>
        <p:txBody>
          <a:bodyPr wrap="square">
            <a:spAutoFit/>
          </a:bodyPr>
          <a:lstStyle>
            <a:lvl1pPr>
              <a:defRPr>
                <a:latin typeface="Fira Sans" panose="020B0503050000020004" pitchFamily="34" charset="0"/>
              </a:defRPr>
            </a:lvl1p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8" y="268590"/>
            <a:ext cx="2733169" cy="498940"/>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7" y="1388583"/>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50525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03600" y="361950"/>
            <a:ext cx="8415020" cy="1744067"/>
          </a:xfrm>
        </p:spPr>
        <p:txBody>
          <a:bodyPr wrap="square" lIns="182880">
            <a:spAutoFit/>
          </a:bodyPr>
          <a:lstStyle>
            <a:lvl1pPr marL="142871" marR="0"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b="0" i="0">
                <a:latin typeface="Fira Sans Light" panose="020B0403050000020004" pitchFamily="34" charset="0"/>
              </a:defRPr>
            </a:lvl1pPr>
            <a:lvl2pPr marL="428615" marR="0" indent="-145254"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b="0" i="0">
                <a:latin typeface="Fira Sans Light" panose="020B0403050000020004" pitchFamily="34" charset="0"/>
              </a:defRPr>
            </a:lvl2pPr>
            <a:lvl3pPr marL="714357" marR="0" indent="-14763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b="0" i="0">
                <a:latin typeface="Fira Sans Light" panose="020B0403050000020004" pitchFamily="34" charset="0"/>
              </a:defRPr>
            </a:lvl3pPr>
            <a:lvl4pPr marL="1000100" marR="0" indent="-15001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b="0" i="0">
                <a:latin typeface="Fira Sans Light" panose="020B0403050000020004" pitchFamily="34" charset="0"/>
              </a:defRPr>
            </a:lvl4pPr>
            <a:lvl5pPr marL="1285843" marR="0" indent="-152396"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b="0" i="0">
                <a:latin typeface="Fira Sans Light" panose="020B0403050000020004" pitchFamily="34" charset="0"/>
              </a:defRPr>
            </a:lvl5pPr>
          </a:lstStyle>
          <a:p>
            <a:pPr marL="142871" marR="0" lvl="0"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1" marR="0" lvl="1"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1" marR="0" lvl="2"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1" marR="0" lvl="3"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1" marR="0" lvl="4"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8" y="268590"/>
            <a:ext cx="2733169" cy="649922"/>
          </a:xfrm>
        </p:spPr>
        <p:txBody>
          <a:bodyPr>
            <a:spAutoFit/>
          </a:bodyPr>
          <a:lstStyle>
            <a:lvl1pPr>
              <a:defRPr b="0" i="0">
                <a:latin typeface="+mj-lt"/>
              </a:defRPr>
            </a:lvl1p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7" y="1388583"/>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954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1"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7" y="268589"/>
            <a:ext cx="2618255" cy="1548459"/>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9" y="22594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E4E59906-174B-CA05-1143-45FB3EF069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386802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1"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7" y="268589"/>
            <a:ext cx="2618255" cy="1548459"/>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9" y="22594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848D2918-9CA9-8895-74F4-5BD485A2E41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861515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7" y="268590"/>
            <a:ext cx="5571004" cy="498940"/>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3" y="1905000"/>
            <a:ext cx="5557799" cy="1744067"/>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E3069F5F-BB39-59C0-FF98-34252D6A06A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566880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7" y="268590"/>
            <a:ext cx="5571004" cy="498940"/>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3" y="2572839"/>
            <a:ext cx="5557799" cy="1744067"/>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1864238"/>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51436B4C-1BBA-8335-94E9-12D67D411AF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368234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Full Screen image with tex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1"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096000" y="3429000"/>
            <a:ext cx="2857499" cy="2057400"/>
          </a:xfrm>
          <a:prstGeom prst="rect">
            <a:avLst/>
          </a:prstGeom>
          <a:solidFill>
            <a:schemeClr val="bg1"/>
          </a:solidFill>
        </p:spPr>
        <p:txBody>
          <a:bodyPr vert="horz" lIns="288000" tIns="216000" rIns="288000" bIns="21600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5" y="365760"/>
            <a:ext cx="5735575" cy="3063239"/>
          </a:xfrm>
          <a:solidFill>
            <a:schemeClr val="bg1"/>
          </a:solidFill>
          <a:ln w="12700">
            <a:noFill/>
          </a:ln>
        </p:spPr>
        <p:txBody>
          <a:bodyPr vert="horz" lIns="288000" tIns="216000" rIns="288000" bIns="216000" rtlCol="0" anchor="t" anchorCtr="0">
            <a:noAutofit/>
          </a:bodyPr>
          <a:lstStyle>
            <a:lvl1pPr>
              <a:defRPr lang="en-US" dirty="0">
                <a:ln w="9525">
                  <a:noFill/>
                </a:ln>
                <a:solidFill>
                  <a:schemeClr val="tx1"/>
                </a:solidFill>
              </a:defRPr>
            </a:lvl1pPr>
          </a:lstStyle>
          <a:p>
            <a:pPr marL="0" lvl="0" indent="0">
              <a:spcAft>
                <a:spcPts val="1500"/>
              </a:spcAft>
              <a:buFont typeface="Arial" panose="020B0604020202020204" pitchFamily="34" charset="0"/>
            </a:pPr>
            <a:r>
              <a:rPr lang="en-US"/>
              <a:t>Click to edit Master title style</a:t>
            </a:r>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DDB5E79D-F77A-412A-458D-A1C15212363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2679176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Quarter panel left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1" y="0"/>
            <a:ext cx="3238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7"/>
            <a:ext cx="8580120" cy="1744067"/>
          </a:xfrm>
        </p:spPr>
        <p:txBody>
          <a:bodyPr vert="horz" lIns="182880" tIns="0" rIns="0" bIns="0" rtlCol="0">
            <a:spAutoFit/>
          </a:bodyPr>
          <a:lstStyle>
            <a:lvl1pPr marL="142871" marR="0"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1pPr>
            <a:lvl2pPr marL="428615" marR="0" indent="-145254"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2pPr>
            <a:lvl3pPr marL="714357" marR="0" indent="-14763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3pPr>
            <a:lvl4pPr marL="1000100" marR="0" indent="-15001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4pPr>
            <a:lvl5pPr marL="1285843" marR="0" indent="-152396"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5pPr>
          </a:lstStyle>
          <a:p>
            <a:pPr marL="142871" marR="0" lvl="0"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1" marR="0" lvl="1"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1" marR="0" lvl="2"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1" marR="0" lvl="3"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1" marR="0" lvl="4"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22594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bg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2620793" cy="1548459"/>
          </a:xfrm>
        </p:spPr>
        <p:txBody>
          <a:bodyPr>
            <a:spAutoFit/>
          </a:bodyPr>
          <a:lstStyle>
            <a:lvl1pPr>
              <a:defRPr>
                <a:solidFill>
                  <a:schemeClr val="bg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75A206FF-F6B8-DFB1-42E7-29E263F734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4190564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Quarter panel left — gre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1" y="0"/>
            <a:ext cx="32385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7"/>
            <a:ext cx="8580120" cy="1744067"/>
          </a:xfrm>
        </p:spPr>
        <p:txBody>
          <a:bodyPr vert="horz" lIns="182880" tIns="0" rIns="0" bIns="0" rtlCol="0">
            <a:spAutoFit/>
          </a:bodyPr>
          <a:lstStyle>
            <a:lvl1pPr marL="142871" marR="0"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1pPr>
            <a:lvl2pPr marL="428615" marR="0" indent="-145254"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2pPr>
            <a:lvl3pPr marL="714357" marR="0" indent="-14763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3pPr>
            <a:lvl4pPr marL="1000100" marR="0" indent="-15001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4pPr>
            <a:lvl5pPr marL="1285843" marR="0" indent="-152396"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5pPr>
          </a:lstStyle>
          <a:p>
            <a:pPr marL="142871" marR="0" lvl="0"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1" marR="0" lvl="1"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1" marR="0" lvl="2"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1" marR="0" lvl="3"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1" marR="0" lvl="4"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22594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2620793" cy="1548459"/>
          </a:xfrm>
        </p:spPr>
        <p:txBody>
          <a:bodyPr>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5021DD7D-7754-59BC-90DD-03E495FC1E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365275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Quarter panel left — pi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1" y="0"/>
            <a:ext cx="32385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7"/>
            <a:ext cx="8580120" cy="1744067"/>
          </a:xfrm>
        </p:spPr>
        <p:txBody>
          <a:bodyPr vert="horz" lIns="182880" tIns="0" rIns="0" bIns="0" rtlCol="0">
            <a:spAutoFit/>
          </a:bodyPr>
          <a:lstStyle>
            <a:lvl1pPr marL="142871" marR="0"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1pPr>
            <a:lvl2pPr marL="428615" marR="0" indent="-145254"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2pPr>
            <a:lvl3pPr marL="714357" marR="0" indent="-14763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3pPr>
            <a:lvl4pPr marL="1000100" marR="0" indent="-15001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4pPr>
            <a:lvl5pPr marL="1285843" marR="0" indent="-152396"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5pPr>
          </a:lstStyle>
          <a:p>
            <a:pPr marL="142871" marR="0" lvl="0"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1" marR="0" lvl="1"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1" marR="0" lvl="2"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1" marR="0" lvl="3"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1" marR="0" lvl="4"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22594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2620793" cy="1548459"/>
          </a:xfrm>
        </p:spPr>
        <p:txBody>
          <a:bodyPr>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1B0D8CF0-181E-2F1E-902B-6A389CB4923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4015983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arter panel left — ligh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1" y="0"/>
            <a:ext cx="32385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7"/>
            <a:ext cx="8580120" cy="1744067"/>
          </a:xfrm>
        </p:spPr>
        <p:txBody>
          <a:bodyPr vert="horz" lIns="182880" tIns="0" rIns="0" bIns="0" rtlCol="0">
            <a:spAutoFit/>
          </a:bodyPr>
          <a:lstStyle>
            <a:lvl1pPr marL="142871" marR="0"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1pPr>
            <a:lvl2pPr marL="428615" marR="0" indent="-145254"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2pPr>
            <a:lvl3pPr marL="714357" marR="0" indent="-14763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3pPr>
            <a:lvl4pPr marL="1000100" marR="0" indent="-15001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4pPr>
            <a:lvl5pPr marL="1285843" marR="0" indent="-152396"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atin typeface="Fira Sans" panose="020B0503050000020004" pitchFamily="34" charset="0"/>
              </a:defRPr>
            </a:lvl5pPr>
          </a:lstStyle>
          <a:p>
            <a:pPr marL="142871" marR="0" lvl="0"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1" marR="0" lvl="1"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1" marR="0" lvl="2"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1" marR="0" lvl="3"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1" marR="0" lvl="4"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22594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2620793" cy="1548459"/>
          </a:xfrm>
        </p:spPr>
        <p:txBody>
          <a:bodyPr>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A4E499E5-3606-3B69-4CE8-DA9E62F4CD0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3740421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Half panel bottom — gre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3429000"/>
            <a:ext cx="12191999" cy="3429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1048123"/>
            <a:ext cx="8628061" cy="29238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11495552" cy="649858"/>
          </a:xfrm>
        </p:spPr>
        <p:txBody>
          <a:bodyPr wrap="square">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B1B009D8-1897-9826-63C2-A1CC044A606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3186910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Half panel bottom — pi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3429000"/>
            <a:ext cx="12191999"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1048123"/>
            <a:ext cx="8628061" cy="29238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11495552" cy="649858"/>
          </a:xfrm>
        </p:spPr>
        <p:txBody>
          <a:bodyPr wrap="square">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352456B8-37E4-BB05-004D-C528127996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3474013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panel bottom — ligh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3429000"/>
            <a:ext cx="12191999" cy="3429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1048123"/>
            <a:ext cx="8628061" cy="29238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11495552" cy="649858"/>
          </a:xfrm>
        </p:spPr>
        <p:txBody>
          <a:bodyPr wrap="square">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F783579A-C433-3A39-498F-1B7B5BC8198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1333728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Half panel bottom — ligh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4953000"/>
            <a:ext cx="12191999" cy="1905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1048123"/>
            <a:ext cx="8628061" cy="29238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11495552" cy="649858"/>
          </a:xfrm>
        </p:spPr>
        <p:txBody>
          <a:bodyPr wrap="square">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D47646A2-C726-F228-431C-605858676CE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941471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all out right — gre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8972550" y="0"/>
            <a:ext cx="32194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1048123"/>
            <a:ext cx="8426947" cy="29238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8426947" cy="649858"/>
          </a:xfrm>
        </p:spPr>
        <p:txBody>
          <a:bodyPr wrap="square">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6" name="Content Placeholder 5">
            <a:extLst>
              <a:ext uri="{FF2B5EF4-FFF2-40B4-BE49-F238E27FC236}">
                <a16:creationId xmlns:a16="http://schemas.microsoft.com/office/drawing/2014/main" id="{15F85AF2-3F35-D947-ED78-2A39D51D3490}"/>
              </a:ext>
            </a:extLst>
          </p:cNvPr>
          <p:cNvSpPr>
            <a:spLocks noGrp="1"/>
          </p:cNvSpPr>
          <p:nvPr>
            <p:ph sz="quarter" idx="14" hasCustomPrompt="1"/>
          </p:nvPr>
        </p:nvSpPr>
        <p:spPr>
          <a:xfrm>
            <a:off x="9247188" y="361950"/>
            <a:ext cx="2582862" cy="6159271"/>
          </a:xfrm>
        </p:spPr>
        <p:txBody>
          <a:bodyPr lIns="0" anchor="ctr" anchorCtr="0">
            <a:noAutofit/>
          </a:bodyPr>
          <a:lstStyle>
            <a:lvl1pPr>
              <a:buNone/>
              <a:defRPr sz="2800">
                <a:latin typeface="+mn-lt"/>
              </a:defRPr>
            </a:lvl1pPr>
            <a:lvl2pPr>
              <a:buNone/>
              <a:defRPr sz="2800">
                <a:latin typeface="+mn-lt"/>
              </a:defRPr>
            </a:lvl2pPr>
            <a:lvl3pPr>
              <a:buNone/>
              <a:defRPr sz="2800">
                <a:latin typeface="+mn-lt"/>
              </a:defRPr>
            </a:lvl3pPr>
            <a:lvl4pPr>
              <a:buNone/>
              <a:defRPr sz="2800">
                <a:latin typeface="+mn-lt"/>
              </a:defRPr>
            </a:lvl4pPr>
            <a:lvl5pPr>
              <a:buNone/>
              <a:defRPr sz="2800">
                <a:latin typeface="+mn-lt"/>
              </a:defRPr>
            </a:lvl5pPr>
          </a:lstStyle>
          <a:p>
            <a:pPr lvl="0"/>
            <a:r>
              <a:rPr lang="en-GB"/>
              <a:t>Call out text</a:t>
            </a:r>
            <a:endParaRPr lang="en-US"/>
          </a:p>
        </p:txBody>
      </p:sp>
      <p:sp>
        <p:nvSpPr>
          <p:cNvPr id="3" name="Rectangle 2">
            <a:extLst>
              <a:ext uri="{FF2B5EF4-FFF2-40B4-BE49-F238E27FC236}">
                <a16:creationId xmlns:a16="http://schemas.microsoft.com/office/drawing/2014/main" id="{6C9999DA-1D2C-01B1-5418-15F0D1E4003F}"/>
              </a:ext>
            </a:extLst>
          </p:cNvPr>
          <p:cNvSpPr/>
          <p:nvPr userDrawn="1"/>
        </p:nvSpPr>
        <p:spPr>
          <a:xfrm>
            <a:off x="8919942" y="0"/>
            <a:ext cx="52608" cy="6862761"/>
          </a:xfrm>
          <a:prstGeom prst="rect">
            <a:avLst/>
          </a:prstGeom>
          <a:gradFill>
            <a:gsLst>
              <a:gs pos="0">
                <a:schemeClr val="accent1"/>
              </a:gs>
              <a:gs pos="50000">
                <a:schemeClr val="accent2"/>
              </a:gs>
              <a:gs pos="100000">
                <a:schemeClr val="accent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Graphic 6">
            <a:extLst>
              <a:ext uri="{FF2B5EF4-FFF2-40B4-BE49-F238E27FC236}">
                <a16:creationId xmlns:a16="http://schemas.microsoft.com/office/drawing/2014/main" id="{227CAB2C-E2B0-5A23-C29F-0D70236A887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2716739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all out right — pi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8972550" y="0"/>
            <a:ext cx="321944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1048123"/>
            <a:ext cx="8426947" cy="29238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8426947" cy="649858"/>
          </a:xfrm>
        </p:spPr>
        <p:txBody>
          <a:bodyPr wrap="square">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6" name="Content Placeholder 5">
            <a:extLst>
              <a:ext uri="{FF2B5EF4-FFF2-40B4-BE49-F238E27FC236}">
                <a16:creationId xmlns:a16="http://schemas.microsoft.com/office/drawing/2014/main" id="{15F85AF2-3F35-D947-ED78-2A39D51D3490}"/>
              </a:ext>
            </a:extLst>
          </p:cNvPr>
          <p:cNvSpPr>
            <a:spLocks noGrp="1"/>
          </p:cNvSpPr>
          <p:nvPr>
            <p:ph sz="quarter" idx="14" hasCustomPrompt="1"/>
          </p:nvPr>
        </p:nvSpPr>
        <p:spPr>
          <a:xfrm>
            <a:off x="9247188" y="361950"/>
            <a:ext cx="2582862" cy="6159271"/>
          </a:xfrm>
        </p:spPr>
        <p:txBody>
          <a:bodyPr lIns="0" anchor="ctr" anchorCtr="0">
            <a:noAutofit/>
          </a:bodyPr>
          <a:lstStyle>
            <a:lvl1pPr>
              <a:buNone/>
              <a:defRPr sz="2800">
                <a:latin typeface="+mn-lt"/>
              </a:defRPr>
            </a:lvl1pPr>
            <a:lvl2pPr>
              <a:buNone/>
              <a:defRPr sz="2800">
                <a:latin typeface="+mn-lt"/>
              </a:defRPr>
            </a:lvl2pPr>
            <a:lvl3pPr>
              <a:buNone/>
              <a:defRPr sz="2800">
                <a:latin typeface="+mn-lt"/>
              </a:defRPr>
            </a:lvl3pPr>
            <a:lvl4pPr>
              <a:buNone/>
              <a:defRPr sz="2800">
                <a:latin typeface="+mn-lt"/>
              </a:defRPr>
            </a:lvl4pPr>
            <a:lvl5pPr>
              <a:buNone/>
              <a:defRPr sz="2800">
                <a:latin typeface="+mn-lt"/>
              </a:defRPr>
            </a:lvl5pPr>
          </a:lstStyle>
          <a:p>
            <a:pPr lvl="0"/>
            <a:r>
              <a:rPr lang="en-GB"/>
              <a:t>Call out text</a:t>
            </a:r>
            <a:endParaRPr lang="en-US"/>
          </a:p>
        </p:txBody>
      </p:sp>
      <p:sp>
        <p:nvSpPr>
          <p:cNvPr id="3" name="Rectangle 2">
            <a:extLst>
              <a:ext uri="{FF2B5EF4-FFF2-40B4-BE49-F238E27FC236}">
                <a16:creationId xmlns:a16="http://schemas.microsoft.com/office/drawing/2014/main" id="{B84908A8-CF70-8DDF-C45A-081CB0F59534}"/>
              </a:ext>
            </a:extLst>
          </p:cNvPr>
          <p:cNvSpPr/>
          <p:nvPr userDrawn="1"/>
        </p:nvSpPr>
        <p:spPr>
          <a:xfrm>
            <a:off x="8919942" y="0"/>
            <a:ext cx="52608" cy="6862761"/>
          </a:xfrm>
          <a:prstGeom prst="rect">
            <a:avLst/>
          </a:prstGeom>
          <a:gradFill>
            <a:gsLst>
              <a:gs pos="0">
                <a:schemeClr val="accent1"/>
              </a:gs>
              <a:gs pos="50000">
                <a:schemeClr val="accent2"/>
              </a:gs>
              <a:gs pos="100000">
                <a:schemeClr val="accent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Graphic 6">
            <a:extLst>
              <a:ext uri="{FF2B5EF4-FFF2-40B4-BE49-F238E27FC236}">
                <a16:creationId xmlns:a16="http://schemas.microsoft.com/office/drawing/2014/main" id="{D4F39C57-003E-F33A-16F4-B4B6D012067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3374594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Call out right — ligh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8972550" y="0"/>
            <a:ext cx="321944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1048123"/>
            <a:ext cx="8426947" cy="29238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8426947" cy="649858"/>
          </a:xfrm>
        </p:spPr>
        <p:txBody>
          <a:bodyPr wrap="square">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6" name="Content Placeholder 5">
            <a:extLst>
              <a:ext uri="{FF2B5EF4-FFF2-40B4-BE49-F238E27FC236}">
                <a16:creationId xmlns:a16="http://schemas.microsoft.com/office/drawing/2014/main" id="{15F85AF2-3F35-D947-ED78-2A39D51D3490}"/>
              </a:ext>
            </a:extLst>
          </p:cNvPr>
          <p:cNvSpPr>
            <a:spLocks noGrp="1"/>
          </p:cNvSpPr>
          <p:nvPr>
            <p:ph sz="quarter" idx="14" hasCustomPrompt="1"/>
          </p:nvPr>
        </p:nvSpPr>
        <p:spPr>
          <a:xfrm>
            <a:off x="9247188" y="361950"/>
            <a:ext cx="2582862" cy="6159271"/>
          </a:xfrm>
        </p:spPr>
        <p:txBody>
          <a:bodyPr lIns="0" anchor="ctr" anchorCtr="0">
            <a:noAutofit/>
          </a:bodyPr>
          <a:lstStyle>
            <a:lvl1pPr>
              <a:buNone/>
              <a:defRPr sz="2800">
                <a:latin typeface="+mn-lt"/>
              </a:defRPr>
            </a:lvl1pPr>
            <a:lvl2pPr>
              <a:buNone/>
              <a:defRPr sz="2800">
                <a:latin typeface="+mn-lt"/>
              </a:defRPr>
            </a:lvl2pPr>
            <a:lvl3pPr>
              <a:buNone/>
              <a:defRPr sz="2800">
                <a:latin typeface="+mn-lt"/>
              </a:defRPr>
            </a:lvl3pPr>
            <a:lvl4pPr>
              <a:buNone/>
              <a:defRPr sz="2800">
                <a:latin typeface="+mn-lt"/>
              </a:defRPr>
            </a:lvl4pPr>
            <a:lvl5pPr>
              <a:buNone/>
              <a:defRPr sz="2800">
                <a:latin typeface="+mn-lt"/>
              </a:defRPr>
            </a:lvl5pPr>
          </a:lstStyle>
          <a:p>
            <a:pPr lvl="0"/>
            <a:r>
              <a:rPr lang="en-GB"/>
              <a:t>Call out text</a:t>
            </a:r>
            <a:endParaRPr lang="en-US"/>
          </a:p>
        </p:txBody>
      </p:sp>
      <p:sp>
        <p:nvSpPr>
          <p:cNvPr id="3" name="Rectangle 2">
            <a:extLst>
              <a:ext uri="{FF2B5EF4-FFF2-40B4-BE49-F238E27FC236}">
                <a16:creationId xmlns:a16="http://schemas.microsoft.com/office/drawing/2014/main" id="{62A4537C-BF41-6BDC-70D7-952177DA0BC3}"/>
              </a:ext>
            </a:extLst>
          </p:cNvPr>
          <p:cNvSpPr/>
          <p:nvPr userDrawn="1"/>
        </p:nvSpPr>
        <p:spPr>
          <a:xfrm>
            <a:off x="8919942" y="0"/>
            <a:ext cx="52608" cy="6862761"/>
          </a:xfrm>
          <a:prstGeom prst="rect">
            <a:avLst/>
          </a:prstGeom>
          <a:gradFill>
            <a:gsLst>
              <a:gs pos="0">
                <a:schemeClr val="accent1"/>
              </a:gs>
              <a:gs pos="50000">
                <a:schemeClr val="accent2"/>
              </a:gs>
              <a:gs pos="100000">
                <a:schemeClr val="accent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Graphic 6">
            <a:extLst>
              <a:ext uri="{FF2B5EF4-FFF2-40B4-BE49-F238E27FC236}">
                <a16:creationId xmlns:a16="http://schemas.microsoft.com/office/drawing/2014/main" id="{74ACB95A-A584-6C58-418E-1E5C803371D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1098354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all out right — ligh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8972550" y="0"/>
            <a:ext cx="321944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1048123"/>
            <a:ext cx="8426947" cy="29238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8426947" cy="649858"/>
          </a:xfrm>
        </p:spPr>
        <p:txBody>
          <a:bodyPr wrap="square">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6" name="Content Placeholder 5">
            <a:extLst>
              <a:ext uri="{FF2B5EF4-FFF2-40B4-BE49-F238E27FC236}">
                <a16:creationId xmlns:a16="http://schemas.microsoft.com/office/drawing/2014/main" id="{15F85AF2-3F35-D947-ED78-2A39D51D3490}"/>
              </a:ext>
            </a:extLst>
          </p:cNvPr>
          <p:cNvSpPr>
            <a:spLocks noGrp="1"/>
          </p:cNvSpPr>
          <p:nvPr>
            <p:ph sz="quarter" idx="14" hasCustomPrompt="1"/>
          </p:nvPr>
        </p:nvSpPr>
        <p:spPr>
          <a:xfrm>
            <a:off x="9247188" y="361950"/>
            <a:ext cx="2582862" cy="6159271"/>
          </a:xfrm>
        </p:spPr>
        <p:txBody>
          <a:bodyPr lIns="0" anchor="ctr" anchorCtr="0">
            <a:noAutofit/>
          </a:bodyPr>
          <a:lstStyle>
            <a:lvl1pPr>
              <a:buNone/>
              <a:defRPr sz="2800">
                <a:latin typeface="+mn-lt"/>
              </a:defRPr>
            </a:lvl1pPr>
            <a:lvl2pPr>
              <a:buNone/>
              <a:defRPr sz="2800">
                <a:latin typeface="+mn-lt"/>
              </a:defRPr>
            </a:lvl2pPr>
            <a:lvl3pPr>
              <a:buNone/>
              <a:defRPr sz="2800">
                <a:latin typeface="+mn-lt"/>
              </a:defRPr>
            </a:lvl3pPr>
            <a:lvl4pPr>
              <a:buNone/>
              <a:defRPr sz="2800">
                <a:latin typeface="+mn-lt"/>
              </a:defRPr>
            </a:lvl4pPr>
            <a:lvl5pPr>
              <a:buNone/>
              <a:defRPr sz="2800">
                <a:latin typeface="+mn-lt"/>
              </a:defRPr>
            </a:lvl5pPr>
          </a:lstStyle>
          <a:p>
            <a:pPr lvl="0"/>
            <a:r>
              <a:rPr lang="en-GB"/>
              <a:t>Call out text</a:t>
            </a:r>
            <a:endParaRPr lang="en-US"/>
          </a:p>
        </p:txBody>
      </p:sp>
      <p:pic>
        <p:nvPicPr>
          <p:cNvPr id="3" name="Graphic 2">
            <a:extLst>
              <a:ext uri="{FF2B5EF4-FFF2-40B4-BE49-F238E27FC236}">
                <a16:creationId xmlns:a16="http://schemas.microsoft.com/office/drawing/2014/main" id="{DF471C2F-8599-4B54-9A67-FBC2095132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2092717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all out right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8972550" y="0"/>
            <a:ext cx="32194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1048123"/>
            <a:ext cx="8426947" cy="29238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8426947" cy="649858"/>
          </a:xfrm>
        </p:spPr>
        <p:txBody>
          <a:bodyPr wrap="square">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6" name="Content Placeholder 5">
            <a:extLst>
              <a:ext uri="{FF2B5EF4-FFF2-40B4-BE49-F238E27FC236}">
                <a16:creationId xmlns:a16="http://schemas.microsoft.com/office/drawing/2014/main" id="{15F85AF2-3F35-D947-ED78-2A39D51D3490}"/>
              </a:ext>
            </a:extLst>
          </p:cNvPr>
          <p:cNvSpPr>
            <a:spLocks noGrp="1"/>
          </p:cNvSpPr>
          <p:nvPr>
            <p:ph sz="quarter" idx="14" hasCustomPrompt="1"/>
          </p:nvPr>
        </p:nvSpPr>
        <p:spPr>
          <a:xfrm>
            <a:off x="9247188" y="361950"/>
            <a:ext cx="2582862" cy="6159271"/>
          </a:xfrm>
        </p:spPr>
        <p:txBody>
          <a:bodyPr lIns="0" anchor="ctr" anchorCtr="0">
            <a:noAutofit/>
          </a:bodyPr>
          <a:lstStyle>
            <a:lvl1pPr>
              <a:buNone/>
              <a:defRPr sz="2800">
                <a:solidFill>
                  <a:schemeClr val="bg1"/>
                </a:solidFill>
                <a:latin typeface="+mn-lt"/>
              </a:defRPr>
            </a:lvl1pPr>
            <a:lvl2pPr>
              <a:buNone/>
              <a:defRPr sz="2800">
                <a:latin typeface="+mn-lt"/>
              </a:defRPr>
            </a:lvl2pPr>
            <a:lvl3pPr>
              <a:buNone/>
              <a:defRPr sz="2800">
                <a:latin typeface="+mn-lt"/>
              </a:defRPr>
            </a:lvl3pPr>
            <a:lvl4pPr>
              <a:buNone/>
              <a:defRPr sz="2800">
                <a:latin typeface="+mn-lt"/>
              </a:defRPr>
            </a:lvl4pPr>
            <a:lvl5pPr>
              <a:buNone/>
              <a:defRPr sz="2800">
                <a:latin typeface="+mn-lt"/>
              </a:defRPr>
            </a:lvl5pPr>
          </a:lstStyle>
          <a:p>
            <a:pPr lvl="0"/>
            <a:r>
              <a:rPr lang="en-GB"/>
              <a:t>Call out text</a:t>
            </a:r>
            <a:endParaRPr lang="en-US"/>
          </a:p>
        </p:txBody>
      </p:sp>
      <p:pic>
        <p:nvPicPr>
          <p:cNvPr id="3" name="Graphic 2">
            <a:extLst>
              <a:ext uri="{FF2B5EF4-FFF2-40B4-BE49-F238E27FC236}">
                <a16:creationId xmlns:a16="http://schemas.microsoft.com/office/drawing/2014/main" id="{90C6C28D-6929-050E-EE4F-8451F8009AB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498909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hree quarter — red USE SPARING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1" y="0"/>
            <a:ext cx="895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22594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2620793" cy="1548459"/>
          </a:xfrm>
        </p:spPr>
        <p:txBody>
          <a:bodyPr>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59C183DB-4230-7FB6-4F74-5A89F49F77D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1645441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hree quarter — gre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1" y="0"/>
            <a:ext cx="89535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22594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2620793" cy="1548459"/>
          </a:xfrm>
        </p:spPr>
        <p:txBody>
          <a:bodyPr>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95356D5A-F82A-5AB0-3015-1EF2CCA904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655732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hree quarter — pi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1" y="0"/>
            <a:ext cx="89535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22594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2620793" cy="1548459"/>
          </a:xfrm>
        </p:spPr>
        <p:txBody>
          <a:bodyPr>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AE1BBF34-FD21-367F-DE7A-E4691DA4EDA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194345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hree quarter — ligh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1" y="0"/>
            <a:ext cx="89535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22594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tx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8" y="268589"/>
            <a:ext cx="2620793" cy="1548459"/>
          </a:xfrm>
        </p:spPr>
        <p:txBody>
          <a:bodyPr>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75632CF9-922B-7C65-D7F6-D1F2E0488FE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85376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accent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1"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7" y="268589"/>
            <a:ext cx="2618255" cy="1548459"/>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9" y="2259449"/>
            <a:ext cx="2618255" cy="1169551"/>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b="1" i="0" kern="1200" dirty="0">
                <a:ln w="3175">
                  <a:noFill/>
                </a:ln>
                <a:solidFill>
                  <a:schemeClr val="bg1"/>
                </a:solidFill>
                <a:latin typeface="+mn-lt"/>
                <a:ea typeface="Fira Sans Medium" panose="020B0503050000020004" pitchFamily="34" charset="0"/>
                <a:cs typeface="+mn-cs"/>
              </a:defRPr>
            </a:lvl1pPr>
          </a:lstStyle>
          <a:p>
            <a:r>
              <a:rPr lang="en-US"/>
              <a:t>Subtitle or callout if needed, all titles and subtitles are sentence case </a:t>
            </a:r>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DEF42E85-3693-3309-9030-BEF3AA00E3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1107184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reaker — red — PRIMARY USE">
    <p:bg>
      <p:bgPr>
        <a:solidFill>
          <a:schemeClr val="accent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69857" y="1113883"/>
            <a:ext cx="11260193"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4400" b="0" i="0" kern="1200" dirty="0" smtClean="0">
                <a:ln w="3175">
                  <a:noFill/>
                </a:ln>
                <a:solidFill>
                  <a:schemeClr val="bg1"/>
                </a:solidFill>
                <a:latin typeface="+mj-lt"/>
                <a:ea typeface="+mj-ea"/>
                <a:cs typeface="+mj-cs"/>
              </a:defRPr>
            </a:lvl1pPr>
            <a:lvl2pPr marL="114297"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87320" y="3429001"/>
            <a:ext cx="11224953" cy="307777"/>
          </a:xfrm>
          <a:prstGeom prst="rect">
            <a:avLst/>
          </a:prstGeom>
        </p:spPr>
        <p:txBody>
          <a:bodyPr vert="horz" wrap="square" lIns="0" tIns="0" rIns="0" bIns="0" rtlCol="0" anchor="t">
            <a:spAutoFit/>
          </a:bodyPr>
          <a:lstStyle>
            <a:lvl1pPr marL="0" indent="0">
              <a:buNone/>
              <a:defRPr lang="en-US" sz="2000" b="1" i="0" dirty="0">
                <a:ln>
                  <a:noFill/>
                </a:ln>
                <a:solidFill>
                  <a:schemeClr val="bg1"/>
                </a:solidFill>
                <a:latin typeface="+mn-lt"/>
                <a:ea typeface="Fira Sans Medium" panose="020B0503050000020004" pitchFamily="34" charset="0"/>
              </a:defRPr>
            </a:lvl1pPr>
          </a:lstStyle>
          <a:p>
            <a:pPr lvl="0"/>
            <a:r>
              <a:rPr lang="en-US"/>
              <a:t>All titles/subtitles are sentence case</a:t>
            </a:r>
          </a:p>
        </p:txBody>
      </p:sp>
      <p:pic>
        <p:nvPicPr>
          <p:cNvPr id="2" name="Graphic 1">
            <a:extLst>
              <a:ext uri="{FF2B5EF4-FFF2-40B4-BE49-F238E27FC236}">
                <a16:creationId xmlns:a16="http://schemas.microsoft.com/office/drawing/2014/main" id="{A9178861-7699-3083-8A30-0291679C19C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1951" y="6496051"/>
            <a:ext cx="903173" cy="279984"/>
          </a:xfrm>
          <a:prstGeom prst="rect">
            <a:avLst/>
          </a:prstGeom>
        </p:spPr>
      </p:pic>
    </p:spTree>
    <p:extLst>
      <p:ext uri="{BB962C8B-B14F-4D97-AF65-F5344CB8AC3E}">
        <p14:creationId xmlns:p14="http://schemas.microsoft.com/office/powerpoint/2010/main" val="2955116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Breaker — purple — SECONDARY USE/SUB SECTION">
    <p:bg>
      <p:bgPr>
        <a:solidFill>
          <a:schemeClr val="accent2"/>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69857" y="1113883"/>
            <a:ext cx="11260193"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b="0" i="0" kern="1200" dirty="0" smtClean="0">
                <a:ln w="3175">
                  <a:noFill/>
                </a:ln>
                <a:solidFill>
                  <a:schemeClr val="bg1"/>
                </a:solidFill>
                <a:latin typeface="+mj-lt"/>
                <a:ea typeface="+mj-ea"/>
                <a:cs typeface="+mj-cs"/>
              </a:defRPr>
            </a:lvl1pPr>
            <a:lvl2pPr marL="114297"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87320" y="3429001"/>
            <a:ext cx="11224953" cy="307777"/>
          </a:xfrm>
          <a:prstGeom prst="rect">
            <a:avLst/>
          </a:prstGeom>
        </p:spPr>
        <p:txBody>
          <a:bodyPr vert="horz" wrap="square" lIns="0" tIns="0" rIns="0" bIns="0" rtlCol="0" anchor="t">
            <a:spAutoFit/>
          </a:bodyPr>
          <a:lstStyle>
            <a:lvl1pPr marL="0" indent="0">
              <a:buNone/>
              <a:defRPr lang="en-US" sz="2000" b="1" i="0" dirty="0">
                <a:ln>
                  <a:noFill/>
                </a:ln>
                <a:solidFill>
                  <a:schemeClr val="bg1"/>
                </a:solidFill>
                <a:latin typeface="+mn-lt"/>
                <a:ea typeface="Fira Sans Medium" panose="020B0503050000020004" pitchFamily="34" charset="0"/>
              </a:defRPr>
            </a:lvl1pPr>
          </a:lstStyle>
          <a:p>
            <a:pPr lvl="0"/>
            <a:r>
              <a:rPr lang="en-US"/>
              <a:t>All titles/subtitles are sentence case</a:t>
            </a:r>
          </a:p>
        </p:txBody>
      </p:sp>
      <p:pic>
        <p:nvPicPr>
          <p:cNvPr id="2" name="Graphic 1">
            <a:extLst>
              <a:ext uri="{FF2B5EF4-FFF2-40B4-BE49-F238E27FC236}">
                <a16:creationId xmlns:a16="http://schemas.microsoft.com/office/drawing/2014/main" id="{7DAC11C4-71AA-BC90-F245-838E1513B1D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1951" y="6496051"/>
            <a:ext cx="903173" cy="279984"/>
          </a:xfrm>
          <a:prstGeom prst="rect">
            <a:avLst/>
          </a:prstGeom>
        </p:spPr>
      </p:pic>
    </p:spTree>
    <p:extLst>
      <p:ext uri="{BB962C8B-B14F-4D97-AF65-F5344CB8AC3E}">
        <p14:creationId xmlns:p14="http://schemas.microsoft.com/office/powerpoint/2010/main" val="2144792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reaker — blue — TERTIARY USE/SUB SECTION">
    <p:bg>
      <p:bgPr>
        <a:solidFill>
          <a:schemeClr val="accent3"/>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69857" y="1113883"/>
            <a:ext cx="11260193"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b="0" i="0" kern="1200" dirty="0" smtClean="0">
                <a:ln w="3175">
                  <a:noFill/>
                </a:ln>
                <a:solidFill>
                  <a:schemeClr val="bg1"/>
                </a:solidFill>
                <a:latin typeface="+mj-lt"/>
                <a:ea typeface="+mj-ea"/>
                <a:cs typeface="+mj-cs"/>
              </a:defRPr>
            </a:lvl1pPr>
            <a:lvl2pPr marL="114297"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87320" y="3429001"/>
            <a:ext cx="11224953" cy="307777"/>
          </a:xfrm>
          <a:prstGeom prst="rect">
            <a:avLst/>
          </a:prstGeom>
        </p:spPr>
        <p:txBody>
          <a:bodyPr vert="horz" wrap="square" lIns="0" tIns="0" rIns="0" bIns="0" rtlCol="0" anchor="t">
            <a:spAutoFit/>
          </a:bodyPr>
          <a:lstStyle>
            <a:lvl1pPr marL="0" indent="0">
              <a:buNone/>
              <a:defRPr lang="en-US" sz="2000" b="1" i="0" dirty="0">
                <a:ln>
                  <a:noFill/>
                </a:ln>
                <a:solidFill>
                  <a:schemeClr val="bg1"/>
                </a:solidFill>
                <a:latin typeface="+mn-lt"/>
                <a:ea typeface="Fira Sans Medium" panose="020B0503050000020004" pitchFamily="34" charset="0"/>
              </a:defRPr>
            </a:lvl1pPr>
          </a:lstStyle>
          <a:p>
            <a:pPr lvl="0"/>
            <a:r>
              <a:rPr lang="en-US"/>
              <a:t>All titles/subtitles are sentence case</a:t>
            </a:r>
          </a:p>
        </p:txBody>
      </p:sp>
      <p:pic>
        <p:nvPicPr>
          <p:cNvPr id="2" name="Graphic 1">
            <a:extLst>
              <a:ext uri="{FF2B5EF4-FFF2-40B4-BE49-F238E27FC236}">
                <a16:creationId xmlns:a16="http://schemas.microsoft.com/office/drawing/2014/main" id="{7DAC11C4-71AA-BC90-F245-838E1513B1D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1951" y="6496051"/>
            <a:ext cx="903173" cy="279984"/>
          </a:xfrm>
          <a:prstGeom prst="rect">
            <a:avLst/>
          </a:prstGeom>
        </p:spPr>
      </p:pic>
    </p:spTree>
    <p:extLst>
      <p:ext uri="{BB962C8B-B14F-4D97-AF65-F5344CB8AC3E}">
        <p14:creationId xmlns:p14="http://schemas.microsoft.com/office/powerpoint/2010/main" val="3864766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reaker — light blue — TERTIARY USE/INTERNAL INSTRUCTIONS">
    <p:bg>
      <p:bgPr>
        <a:solidFill>
          <a:schemeClr val="accent5"/>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69857" y="1113883"/>
            <a:ext cx="11260193"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b="0" i="0" kern="1200" dirty="0" smtClean="0">
                <a:ln w="3175">
                  <a:noFill/>
                </a:ln>
                <a:solidFill>
                  <a:schemeClr val="tx1"/>
                </a:solidFill>
                <a:latin typeface="+mj-lt"/>
                <a:ea typeface="+mj-ea"/>
                <a:cs typeface="+mj-cs"/>
              </a:defRPr>
            </a:lvl1pPr>
            <a:lvl2pPr marL="114297"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87320" y="3429001"/>
            <a:ext cx="11224953" cy="307777"/>
          </a:xfrm>
          <a:prstGeom prst="rect">
            <a:avLst/>
          </a:prstGeom>
        </p:spPr>
        <p:txBody>
          <a:bodyPr vert="horz" wrap="square" lIns="0" tIns="0" rIns="0" bIns="0" rtlCol="0" anchor="t">
            <a:spAutoFit/>
          </a:bodyPr>
          <a:lstStyle>
            <a:lvl1pPr marL="0" indent="0">
              <a:buNone/>
              <a:defRPr lang="en-US" sz="2000" b="1" i="0" dirty="0">
                <a:ln>
                  <a:noFill/>
                </a:ln>
                <a:solidFill>
                  <a:schemeClr val="tx1"/>
                </a:solidFill>
                <a:latin typeface="+mn-lt"/>
                <a:ea typeface="Fira Sans Medium" panose="020B0503050000020004" pitchFamily="34" charset="0"/>
              </a:defRPr>
            </a:lvl1pPr>
          </a:lstStyle>
          <a:p>
            <a:pPr lvl="0"/>
            <a:r>
              <a:rPr lang="en-US"/>
              <a:t>All titles/subtitles are sentence case</a:t>
            </a:r>
          </a:p>
        </p:txBody>
      </p:sp>
      <p:pic>
        <p:nvPicPr>
          <p:cNvPr id="2" name="Graphic 1">
            <a:extLst>
              <a:ext uri="{FF2B5EF4-FFF2-40B4-BE49-F238E27FC236}">
                <a16:creationId xmlns:a16="http://schemas.microsoft.com/office/drawing/2014/main" id="{7DAC11C4-71AA-BC90-F245-838E1513B1D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1951" y="6496051"/>
            <a:ext cx="903173" cy="279984"/>
          </a:xfrm>
          <a:prstGeom prst="rect">
            <a:avLst/>
          </a:prstGeom>
        </p:spPr>
      </p:pic>
    </p:spTree>
    <p:extLst>
      <p:ext uri="{BB962C8B-B14F-4D97-AF65-F5344CB8AC3E}">
        <p14:creationId xmlns:p14="http://schemas.microsoft.com/office/powerpoint/2010/main" val="617419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tx2"/>
        </a:solidFill>
        <a:effectLst/>
      </p:bgPr>
    </p:bg>
    <p:spTree>
      <p:nvGrpSpPr>
        <p:cNvPr id="1" name=""/>
        <p:cNvGrpSpPr/>
        <p:nvPr/>
      </p:nvGrpSpPr>
      <p:grpSpPr>
        <a:xfrm>
          <a:off x="0" y="0"/>
          <a:ext cx="0" cy="0"/>
          <a:chOff x="0" y="0"/>
          <a:chExt cx="0" cy="0"/>
        </a:xfrm>
      </p:grpSpPr>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2" y="5317264"/>
            <a:ext cx="5686425" cy="461665"/>
          </a:xfrm>
          <a:prstGeom prst="rect">
            <a:avLst/>
          </a:prstGeom>
        </p:spPr>
        <p:txBody>
          <a:bodyPr lIns="0" tIns="0" rIns="0" bIns="0">
            <a:spAutoFit/>
          </a:bodyPr>
          <a:lstStyle>
            <a:lvl1pPr marL="0" indent="0">
              <a:spcBef>
                <a:spcPts val="0"/>
              </a:spcBef>
              <a:buNone/>
              <a:defRPr>
                <a:solidFill>
                  <a:schemeClr val="bg1"/>
                </a:solidFill>
                <a:latin typeface="+mn-lt"/>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6" y="2380874"/>
            <a:ext cx="6561349" cy="585417"/>
          </a:xfrm>
          <a:prstGeom prst="rect">
            <a:avLst/>
          </a:prstGeom>
        </p:spPr>
        <p:txBody>
          <a:bodyPr wrap="square" lIns="0" tIns="0" rIns="0" bIns="0" anchor="b" anchorCtr="0">
            <a:spAutoFit/>
          </a:bodyPr>
          <a:lstStyle>
            <a:lvl1pPr algn="l" fontAlgn="b">
              <a:lnSpc>
                <a:spcPct val="112000"/>
              </a:lnSpc>
              <a:defRPr sz="4000" b="0" i="0">
                <a:solidFill>
                  <a:schemeClr val="bg1"/>
                </a:solidFill>
                <a:latin typeface="+mj-lt"/>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3153047"/>
            <a:ext cx="6561349" cy="369332"/>
          </a:xfrm>
          <a:prstGeom prst="rect">
            <a:avLst/>
          </a:prstGeom>
        </p:spPr>
        <p:txBody>
          <a:bodyPr wrap="square" lIns="0" tIns="0" rIns="0" bIns="0" anchor="t">
            <a:spAutoFit/>
          </a:bodyPr>
          <a:lstStyle>
            <a:lvl1pPr marL="0" indent="0" algn="l">
              <a:buNone/>
              <a:defRPr sz="2400" b="1" i="0">
                <a:ln>
                  <a:noFill/>
                </a:ln>
                <a:solidFill>
                  <a:schemeClr val="bg1"/>
                </a:solidFill>
                <a:latin typeface="+mn-lt"/>
                <a:ea typeface="Fira Sans Medium" panose="020B05030500000200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Date/subtitle goes here</a:t>
            </a:r>
          </a:p>
        </p:txBody>
      </p:sp>
      <p:sp>
        <p:nvSpPr>
          <p:cNvPr id="3" name="Graphic 3">
            <a:extLst>
              <a:ext uri="{FF2B5EF4-FFF2-40B4-BE49-F238E27FC236}">
                <a16:creationId xmlns:a16="http://schemas.microsoft.com/office/drawing/2014/main" id="{62587D87-D952-8389-B9C9-50FA3E829F97}"/>
              </a:ext>
            </a:extLst>
          </p:cNvPr>
          <p:cNvSpPr>
            <a:spLocks noChangeAspect="1"/>
          </p:cNvSpPr>
          <p:nvPr userDrawn="1"/>
        </p:nvSpPr>
        <p:spPr>
          <a:xfrm>
            <a:off x="7027440" y="0"/>
            <a:ext cx="5169149" cy="6864096"/>
          </a:xfrm>
          <a:custGeom>
            <a:avLst/>
            <a:gdLst>
              <a:gd name="csX0" fmla="*/ 1315014 w 3292406"/>
              <a:gd name="csY0" fmla="*/ 4353561 h 4371975"/>
              <a:gd name="csX1" fmla="*/ 1296598 w 3292406"/>
              <a:gd name="csY1" fmla="*/ 4333362 h 4371975"/>
              <a:gd name="csX2" fmla="*/ 1318663 w 3292406"/>
              <a:gd name="csY2" fmla="*/ 4313080 h 4371975"/>
              <a:gd name="csX3" fmla="*/ 1337079 w 3292406"/>
              <a:gd name="csY3" fmla="*/ 4333362 h 4371975"/>
              <a:gd name="csX4" fmla="*/ 1315014 w 3292406"/>
              <a:gd name="csY4" fmla="*/ 4353561 h 4371975"/>
              <a:gd name="csX5" fmla="*/ 1318663 w 3292406"/>
              <a:gd name="csY5" fmla="*/ 4316050 h 4371975"/>
              <a:gd name="csX6" fmla="*/ 1299484 w 3292406"/>
              <a:gd name="csY6" fmla="*/ 4333617 h 4371975"/>
              <a:gd name="csX7" fmla="*/ 1315014 w 3292406"/>
              <a:gd name="csY7" fmla="*/ 4350675 h 4371975"/>
              <a:gd name="csX8" fmla="*/ 1334193 w 3292406"/>
              <a:gd name="csY8" fmla="*/ 4333108 h 4371975"/>
              <a:gd name="csX9" fmla="*/ 1318663 w 3292406"/>
              <a:gd name="csY9" fmla="*/ 4316050 h 4371975"/>
              <a:gd name="csX10" fmla="*/ 1320191 w 3292406"/>
              <a:gd name="csY10" fmla="*/ 4335824 h 4371975"/>
              <a:gd name="csX11" fmla="*/ 1326640 w 3292406"/>
              <a:gd name="csY11" fmla="*/ 4327422 h 4371975"/>
              <a:gd name="csX12" fmla="*/ 1320276 w 3292406"/>
              <a:gd name="csY12" fmla="*/ 4321396 h 4371975"/>
              <a:gd name="csX13" fmla="*/ 1312468 w 3292406"/>
              <a:gd name="csY13" fmla="*/ 4321396 h 4371975"/>
              <a:gd name="csX14" fmla="*/ 1307970 w 3292406"/>
              <a:gd name="csY14" fmla="*/ 4345243 h 4371975"/>
              <a:gd name="csX15" fmla="*/ 1310940 w 3292406"/>
              <a:gd name="csY15" fmla="*/ 4345243 h 4371975"/>
              <a:gd name="csX16" fmla="*/ 1312638 w 3292406"/>
              <a:gd name="csY16" fmla="*/ 4336078 h 4371975"/>
              <a:gd name="csX17" fmla="*/ 1317136 w 3292406"/>
              <a:gd name="csY17" fmla="*/ 4336078 h 4371975"/>
              <a:gd name="csX18" fmla="*/ 1320276 w 3292406"/>
              <a:gd name="csY18" fmla="*/ 4345243 h 4371975"/>
              <a:gd name="csX19" fmla="*/ 1323415 w 3292406"/>
              <a:gd name="csY19" fmla="*/ 4345243 h 4371975"/>
              <a:gd name="csX20" fmla="*/ 1320191 w 3292406"/>
              <a:gd name="csY20" fmla="*/ 4335824 h 4371975"/>
              <a:gd name="csX21" fmla="*/ 1320191 w 3292406"/>
              <a:gd name="csY21" fmla="*/ 4335824 h 4371975"/>
              <a:gd name="csX22" fmla="*/ 1323670 w 3292406"/>
              <a:gd name="csY22" fmla="*/ 4328440 h 4371975"/>
              <a:gd name="csX23" fmla="*/ 1318069 w 3292406"/>
              <a:gd name="csY23" fmla="*/ 4333193 h 4371975"/>
              <a:gd name="csX24" fmla="*/ 1313147 w 3292406"/>
              <a:gd name="csY24" fmla="*/ 4333193 h 4371975"/>
              <a:gd name="csX25" fmla="*/ 1314844 w 3292406"/>
              <a:gd name="csY25" fmla="*/ 4324282 h 4371975"/>
              <a:gd name="csX26" fmla="*/ 1320275 w 3292406"/>
              <a:gd name="csY26" fmla="*/ 4324282 h 4371975"/>
              <a:gd name="csX27" fmla="*/ 1323670 w 3292406"/>
              <a:gd name="csY27" fmla="*/ 4328440 h 4371975"/>
              <a:gd name="csX28" fmla="*/ 3292407 w 3292406"/>
              <a:gd name="csY28" fmla="*/ 0 h 4371975"/>
              <a:gd name="csX29" fmla="*/ 2795850 w 3292406"/>
              <a:gd name="csY29" fmla="*/ 0 h 4371975"/>
              <a:gd name="csX30" fmla="*/ 1768531 w 3292406"/>
              <a:gd name="csY30" fmla="*/ 952465 h 4371975"/>
              <a:gd name="csX31" fmla="*/ 1949510 w 3292406"/>
              <a:gd name="csY31" fmla="*/ 0 h 4371975"/>
              <a:gd name="csX32" fmla="*/ 831512 w 3292406"/>
              <a:gd name="csY32" fmla="*/ 0 h 4371975"/>
              <a:gd name="csX33" fmla="*/ 0 w 3292406"/>
              <a:gd name="csY33" fmla="*/ 4371972 h 4371975"/>
              <a:gd name="csX34" fmla="*/ 0 w 3292406"/>
              <a:gd name="csY34" fmla="*/ 4371975 h 4371975"/>
              <a:gd name="csX35" fmla="*/ 1269690 w 3292406"/>
              <a:gd name="csY35" fmla="*/ 4371975 h 4371975"/>
              <a:gd name="csX36" fmla="*/ 1612505 w 3292406"/>
              <a:gd name="csY36" fmla="*/ 2569367 h 4371975"/>
              <a:gd name="csX37" fmla="*/ 3292407 w 3292406"/>
              <a:gd name="csY37" fmla="*/ 1212450 h 43719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292406" h="4371975">
                <a:moveTo>
                  <a:pt x="1315014" y="4353561"/>
                </a:moveTo>
                <a:cubicBezTo>
                  <a:pt x="1303048" y="4353561"/>
                  <a:pt x="1295495" y="4343631"/>
                  <a:pt x="1296598" y="4333362"/>
                </a:cubicBezTo>
                <a:cubicBezTo>
                  <a:pt x="1297617" y="4322160"/>
                  <a:pt x="1307461" y="4313080"/>
                  <a:pt x="1318663" y="4313080"/>
                </a:cubicBezTo>
                <a:cubicBezTo>
                  <a:pt x="1329865" y="4313080"/>
                  <a:pt x="1338097" y="4322160"/>
                  <a:pt x="1337079" y="4333362"/>
                </a:cubicBezTo>
                <a:cubicBezTo>
                  <a:pt x="1336060" y="4344564"/>
                  <a:pt x="1326216" y="4353645"/>
                  <a:pt x="1315014" y="4353561"/>
                </a:cubicBezTo>
                <a:close/>
                <a:moveTo>
                  <a:pt x="1318663" y="4316050"/>
                </a:moveTo>
                <a:cubicBezTo>
                  <a:pt x="1308904" y="4316050"/>
                  <a:pt x="1300332" y="4324027"/>
                  <a:pt x="1299484" y="4333617"/>
                </a:cubicBezTo>
                <a:cubicBezTo>
                  <a:pt x="1298635" y="4343037"/>
                  <a:pt x="1305509" y="4350675"/>
                  <a:pt x="1315014" y="4350675"/>
                </a:cubicBezTo>
                <a:cubicBezTo>
                  <a:pt x="1324688" y="4350675"/>
                  <a:pt x="1333345" y="4342782"/>
                  <a:pt x="1334193" y="4333108"/>
                </a:cubicBezTo>
                <a:cubicBezTo>
                  <a:pt x="1335042" y="4323688"/>
                  <a:pt x="1328083" y="4316050"/>
                  <a:pt x="1318663" y="4316050"/>
                </a:cubicBezTo>
                <a:close/>
                <a:moveTo>
                  <a:pt x="1320191" y="4335824"/>
                </a:moveTo>
                <a:cubicBezTo>
                  <a:pt x="1324519" y="4334635"/>
                  <a:pt x="1326725" y="4330562"/>
                  <a:pt x="1326640" y="4327422"/>
                </a:cubicBezTo>
                <a:cubicBezTo>
                  <a:pt x="1326556" y="4324027"/>
                  <a:pt x="1323840" y="4321396"/>
                  <a:pt x="1320276" y="4321396"/>
                </a:cubicBezTo>
                <a:lnTo>
                  <a:pt x="1312468" y="4321396"/>
                </a:lnTo>
                <a:lnTo>
                  <a:pt x="1307970" y="4345243"/>
                </a:lnTo>
                <a:lnTo>
                  <a:pt x="1310940" y="4345243"/>
                </a:lnTo>
                <a:lnTo>
                  <a:pt x="1312638" y="4336078"/>
                </a:lnTo>
                <a:lnTo>
                  <a:pt x="1317136" y="4336078"/>
                </a:lnTo>
                <a:lnTo>
                  <a:pt x="1320276" y="4345243"/>
                </a:lnTo>
                <a:lnTo>
                  <a:pt x="1323415" y="4345243"/>
                </a:lnTo>
                <a:lnTo>
                  <a:pt x="1320191" y="4335824"/>
                </a:lnTo>
                <a:lnTo>
                  <a:pt x="1320191" y="4335824"/>
                </a:lnTo>
                <a:close/>
                <a:moveTo>
                  <a:pt x="1323670" y="4328440"/>
                </a:moveTo>
                <a:cubicBezTo>
                  <a:pt x="1322991" y="4331156"/>
                  <a:pt x="1320700" y="4333193"/>
                  <a:pt x="1318069" y="4333193"/>
                </a:cubicBezTo>
                <a:lnTo>
                  <a:pt x="1313147" y="4333193"/>
                </a:lnTo>
                <a:lnTo>
                  <a:pt x="1314844" y="4324282"/>
                </a:lnTo>
                <a:lnTo>
                  <a:pt x="1320275" y="4324282"/>
                </a:lnTo>
                <a:cubicBezTo>
                  <a:pt x="1322482" y="4324282"/>
                  <a:pt x="1324179" y="4326319"/>
                  <a:pt x="1323670" y="4328440"/>
                </a:cubicBezTo>
                <a:close/>
                <a:moveTo>
                  <a:pt x="3292407" y="0"/>
                </a:moveTo>
                <a:lnTo>
                  <a:pt x="2795850" y="0"/>
                </a:lnTo>
                <a:cubicBezTo>
                  <a:pt x="2337535" y="161304"/>
                  <a:pt x="1963806" y="507908"/>
                  <a:pt x="1768531" y="952465"/>
                </a:cubicBezTo>
                <a:lnTo>
                  <a:pt x="1949510" y="0"/>
                </a:lnTo>
                <a:lnTo>
                  <a:pt x="831512" y="0"/>
                </a:lnTo>
                <a:lnTo>
                  <a:pt x="0" y="4371972"/>
                </a:lnTo>
                <a:lnTo>
                  <a:pt x="0" y="4371975"/>
                </a:lnTo>
                <a:lnTo>
                  <a:pt x="1269690" y="4371975"/>
                </a:lnTo>
                <a:lnTo>
                  <a:pt x="1612505" y="2569367"/>
                </a:lnTo>
                <a:cubicBezTo>
                  <a:pt x="1814660" y="1506382"/>
                  <a:pt x="2424514" y="1081039"/>
                  <a:pt x="3292407" y="1212450"/>
                </a:cubicBezTo>
                <a:close/>
              </a:path>
            </a:pathLst>
          </a:custGeom>
          <a:solidFill>
            <a:schemeClr val="bg1"/>
          </a:solidFill>
          <a:ln w="4048" cap="flat">
            <a:noFill/>
            <a:prstDash val="solid"/>
            <a:miter/>
          </a:ln>
        </p:spPr>
        <p:txBody>
          <a:bodyPr/>
          <a:lstStyle/>
          <a:p>
            <a:endParaRPr lang="en-US" sz="1200"/>
          </a:p>
        </p:txBody>
      </p:sp>
      <p:pic>
        <p:nvPicPr>
          <p:cNvPr id="4" name="Graphic 3">
            <a:extLst>
              <a:ext uri="{FF2B5EF4-FFF2-40B4-BE49-F238E27FC236}">
                <a16:creationId xmlns:a16="http://schemas.microsoft.com/office/drawing/2014/main" id="{FEAED190-F923-19A6-34EE-7F3CFFCC957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1951" y="6083537"/>
            <a:ext cx="1489240" cy="461665"/>
          </a:xfrm>
          <a:prstGeom prst="rect">
            <a:avLst/>
          </a:prstGeom>
        </p:spPr>
      </p:pic>
    </p:spTree>
    <p:extLst>
      <p:ext uri="{BB962C8B-B14F-4D97-AF65-F5344CB8AC3E}">
        <p14:creationId xmlns:p14="http://schemas.microsoft.com/office/powerpoint/2010/main" val="300501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14:presetBounceEnd="50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500" fill="hold"/>
                                            <p:tgtEl>
                                              <p:spTgt spid="3"/>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gradFill>
          <a:gsLst>
            <a:gs pos="100000">
              <a:schemeClr val="accent4"/>
            </a:gs>
            <a:gs pos="50000">
              <a:schemeClr val="accent2"/>
            </a:gs>
            <a:gs pos="0">
              <a:schemeClr val="tx2"/>
            </a:gs>
          </a:gsLst>
          <a:lin ang="5400000" scaled="0"/>
        </a:gradFill>
        <a:effectLst/>
      </p:bgPr>
    </p:bg>
    <p:spTree>
      <p:nvGrpSpPr>
        <p:cNvPr id="1" name=""/>
        <p:cNvGrpSpPr/>
        <p:nvPr/>
      </p:nvGrpSpPr>
      <p:grpSpPr>
        <a:xfrm>
          <a:off x="0" y="0"/>
          <a:ext cx="0" cy="0"/>
          <a:chOff x="0" y="0"/>
          <a:chExt cx="0" cy="0"/>
        </a:xfrm>
      </p:grpSpPr>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2" y="5317264"/>
            <a:ext cx="5686425" cy="461665"/>
          </a:xfrm>
          <a:prstGeom prst="rect">
            <a:avLst/>
          </a:prstGeom>
        </p:spPr>
        <p:txBody>
          <a:bodyPr lIns="0" tIns="0" rIns="0" bIns="0">
            <a:spAutoFit/>
          </a:bodyPr>
          <a:lstStyle>
            <a:lvl1pPr marL="0" indent="0">
              <a:spcBef>
                <a:spcPts val="0"/>
              </a:spcBef>
              <a:buNone/>
              <a:defRPr>
                <a:solidFill>
                  <a:schemeClr val="bg1"/>
                </a:solidFill>
                <a:latin typeface="+mn-lt"/>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6" y="2380874"/>
            <a:ext cx="6561349" cy="585417"/>
          </a:xfrm>
          <a:prstGeom prst="rect">
            <a:avLst/>
          </a:prstGeom>
        </p:spPr>
        <p:txBody>
          <a:bodyPr wrap="square" lIns="0" tIns="0" rIns="0" bIns="0" anchor="b" anchorCtr="0">
            <a:spAutoFit/>
          </a:bodyPr>
          <a:lstStyle>
            <a:lvl1pPr algn="l" fontAlgn="b">
              <a:lnSpc>
                <a:spcPct val="112000"/>
              </a:lnSpc>
              <a:defRPr sz="4000" b="0" i="0">
                <a:solidFill>
                  <a:schemeClr val="bg1"/>
                </a:solidFill>
                <a:latin typeface="+mj-lt"/>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3153047"/>
            <a:ext cx="6561349" cy="369332"/>
          </a:xfrm>
          <a:prstGeom prst="rect">
            <a:avLst/>
          </a:prstGeom>
        </p:spPr>
        <p:txBody>
          <a:bodyPr wrap="square" lIns="0" tIns="0" rIns="0" bIns="0" anchor="t">
            <a:spAutoFit/>
          </a:bodyPr>
          <a:lstStyle>
            <a:lvl1pPr marL="0" indent="0" algn="l">
              <a:buNone/>
              <a:defRPr sz="2400" b="1" i="0">
                <a:ln>
                  <a:noFill/>
                </a:ln>
                <a:solidFill>
                  <a:schemeClr val="bg1"/>
                </a:solidFill>
                <a:latin typeface="+mn-lt"/>
                <a:ea typeface="Fira Sans Medium" panose="020B05030500000200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Date/subtitle goes here</a:t>
            </a:r>
          </a:p>
        </p:txBody>
      </p:sp>
      <p:sp>
        <p:nvSpPr>
          <p:cNvPr id="3" name="Graphic 3">
            <a:extLst>
              <a:ext uri="{FF2B5EF4-FFF2-40B4-BE49-F238E27FC236}">
                <a16:creationId xmlns:a16="http://schemas.microsoft.com/office/drawing/2014/main" id="{62587D87-D952-8389-B9C9-50FA3E829F97}"/>
              </a:ext>
            </a:extLst>
          </p:cNvPr>
          <p:cNvSpPr>
            <a:spLocks noChangeAspect="1"/>
          </p:cNvSpPr>
          <p:nvPr userDrawn="1"/>
        </p:nvSpPr>
        <p:spPr>
          <a:xfrm>
            <a:off x="7027440" y="0"/>
            <a:ext cx="5169149" cy="6864096"/>
          </a:xfrm>
          <a:custGeom>
            <a:avLst/>
            <a:gdLst>
              <a:gd name="csX0" fmla="*/ 1315014 w 3292406"/>
              <a:gd name="csY0" fmla="*/ 4353561 h 4371975"/>
              <a:gd name="csX1" fmla="*/ 1296598 w 3292406"/>
              <a:gd name="csY1" fmla="*/ 4333362 h 4371975"/>
              <a:gd name="csX2" fmla="*/ 1318663 w 3292406"/>
              <a:gd name="csY2" fmla="*/ 4313080 h 4371975"/>
              <a:gd name="csX3" fmla="*/ 1337079 w 3292406"/>
              <a:gd name="csY3" fmla="*/ 4333362 h 4371975"/>
              <a:gd name="csX4" fmla="*/ 1315014 w 3292406"/>
              <a:gd name="csY4" fmla="*/ 4353561 h 4371975"/>
              <a:gd name="csX5" fmla="*/ 1318663 w 3292406"/>
              <a:gd name="csY5" fmla="*/ 4316050 h 4371975"/>
              <a:gd name="csX6" fmla="*/ 1299484 w 3292406"/>
              <a:gd name="csY6" fmla="*/ 4333617 h 4371975"/>
              <a:gd name="csX7" fmla="*/ 1315014 w 3292406"/>
              <a:gd name="csY7" fmla="*/ 4350675 h 4371975"/>
              <a:gd name="csX8" fmla="*/ 1334193 w 3292406"/>
              <a:gd name="csY8" fmla="*/ 4333108 h 4371975"/>
              <a:gd name="csX9" fmla="*/ 1318663 w 3292406"/>
              <a:gd name="csY9" fmla="*/ 4316050 h 4371975"/>
              <a:gd name="csX10" fmla="*/ 1320191 w 3292406"/>
              <a:gd name="csY10" fmla="*/ 4335824 h 4371975"/>
              <a:gd name="csX11" fmla="*/ 1326640 w 3292406"/>
              <a:gd name="csY11" fmla="*/ 4327422 h 4371975"/>
              <a:gd name="csX12" fmla="*/ 1320276 w 3292406"/>
              <a:gd name="csY12" fmla="*/ 4321396 h 4371975"/>
              <a:gd name="csX13" fmla="*/ 1312468 w 3292406"/>
              <a:gd name="csY13" fmla="*/ 4321396 h 4371975"/>
              <a:gd name="csX14" fmla="*/ 1307970 w 3292406"/>
              <a:gd name="csY14" fmla="*/ 4345243 h 4371975"/>
              <a:gd name="csX15" fmla="*/ 1310940 w 3292406"/>
              <a:gd name="csY15" fmla="*/ 4345243 h 4371975"/>
              <a:gd name="csX16" fmla="*/ 1312638 w 3292406"/>
              <a:gd name="csY16" fmla="*/ 4336078 h 4371975"/>
              <a:gd name="csX17" fmla="*/ 1317136 w 3292406"/>
              <a:gd name="csY17" fmla="*/ 4336078 h 4371975"/>
              <a:gd name="csX18" fmla="*/ 1320276 w 3292406"/>
              <a:gd name="csY18" fmla="*/ 4345243 h 4371975"/>
              <a:gd name="csX19" fmla="*/ 1323415 w 3292406"/>
              <a:gd name="csY19" fmla="*/ 4345243 h 4371975"/>
              <a:gd name="csX20" fmla="*/ 1320191 w 3292406"/>
              <a:gd name="csY20" fmla="*/ 4335824 h 4371975"/>
              <a:gd name="csX21" fmla="*/ 1320191 w 3292406"/>
              <a:gd name="csY21" fmla="*/ 4335824 h 4371975"/>
              <a:gd name="csX22" fmla="*/ 1323670 w 3292406"/>
              <a:gd name="csY22" fmla="*/ 4328440 h 4371975"/>
              <a:gd name="csX23" fmla="*/ 1318069 w 3292406"/>
              <a:gd name="csY23" fmla="*/ 4333193 h 4371975"/>
              <a:gd name="csX24" fmla="*/ 1313147 w 3292406"/>
              <a:gd name="csY24" fmla="*/ 4333193 h 4371975"/>
              <a:gd name="csX25" fmla="*/ 1314844 w 3292406"/>
              <a:gd name="csY25" fmla="*/ 4324282 h 4371975"/>
              <a:gd name="csX26" fmla="*/ 1320275 w 3292406"/>
              <a:gd name="csY26" fmla="*/ 4324282 h 4371975"/>
              <a:gd name="csX27" fmla="*/ 1323670 w 3292406"/>
              <a:gd name="csY27" fmla="*/ 4328440 h 4371975"/>
              <a:gd name="csX28" fmla="*/ 3292407 w 3292406"/>
              <a:gd name="csY28" fmla="*/ 0 h 4371975"/>
              <a:gd name="csX29" fmla="*/ 2795850 w 3292406"/>
              <a:gd name="csY29" fmla="*/ 0 h 4371975"/>
              <a:gd name="csX30" fmla="*/ 1768531 w 3292406"/>
              <a:gd name="csY30" fmla="*/ 952465 h 4371975"/>
              <a:gd name="csX31" fmla="*/ 1949510 w 3292406"/>
              <a:gd name="csY31" fmla="*/ 0 h 4371975"/>
              <a:gd name="csX32" fmla="*/ 831512 w 3292406"/>
              <a:gd name="csY32" fmla="*/ 0 h 4371975"/>
              <a:gd name="csX33" fmla="*/ 0 w 3292406"/>
              <a:gd name="csY33" fmla="*/ 4371972 h 4371975"/>
              <a:gd name="csX34" fmla="*/ 0 w 3292406"/>
              <a:gd name="csY34" fmla="*/ 4371975 h 4371975"/>
              <a:gd name="csX35" fmla="*/ 1269690 w 3292406"/>
              <a:gd name="csY35" fmla="*/ 4371975 h 4371975"/>
              <a:gd name="csX36" fmla="*/ 1612505 w 3292406"/>
              <a:gd name="csY36" fmla="*/ 2569367 h 4371975"/>
              <a:gd name="csX37" fmla="*/ 3292407 w 3292406"/>
              <a:gd name="csY37" fmla="*/ 1212450 h 43719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292406" h="4371975">
                <a:moveTo>
                  <a:pt x="1315014" y="4353561"/>
                </a:moveTo>
                <a:cubicBezTo>
                  <a:pt x="1303048" y="4353561"/>
                  <a:pt x="1295495" y="4343631"/>
                  <a:pt x="1296598" y="4333362"/>
                </a:cubicBezTo>
                <a:cubicBezTo>
                  <a:pt x="1297617" y="4322160"/>
                  <a:pt x="1307461" y="4313080"/>
                  <a:pt x="1318663" y="4313080"/>
                </a:cubicBezTo>
                <a:cubicBezTo>
                  <a:pt x="1329865" y="4313080"/>
                  <a:pt x="1338097" y="4322160"/>
                  <a:pt x="1337079" y="4333362"/>
                </a:cubicBezTo>
                <a:cubicBezTo>
                  <a:pt x="1336060" y="4344564"/>
                  <a:pt x="1326216" y="4353645"/>
                  <a:pt x="1315014" y="4353561"/>
                </a:cubicBezTo>
                <a:close/>
                <a:moveTo>
                  <a:pt x="1318663" y="4316050"/>
                </a:moveTo>
                <a:cubicBezTo>
                  <a:pt x="1308904" y="4316050"/>
                  <a:pt x="1300332" y="4324027"/>
                  <a:pt x="1299484" y="4333617"/>
                </a:cubicBezTo>
                <a:cubicBezTo>
                  <a:pt x="1298635" y="4343037"/>
                  <a:pt x="1305509" y="4350675"/>
                  <a:pt x="1315014" y="4350675"/>
                </a:cubicBezTo>
                <a:cubicBezTo>
                  <a:pt x="1324688" y="4350675"/>
                  <a:pt x="1333345" y="4342782"/>
                  <a:pt x="1334193" y="4333108"/>
                </a:cubicBezTo>
                <a:cubicBezTo>
                  <a:pt x="1335042" y="4323688"/>
                  <a:pt x="1328083" y="4316050"/>
                  <a:pt x="1318663" y="4316050"/>
                </a:cubicBezTo>
                <a:close/>
                <a:moveTo>
                  <a:pt x="1320191" y="4335824"/>
                </a:moveTo>
                <a:cubicBezTo>
                  <a:pt x="1324519" y="4334635"/>
                  <a:pt x="1326725" y="4330562"/>
                  <a:pt x="1326640" y="4327422"/>
                </a:cubicBezTo>
                <a:cubicBezTo>
                  <a:pt x="1326556" y="4324027"/>
                  <a:pt x="1323840" y="4321396"/>
                  <a:pt x="1320276" y="4321396"/>
                </a:cubicBezTo>
                <a:lnTo>
                  <a:pt x="1312468" y="4321396"/>
                </a:lnTo>
                <a:lnTo>
                  <a:pt x="1307970" y="4345243"/>
                </a:lnTo>
                <a:lnTo>
                  <a:pt x="1310940" y="4345243"/>
                </a:lnTo>
                <a:lnTo>
                  <a:pt x="1312638" y="4336078"/>
                </a:lnTo>
                <a:lnTo>
                  <a:pt x="1317136" y="4336078"/>
                </a:lnTo>
                <a:lnTo>
                  <a:pt x="1320276" y="4345243"/>
                </a:lnTo>
                <a:lnTo>
                  <a:pt x="1323415" y="4345243"/>
                </a:lnTo>
                <a:lnTo>
                  <a:pt x="1320191" y="4335824"/>
                </a:lnTo>
                <a:lnTo>
                  <a:pt x="1320191" y="4335824"/>
                </a:lnTo>
                <a:close/>
                <a:moveTo>
                  <a:pt x="1323670" y="4328440"/>
                </a:moveTo>
                <a:cubicBezTo>
                  <a:pt x="1322991" y="4331156"/>
                  <a:pt x="1320700" y="4333193"/>
                  <a:pt x="1318069" y="4333193"/>
                </a:cubicBezTo>
                <a:lnTo>
                  <a:pt x="1313147" y="4333193"/>
                </a:lnTo>
                <a:lnTo>
                  <a:pt x="1314844" y="4324282"/>
                </a:lnTo>
                <a:lnTo>
                  <a:pt x="1320275" y="4324282"/>
                </a:lnTo>
                <a:cubicBezTo>
                  <a:pt x="1322482" y="4324282"/>
                  <a:pt x="1324179" y="4326319"/>
                  <a:pt x="1323670" y="4328440"/>
                </a:cubicBezTo>
                <a:close/>
                <a:moveTo>
                  <a:pt x="3292407" y="0"/>
                </a:moveTo>
                <a:lnTo>
                  <a:pt x="2795850" y="0"/>
                </a:lnTo>
                <a:cubicBezTo>
                  <a:pt x="2337535" y="161304"/>
                  <a:pt x="1963806" y="507908"/>
                  <a:pt x="1768531" y="952465"/>
                </a:cubicBezTo>
                <a:lnTo>
                  <a:pt x="1949510" y="0"/>
                </a:lnTo>
                <a:lnTo>
                  <a:pt x="831512" y="0"/>
                </a:lnTo>
                <a:lnTo>
                  <a:pt x="0" y="4371972"/>
                </a:lnTo>
                <a:lnTo>
                  <a:pt x="0" y="4371975"/>
                </a:lnTo>
                <a:lnTo>
                  <a:pt x="1269690" y="4371975"/>
                </a:lnTo>
                <a:lnTo>
                  <a:pt x="1612505" y="2569367"/>
                </a:lnTo>
                <a:cubicBezTo>
                  <a:pt x="1814660" y="1506382"/>
                  <a:pt x="2424514" y="1081039"/>
                  <a:pt x="3292407" y="1212450"/>
                </a:cubicBezTo>
                <a:close/>
              </a:path>
            </a:pathLst>
          </a:custGeom>
          <a:solidFill>
            <a:schemeClr val="bg1"/>
          </a:solidFill>
          <a:ln w="4048" cap="flat">
            <a:noFill/>
            <a:prstDash val="solid"/>
            <a:miter/>
          </a:ln>
        </p:spPr>
        <p:txBody>
          <a:bodyPr/>
          <a:lstStyle/>
          <a:p>
            <a:endParaRPr lang="en-US" sz="1200"/>
          </a:p>
        </p:txBody>
      </p:sp>
      <p:pic>
        <p:nvPicPr>
          <p:cNvPr id="4" name="Graphic 3">
            <a:extLst>
              <a:ext uri="{FF2B5EF4-FFF2-40B4-BE49-F238E27FC236}">
                <a16:creationId xmlns:a16="http://schemas.microsoft.com/office/drawing/2014/main" id="{9F40221F-AB25-DF99-6B82-4D0302EA1A6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1951" y="6083537"/>
            <a:ext cx="1489240" cy="461665"/>
          </a:xfrm>
          <a:prstGeom prst="rect">
            <a:avLst/>
          </a:prstGeom>
        </p:spPr>
      </p:pic>
    </p:spTree>
    <p:extLst>
      <p:ext uri="{BB962C8B-B14F-4D97-AF65-F5344CB8AC3E}">
        <p14:creationId xmlns:p14="http://schemas.microsoft.com/office/powerpoint/2010/main" val="2551663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14:presetBounceEnd="50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500" fill="hold"/>
                                            <p:tgtEl>
                                              <p:spTgt spid="3"/>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bg1"/>
        </a:solidFill>
        <a:effectLst/>
      </p:bgPr>
    </p:bg>
    <p:spTree>
      <p:nvGrpSpPr>
        <p:cNvPr id="1" name=""/>
        <p:cNvGrpSpPr/>
        <p:nvPr/>
      </p:nvGrpSpPr>
      <p:grpSpPr>
        <a:xfrm>
          <a:off x="0" y="0"/>
          <a:ext cx="0" cy="0"/>
          <a:chOff x="0" y="0"/>
          <a:chExt cx="0" cy="0"/>
        </a:xfrm>
      </p:grpSpPr>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2" y="5317264"/>
            <a:ext cx="5686425" cy="461665"/>
          </a:xfrm>
          <a:prstGeom prst="rect">
            <a:avLst/>
          </a:prstGeom>
        </p:spPr>
        <p:txBody>
          <a:bodyPr lIns="0" tIns="0" rIns="0" bIns="0">
            <a:spAutoFit/>
          </a:bodyPr>
          <a:lstStyle>
            <a:lvl1pPr marL="0" indent="0">
              <a:spcBef>
                <a:spcPts val="0"/>
              </a:spcBef>
              <a:buNone/>
              <a:defRPr>
                <a:solidFill>
                  <a:schemeClr val="tx1"/>
                </a:solidFill>
                <a:latin typeface="+mn-lt"/>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6" y="2380874"/>
            <a:ext cx="6561349" cy="585417"/>
          </a:xfrm>
          <a:prstGeom prst="rect">
            <a:avLst/>
          </a:prstGeom>
        </p:spPr>
        <p:txBody>
          <a:bodyPr wrap="square" lIns="0" tIns="0" rIns="0" bIns="0" anchor="b" anchorCtr="0">
            <a:spAutoFit/>
          </a:bodyPr>
          <a:lstStyle>
            <a:lvl1pPr algn="l" fontAlgn="b">
              <a:lnSpc>
                <a:spcPct val="112000"/>
              </a:lnSpc>
              <a:defRPr sz="4000" b="0" i="0">
                <a:solidFill>
                  <a:schemeClr val="tx1"/>
                </a:solidFill>
                <a:latin typeface="+mj-lt"/>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3153047"/>
            <a:ext cx="6561349" cy="369332"/>
          </a:xfrm>
          <a:prstGeom prst="rect">
            <a:avLst/>
          </a:prstGeom>
        </p:spPr>
        <p:txBody>
          <a:bodyPr wrap="square" lIns="0" tIns="0" rIns="0" bIns="0" anchor="t">
            <a:spAutoFit/>
          </a:bodyPr>
          <a:lstStyle>
            <a:lvl1pPr marL="0" indent="0" algn="l">
              <a:buNone/>
              <a:defRPr sz="2400" b="1" i="0">
                <a:ln>
                  <a:noFill/>
                </a:ln>
                <a:solidFill>
                  <a:schemeClr val="tx1"/>
                </a:solidFill>
                <a:latin typeface="+mn-lt"/>
                <a:ea typeface="Fira Sans Medium" panose="020B05030500000200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Date/subtitle goes here</a:t>
            </a:r>
          </a:p>
        </p:txBody>
      </p:sp>
      <p:sp>
        <p:nvSpPr>
          <p:cNvPr id="3" name="Graphic 3">
            <a:extLst>
              <a:ext uri="{FF2B5EF4-FFF2-40B4-BE49-F238E27FC236}">
                <a16:creationId xmlns:a16="http://schemas.microsoft.com/office/drawing/2014/main" id="{62587D87-D952-8389-B9C9-50FA3E829F97}"/>
              </a:ext>
            </a:extLst>
          </p:cNvPr>
          <p:cNvSpPr>
            <a:spLocks noChangeAspect="1"/>
          </p:cNvSpPr>
          <p:nvPr userDrawn="1"/>
        </p:nvSpPr>
        <p:spPr>
          <a:xfrm>
            <a:off x="7027440" y="0"/>
            <a:ext cx="5169149" cy="6864096"/>
          </a:xfrm>
          <a:custGeom>
            <a:avLst/>
            <a:gdLst>
              <a:gd name="csX0" fmla="*/ 1315014 w 3292406"/>
              <a:gd name="csY0" fmla="*/ 4353561 h 4371975"/>
              <a:gd name="csX1" fmla="*/ 1296598 w 3292406"/>
              <a:gd name="csY1" fmla="*/ 4333362 h 4371975"/>
              <a:gd name="csX2" fmla="*/ 1318663 w 3292406"/>
              <a:gd name="csY2" fmla="*/ 4313080 h 4371975"/>
              <a:gd name="csX3" fmla="*/ 1337079 w 3292406"/>
              <a:gd name="csY3" fmla="*/ 4333362 h 4371975"/>
              <a:gd name="csX4" fmla="*/ 1315014 w 3292406"/>
              <a:gd name="csY4" fmla="*/ 4353561 h 4371975"/>
              <a:gd name="csX5" fmla="*/ 1318663 w 3292406"/>
              <a:gd name="csY5" fmla="*/ 4316050 h 4371975"/>
              <a:gd name="csX6" fmla="*/ 1299484 w 3292406"/>
              <a:gd name="csY6" fmla="*/ 4333617 h 4371975"/>
              <a:gd name="csX7" fmla="*/ 1315014 w 3292406"/>
              <a:gd name="csY7" fmla="*/ 4350675 h 4371975"/>
              <a:gd name="csX8" fmla="*/ 1334193 w 3292406"/>
              <a:gd name="csY8" fmla="*/ 4333108 h 4371975"/>
              <a:gd name="csX9" fmla="*/ 1318663 w 3292406"/>
              <a:gd name="csY9" fmla="*/ 4316050 h 4371975"/>
              <a:gd name="csX10" fmla="*/ 1320191 w 3292406"/>
              <a:gd name="csY10" fmla="*/ 4335824 h 4371975"/>
              <a:gd name="csX11" fmla="*/ 1326640 w 3292406"/>
              <a:gd name="csY11" fmla="*/ 4327422 h 4371975"/>
              <a:gd name="csX12" fmla="*/ 1320276 w 3292406"/>
              <a:gd name="csY12" fmla="*/ 4321396 h 4371975"/>
              <a:gd name="csX13" fmla="*/ 1312468 w 3292406"/>
              <a:gd name="csY13" fmla="*/ 4321396 h 4371975"/>
              <a:gd name="csX14" fmla="*/ 1307970 w 3292406"/>
              <a:gd name="csY14" fmla="*/ 4345243 h 4371975"/>
              <a:gd name="csX15" fmla="*/ 1310940 w 3292406"/>
              <a:gd name="csY15" fmla="*/ 4345243 h 4371975"/>
              <a:gd name="csX16" fmla="*/ 1312638 w 3292406"/>
              <a:gd name="csY16" fmla="*/ 4336078 h 4371975"/>
              <a:gd name="csX17" fmla="*/ 1317136 w 3292406"/>
              <a:gd name="csY17" fmla="*/ 4336078 h 4371975"/>
              <a:gd name="csX18" fmla="*/ 1320276 w 3292406"/>
              <a:gd name="csY18" fmla="*/ 4345243 h 4371975"/>
              <a:gd name="csX19" fmla="*/ 1323415 w 3292406"/>
              <a:gd name="csY19" fmla="*/ 4345243 h 4371975"/>
              <a:gd name="csX20" fmla="*/ 1320191 w 3292406"/>
              <a:gd name="csY20" fmla="*/ 4335824 h 4371975"/>
              <a:gd name="csX21" fmla="*/ 1320191 w 3292406"/>
              <a:gd name="csY21" fmla="*/ 4335824 h 4371975"/>
              <a:gd name="csX22" fmla="*/ 1323670 w 3292406"/>
              <a:gd name="csY22" fmla="*/ 4328440 h 4371975"/>
              <a:gd name="csX23" fmla="*/ 1318069 w 3292406"/>
              <a:gd name="csY23" fmla="*/ 4333193 h 4371975"/>
              <a:gd name="csX24" fmla="*/ 1313147 w 3292406"/>
              <a:gd name="csY24" fmla="*/ 4333193 h 4371975"/>
              <a:gd name="csX25" fmla="*/ 1314844 w 3292406"/>
              <a:gd name="csY25" fmla="*/ 4324282 h 4371975"/>
              <a:gd name="csX26" fmla="*/ 1320275 w 3292406"/>
              <a:gd name="csY26" fmla="*/ 4324282 h 4371975"/>
              <a:gd name="csX27" fmla="*/ 1323670 w 3292406"/>
              <a:gd name="csY27" fmla="*/ 4328440 h 4371975"/>
              <a:gd name="csX28" fmla="*/ 3292407 w 3292406"/>
              <a:gd name="csY28" fmla="*/ 0 h 4371975"/>
              <a:gd name="csX29" fmla="*/ 2795850 w 3292406"/>
              <a:gd name="csY29" fmla="*/ 0 h 4371975"/>
              <a:gd name="csX30" fmla="*/ 1768531 w 3292406"/>
              <a:gd name="csY30" fmla="*/ 952465 h 4371975"/>
              <a:gd name="csX31" fmla="*/ 1949510 w 3292406"/>
              <a:gd name="csY31" fmla="*/ 0 h 4371975"/>
              <a:gd name="csX32" fmla="*/ 831512 w 3292406"/>
              <a:gd name="csY32" fmla="*/ 0 h 4371975"/>
              <a:gd name="csX33" fmla="*/ 0 w 3292406"/>
              <a:gd name="csY33" fmla="*/ 4371972 h 4371975"/>
              <a:gd name="csX34" fmla="*/ 0 w 3292406"/>
              <a:gd name="csY34" fmla="*/ 4371975 h 4371975"/>
              <a:gd name="csX35" fmla="*/ 1269690 w 3292406"/>
              <a:gd name="csY35" fmla="*/ 4371975 h 4371975"/>
              <a:gd name="csX36" fmla="*/ 1612505 w 3292406"/>
              <a:gd name="csY36" fmla="*/ 2569367 h 4371975"/>
              <a:gd name="csX37" fmla="*/ 3292407 w 3292406"/>
              <a:gd name="csY37" fmla="*/ 1212450 h 43719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292406" h="4371975">
                <a:moveTo>
                  <a:pt x="1315014" y="4353561"/>
                </a:moveTo>
                <a:cubicBezTo>
                  <a:pt x="1303048" y="4353561"/>
                  <a:pt x="1295495" y="4343631"/>
                  <a:pt x="1296598" y="4333362"/>
                </a:cubicBezTo>
                <a:cubicBezTo>
                  <a:pt x="1297617" y="4322160"/>
                  <a:pt x="1307461" y="4313080"/>
                  <a:pt x="1318663" y="4313080"/>
                </a:cubicBezTo>
                <a:cubicBezTo>
                  <a:pt x="1329865" y="4313080"/>
                  <a:pt x="1338097" y="4322160"/>
                  <a:pt x="1337079" y="4333362"/>
                </a:cubicBezTo>
                <a:cubicBezTo>
                  <a:pt x="1336060" y="4344564"/>
                  <a:pt x="1326216" y="4353645"/>
                  <a:pt x="1315014" y="4353561"/>
                </a:cubicBezTo>
                <a:close/>
                <a:moveTo>
                  <a:pt x="1318663" y="4316050"/>
                </a:moveTo>
                <a:cubicBezTo>
                  <a:pt x="1308904" y="4316050"/>
                  <a:pt x="1300332" y="4324027"/>
                  <a:pt x="1299484" y="4333617"/>
                </a:cubicBezTo>
                <a:cubicBezTo>
                  <a:pt x="1298635" y="4343037"/>
                  <a:pt x="1305509" y="4350675"/>
                  <a:pt x="1315014" y="4350675"/>
                </a:cubicBezTo>
                <a:cubicBezTo>
                  <a:pt x="1324688" y="4350675"/>
                  <a:pt x="1333345" y="4342782"/>
                  <a:pt x="1334193" y="4333108"/>
                </a:cubicBezTo>
                <a:cubicBezTo>
                  <a:pt x="1335042" y="4323688"/>
                  <a:pt x="1328083" y="4316050"/>
                  <a:pt x="1318663" y="4316050"/>
                </a:cubicBezTo>
                <a:close/>
                <a:moveTo>
                  <a:pt x="1320191" y="4335824"/>
                </a:moveTo>
                <a:cubicBezTo>
                  <a:pt x="1324519" y="4334635"/>
                  <a:pt x="1326725" y="4330562"/>
                  <a:pt x="1326640" y="4327422"/>
                </a:cubicBezTo>
                <a:cubicBezTo>
                  <a:pt x="1326556" y="4324027"/>
                  <a:pt x="1323840" y="4321396"/>
                  <a:pt x="1320276" y="4321396"/>
                </a:cubicBezTo>
                <a:lnTo>
                  <a:pt x="1312468" y="4321396"/>
                </a:lnTo>
                <a:lnTo>
                  <a:pt x="1307970" y="4345243"/>
                </a:lnTo>
                <a:lnTo>
                  <a:pt x="1310940" y="4345243"/>
                </a:lnTo>
                <a:lnTo>
                  <a:pt x="1312638" y="4336078"/>
                </a:lnTo>
                <a:lnTo>
                  <a:pt x="1317136" y="4336078"/>
                </a:lnTo>
                <a:lnTo>
                  <a:pt x="1320276" y="4345243"/>
                </a:lnTo>
                <a:lnTo>
                  <a:pt x="1323415" y="4345243"/>
                </a:lnTo>
                <a:lnTo>
                  <a:pt x="1320191" y="4335824"/>
                </a:lnTo>
                <a:lnTo>
                  <a:pt x="1320191" y="4335824"/>
                </a:lnTo>
                <a:close/>
                <a:moveTo>
                  <a:pt x="1323670" y="4328440"/>
                </a:moveTo>
                <a:cubicBezTo>
                  <a:pt x="1322991" y="4331156"/>
                  <a:pt x="1320700" y="4333193"/>
                  <a:pt x="1318069" y="4333193"/>
                </a:cubicBezTo>
                <a:lnTo>
                  <a:pt x="1313147" y="4333193"/>
                </a:lnTo>
                <a:lnTo>
                  <a:pt x="1314844" y="4324282"/>
                </a:lnTo>
                <a:lnTo>
                  <a:pt x="1320275" y="4324282"/>
                </a:lnTo>
                <a:cubicBezTo>
                  <a:pt x="1322482" y="4324282"/>
                  <a:pt x="1324179" y="4326319"/>
                  <a:pt x="1323670" y="4328440"/>
                </a:cubicBezTo>
                <a:close/>
                <a:moveTo>
                  <a:pt x="3292407" y="0"/>
                </a:moveTo>
                <a:lnTo>
                  <a:pt x="2795850" y="0"/>
                </a:lnTo>
                <a:cubicBezTo>
                  <a:pt x="2337535" y="161304"/>
                  <a:pt x="1963806" y="507908"/>
                  <a:pt x="1768531" y="952465"/>
                </a:cubicBezTo>
                <a:lnTo>
                  <a:pt x="1949510" y="0"/>
                </a:lnTo>
                <a:lnTo>
                  <a:pt x="831512" y="0"/>
                </a:lnTo>
                <a:lnTo>
                  <a:pt x="0" y="4371972"/>
                </a:lnTo>
                <a:lnTo>
                  <a:pt x="0" y="4371975"/>
                </a:lnTo>
                <a:lnTo>
                  <a:pt x="1269690" y="4371975"/>
                </a:lnTo>
                <a:lnTo>
                  <a:pt x="1612505" y="2569367"/>
                </a:lnTo>
                <a:cubicBezTo>
                  <a:pt x="1814660" y="1506382"/>
                  <a:pt x="2424514" y="1081039"/>
                  <a:pt x="3292407" y="1212450"/>
                </a:cubicBezTo>
                <a:close/>
              </a:path>
            </a:pathLst>
          </a:custGeom>
          <a:solidFill>
            <a:schemeClr val="tx2"/>
          </a:solidFill>
          <a:ln w="4048" cap="flat">
            <a:noFill/>
            <a:prstDash val="solid"/>
            <a:miter/>
          </a:ln>
        </p:spPr>
        <p:txBody>
          <a:bodyPr/>
          <a:lstStyle/>
          <a:p>
            <a:endParaRPr lang="en-US" sz="1200"/>
          </a:p>
        </p:txBody>
      </p:sp>
      <p:pic>
        <p:nvPicPr>
          <p:cNvPr id="4" name="Graphic 3">
            <a:extLst>
              <a:ext uri="{FF2B5EF4-FFF2-40B4-BE49-F238E27FC236}">
                <a16:creationId xmlns:a16="http://schemas.microsoft.com/office/drawing/2014/main" id="{2B0D20D5-6670-F301-FC05-B2989B258CB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1951" y="6083537"/>
            <a:ext cx="1489240" cy="461665"/>
          </a:xfrm>
          <a:prstGeom prst="rect">
            <a:avLst/>
          </a:prstGeom>
        </p:spPr>
      </p:pic>
    </p:spTree>
    <p:extLst>
      <p:ext uri="{BB962C8B-B14F-4D97-AF65-F5344CB8AC3E}">
        <p14:creationId xmlns:p14="http://schemas.microsoft.com/office/powerpoint/2010/main" val="4288367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14:presetBounceEnd="50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500" fill="hold"/>
                                            <p:tgtEl>
                                              <p:spTgt spid="3"/>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4">
    <p:bg>
      <p:bgPr>
        <a:solidFill>
          <a:schemeClr val="bg1"/>
        </a:solidFill>
        <a:effectLst/>
      </p:bgPr>
    </p:bg>
    <p:spTree>
      <p:nvGrpSpPr>
        <p:cNvPr id="1" name=""/>
        <p:cNvGrpSpPr/>
        <p:nvPr/>
      </p:nvGrpSpPr>
      <p:grpSpPr>
        <a:xfrm>
          <a:off x="0" y="0"/>
          <a:ext cx="0" cy="0"/>
          <a:chOff x="0" y="0"/>
          <a:chExt cx="0" cy="0"/>
        </a:xfrm>
      </p:grpSpPr>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87277" y="5317264"/>
            <a:ext cx="5686425" cy="461665"/>
          </a:xfrm>
          <a:prstGeom prst="rect">
            <a:avLst/>
          </a:prstGeom>
        </p:spPr>
        <p:txBody>
          <a:bodyPr lIns="0" tIns="0" rIns="0" bIns="0">
            <a:spAutoFit/>
          </a:bodyPr>
          <a:lstStyle>
            <a:lvl1pPr marL="0" indent="0">
              <a:spcBef>
                <a:spcPts val="0"/>
              </a:spcBef>
              <a:buNone/>
              <a:defRPr>
                <a:solidFill>
                  <a:schemeClr val="tx1"/>
                </a:solidFill>
                <a:latin typeface="+mn-lt"/>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61951" y="1432794"/>
            <a:ext cx="6561349" cy="1533497"/>
          </a:xfrm>
          <a:prstGeom prst="rect">
            <a:avLst/>
          </a:prstGeom>
        </p:spPr>
        <p:txBody>
          <a:bodyPr wrap="square" lIns="0" tIns="0" rIns="0" bIns="0" anchor="b" anchorCtr="0">
            <a:spAutoFit/>
          </a:bodyPr>
          <a:lstStyle>
            <a:lvl1pPr algn="l" fontAlgn="b">
              <a:lnSpc>
                <a:spcPct val="112000"/>
              </a:lnSpc>
              <a:defRPr sz="4800" b="0" i="0">
                <a:solidFill>
                  <a:schemeClr val="tx1"/>
                </a:solidFill>
                <a:latin typeface="+mj-lt"/>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77064" y="3153047"/>
            <a:ext cx="6561349" cy="369332"/>
          </a:xfrm>
          <a:prstGeom prst="rect">
            <a:avLst/>
          </a:prstGeom>
        </p:spPr>
        <p:txBody>
          <a:bodyPr wrap="square" lIns="0" tIns="0" rIns="0" bIns="0" anchor="t">
            <a:spAutoFit/>
          </a:bodyPr>
          <a:lstStyle>
            <a:lvl1pPr marL="0" indent="0" algn="l">
              <a:buNone/>
              <a:defRPr sz="2400" b="1" i="0">
                <a:ln>
                  <a:noFill/>
                </a:ln>
                <a:solidFill>
                  <a:schemeClr val="tx1"/>
                </a:solidFill>
                <a:latin typeface="+mn-lt"/>
                <a:ea typeface="Fira Sans Medium" panose="020B05030500000200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Date/subtitle goes here</a:t>
            </a:r>
          </a:p>
        </p:txBody>
      </p:sp>
      <p:pic>
        <p:nvPicPr>
          <p:cNvPr id="2" name="Graphic 1">
            <a:extLst>
              <a:ext uri="{FF2B5EF4-FFF2-40B4-BE49-F238E27FC236}">
                <a16:creationId xmlns:a16="http://schemas.microsoft.com/office/drawing/2014/main" id="{C9B939C3-07BA-A13A-3765-85E22306AA4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1951" y="6083537"/>
            <a:ext cx="1489240" cy="461665"/>
          </a:xfrm>
          <a:prstGeom prst="rect">
            <a:avLst/>
          </a:prstGeom>
        </p:spPr>
      </p:pic>
      <p:sp>
        <p:nvSpPr>
          <p:cNvPr id="3" name="Graphic 3">
            <a:extLst>
              <a:ext uri="{FF2B5EF4-FFF2-40B4-BE49-F238E27FC236}">
                <a16:creationId xmlns:a16="http://schemas.microsoft.com/office/drawing/2014/main" id="{62587D87-D952-8389-B9C9-50FA3E829F97}"/>
              </a:ext>
            </a:extLst>
          </p:cNvPr>
          <p:cNvSpPr>
            <a:spLocks noChangeAspect="1"/>
          </p:cNvSpPr>
          <p:nvPr userDrawn="1"/>
        </p:nvSpPr>
        <p:spPr>
          <a:xfrm>
            <a:off x="7027440" y="0"/>
            <a:ext cx="5169149" cy="6864096"/>
          </a:xfrm>
          <a:custGeom>
            <a:avLst/>
            <a:gdLst>
              <a:gd name="csX0" fmla="*/ 1315014 w 3292406"/>
              <a:gd name="csY0" fmla="*/ 4353561 h 4371975"/>
              <a:gd name="csX1" fmla="*/ 1296598 w 3292406"/>
              <a:gd name="csY1" fmla="*/ 4333362 h 4371975"/>
              <a:gd name="csX2" fmla="*/ 1318663 w 3292406"/>
              <a:gd name="csY2" fmla="*/ 4313080 h 4371975"/>
              <a:gd name="csX3" fmla="*/ 1337079 w 3292406"/>
              <a:gd name="csY3" fmla="*/ 4333362 h 4371975"/>
              <a:gd name="csX4" fmla="*/ 1315014 w 3292406"/>
              <a:gd name="csY4" fmla="*/ 4353561 h 4371975"/>
              <a:gd name="csX5" fmla="*/ 1318663 w 3292406"/>
              <a:gd name="csY5" fmla="*/ 4316050 h 4371975"/>
              <a:gd name="csX6" fmla="*/ 1299484 w 3292406"/>
              <a:gd name="csY6" fmla="*/ 4333617 h 4371975"/>
              <a:gd name="csX7" fmla="*/ 1315014 w 3292406"/>
              <a:gd name="csY7" fmla="*/ 4350675 h 4371975"/>
              <a:gd name="csX8" fmla="*/ 1334193 w 3292406"/>
              <a:gd name="csY8" fmla="*/ 4333108 h 4371975"/>
              <a:gd name="csX9" fmla="*/ 1318663 w 3292406"/>
              <a:gd name="csY9" fmla="*/ 4316050 h 4371975"/>
              <a:gd name="csX10" fmla="*/ 1320191 w 3292406"/>
              <a:gd name="csY10" fmla="*/ 4335824 h 4371975"/>
              <a:gd name="csX11" fmla="*/ 1326640 w 3292406"/>
              <a:gd name="csY11" fmla="*/ 4327422 h 4371975"/>
              <a:gd name="csX12" fmla="*/ 1320276 w 3292406"/>
              <a:gd name="csY12" fmla="*/ 4321396 h 4371975"/>
              <a:gd name="csX13" fmla="*/ 1312468 w 3292406"/>
              <a:gd name="csY13" fmla="*/ 4321396 h 4371975"/>
              <a:gd name="csX14" fmla="*/ 1307970 w 3292406"/>
              <a:gd name="csY14" fmla="*/ 4345243 h 4371975"/>
              <a:gd name="csX15" fmla="*/ 1310940 w 3292406"/>
              <a:gd name="csY15" fmla="*/ 4345243 h 4371975"/>
              <a:gd name="csX16" fmla="*/ 1312638 w 3292406"/>
              <a:gd name="csY16" fmla="*/ 4336078 h 4371975"/>
              <a:gd name="csX17" fmla="*/ 1317136 w 3292406"/>
              <a:gd name="csY17" fmla="*/ 4336078 h 4371975"/>
              <a:gd name="csX18" fmla="*/ 1320276 w 3292406"/>
              <a:gd name="csY18" fmla="*/ 4345243 h 4371975"/>
              <a:gd name="csX19" fmla="*/ 1323415 w 3292406"/>
              <a:gd name="csY19" fmla="*/ 4345243 h 4371975"/>
              <a:gd name="csX20" fmla="*/ 1320191 w 3292406"/>
              <a:gd name="csY20" fmla="*/ 4335824 h 4371975"/>
              <a:gd name="csX21" fmla="*/ 1320191 w 3292406"/>
              <a:gd name="csY21" fmla="*/ 4335824 h 4371975"/>
              <a:gd name="csX22" fmla="*/ 1323670 w 3292406"/>
              <a:gd name="csY22" fmla="*/ 4328440 h 4371975"/>
              <a:gd name="csX23" fmla="*/ 1318069 w 3292406"/>
              <a:gd name="csY23" fmla="*/ 4333193 h 4371975"/>
              <a:gd name="csX24" fmla="*/ 1313147 w 3292406"/>
              <a:gd name="csY24" fmla="*/ 4333193 h 4371975"/>
              <a:gd name="csX25" fmla="*/ 1314844 w 3292406"/>
              <a:gd name="csY25" fmla="*/ 4324282 h 4371975"/>
              <a:gd name="csX26" fmla="*/ 1320275 w 3292406"/>
              <a:gd name="csY26" fmla="*/ 4324282 h 4371975"/>
              <a:gd name="csX27" fmla="*/ 1323670 w 3292406"/>
              <a:gd name="csY27" fmla="*/ 4328440 h 4371975"/>
              <a:gd name="csX28" fmla="*/ 3292407 w 3292406"/>
              <a:gd name="csY28" fmla="*/ 0 h 4371975"/>
              <a:gd name="csX29" fmla="*/ 2795850 w 3292406"/>
              <a:gd name="csY29" fmla="*/ 0 h 4371975"/>
              <a:gd name="csX30" fmla="*/ 1768531 w 3292406"/>
              <a:gd name="csY30" fmla="*/ 952465 h 4371975"/>
              <a:gd name="csX31" fmla="*/ 1949510 w 3292406"/>
              <a:gd name="csY31" fmla="*/ 0 h 4371975"/>
              <a:gd name="csX32" fmla="*/ 831512 w 3292406"/>
              <a:gd name="csY32" fmla="*/ 0 h 4371975"/>
              <a:gd name="csX33" fmla="*/ 0 w 3292406"/>
              <a:gd name="csY33" fmla="*/ 4371972 h 4371975"/>
              <a:gd name="csX34" fmla="*/ 0 w 3292406"/>
              <a:gd name="csY34" fmla="*/ 4371975 h 4371975"/>
              <a:gd name="csX35" fmla="*/ 1269690 w 3292406"/>
              <a:gd name="csY35" fmla="*/ 4371975 h 4371975"/>
              <a:gd name="csX36" fmla="*/ 1612505 w 3292406"/>
              <a:gd name="csY36" fmla="*/ 2569367 h 4371975"/>
              <a:gd name="csX37" fmla="*/ 3292407 w 3292406"/>
              <a:gd name="csY37" fmla="*/ 1212450 h 43719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292406" h="4371975">
                <a:moveTo>
                  <a:pt x="1315014" y="4353561"/>
                </a:moveTo>
                <a:cubicBezTo>
                  <a:pt x="1303048" y="4353561"/>
                  <a:pt x="1295495" y="4343631"/>
                  <a:pt x="1296598" y="4333362"/>
                </a:cubicBezTo>
                <a:cubicBezTo>
                  <a:pt x="1297617" y="4322160"/>
                  <a:pt x="1307461" y="4313080"/>
                  <a:pt x="1318663" y="4313080"/>
                </a:cubicBezTo>
                <a:cubicBezTo>
                  <a:pt x="1329865" y="4313080"/>
                  <a:pt x="1338097" y="4322160"/>
                  <a:pt x="1337079" y="4333362"/>
                </a:cubicBezTo>
                <a:cubicBezTo>
                  <a:pt x="1336060" y="4344564"/>
                  <a:pt x="1326216" y="4353645"/>
                  <a:pt x="1315014" y="4353561"/>
                </a:cubicBezTo>
                <a:close/>
                <a:moveTo>
                  <a:pt x="1318663" y="4316050"/>
                </a:moveTo>
                <a:cubicBezTo>
                  <a:pt x="1308904" y="4316050"/>
                  <a:pt x="1300332" y="4324027"/>
                  <a:pt x="1299484" y="4333617"/>
                </a:cubicBezTo>
                <a:cubicBezTo>
                  <a:pt x="1298635" y="4343037"/>
                  <a:pt x="1305509" y="4350675"/>
                  <a:pt x="1315014" y="4350675"/>
                </a:cubicBezTo>
                <a:cubicBezTo>
                  <a:pt x="1324688" y="4350675"/>
                  <a:pt x="1333345" y="4342782"/>
                  <a:pt x="1334193" y="4333108"/>
                </a:cubicBezTo>
                <a:cubicBezTo>
                  <a:pt x="1335042" y="4323688"/>
                  <a:pt x="1328083" y="4316050"/>
                  <a:pt x="1318663" y="4316050"/>
                </a:cubicBezTo>
                <a:close/>
                <a:moveTo>
                  <a:pt x="1320191" y="4335824"/>
                </a:moveTo>
                <a:cubicBezTo>
                  <a:pt x="1324519" y="4334635"/>
                  <a:pt x="1326725" y="4330562"/>
                  <a:pt x="1326640" y="4327422"/>
                </a:cubicBezTo>
                <a:cubicBezTo>
                  <a:pt x="1326556" y="4324027"/>
                  <a:pt x="1323840" y="4321396"/>
                  <a:pt x="1320276" y="4321396"/>
                </a:cubicBezTo>
                <a:lnTo>
                  <a:pt x="1312468" y="4321396"/>
                </a:lnTo>
                <a:lnTo>
                  <a:pt x="1307970" y="4345243"/>
                </a:lnTo>
                <a:lnTo>
                  <a:pt x="1310940" y="4345243"/>
                </a:lnTo>
                <a:lnTo>
                  <a:pt x="1312638" y="4336078"/>
                </a:lnTo>
                <a:lnTo>
                  <a:pt x="1317136" y="4336078"/>
                </a:lnTo>
                <a:lnTo>
                  <a:pt x="1320276" y="4345243"/>
                </a:lnTo>
                <a:lnTo>
                  <a:pt x="1323415" y="4345243"/>
                </a:lnTo>
                <a:lnTo>
                  <a:pt x="1320191" y="4335824"/>
                </a:lnTo>
                <a:lnTo>
                  <a:pt x="1320191" y="4335824"/>
                </a:lnTo>
                <a:close/>
                <a:moveTo>
                  <a:pt x="1323670" y="4328440"/>
                </a:moveTo>
                <a:cubicBezTo>
                  <a:pt x="1322991" y="4331156"/>
                  <a:pt x="1320700" y="4333193"/>
                  <a:pt x="1318069" y="4333193"/>
                </a:cubicBezTo>
                <a:lnTo>
                  <a:pt x="1313147" y="4333193"/>
                </a:lnTo>
                <a:lnTo>
                  <a:pt x="1314844" y="4324282"/>
                </a:lnTo>
                <a:lnTo>
                  <a:pt x="1320275" y="4324282"/>
                </a:lnTo>
                <a:cubicBezTo>
                  <a:pt x="1322482" y="4324282"/>
                  <a:pt x="1324179" y="4326319"/>
                  <a:pt x="1323670" y="4328440"/>
                </a:cubicBezTo>
                <a:close/>
                <a:moveTo>
                  <a:pt x="3292407" y="0"/>
                </a:moveTo>
                <a:lnTo>
                  <a:pt x="2795850" y="0"/>
                </a:lnTo>
                <a:cubicBezTo>
                  <a:pt x="2337535" y="161304"/>
                  <a:pt x="1963806" y="507908"/>
                  <a:pt x="1768531" y="952465"/>
                </a:cubicBezTo>
                <a:lnTo>
                  <a:pt x="1949510" y="0"/>
                </a:lnTo>
                <a:lnTo>
                  <a:pt x="831512" y="0"/>
                </a:lnTo>
                <a:lnTo>
                  <a:pt x="0" y="4371972"/>
                </a:lnTo>
                <a:lnTo>
                  <a:pt x="0" y="4371975"/>
                </a:lnTo>
                <a:lnTo>
                  <a:pt x="1269690" y="4371975"/>
                </a:lnTo>
                <a:lnTo>
                  <a:pt x="1612505" y="2569367"/>
                </a:lnTo>
                <a:cubicBezTo>
                  <a:pt x="1814660" y="1506382"/>
                  <a:pt x="2424514" y="1081039"/>
                  <a:pt x="3292407" y="1212450"/>
                </a:cubicBezTo>
                <a:close/>
              </a:path>
            </a:pathLst>
          </a:custGeom>
          <a:gradFill>
            <a:gsLst>
              <a:gs pos="100000">
                <a:schemeClr val="accent4"/>
              </a:gs>
              <a:gs pos="52000">
                <a:schemeClr val="accent2"/>
              </a:gs>
              <a:gs pos="0">
                <a:schemeClr val="tx2"/>
              </a:gs>
            </a:gsLst>
            <a:lin ang="5400000" scaled="1"/>
          </a:gradFill>
          <a:ln w="4048" cap="flat">
            <a:noFill/>
            <a:prstDash val="solid"/>
            <a:miter/>
          </a:ln>
        </p:spPr>
        <p:txBody>
          <a:bodyPr/>
          <a:lstStyle/>
          <a:p>
            <a:endParaRPr lang="en-US" sz="1200"/>
          </a:p>
        </p:txBody>
      </p:sp>
    </p:spTree>
    <p:extLst>
      <p:ext uri="{BB962C8B-B14F-4D97-AF65-F5344CB8AC3E}">
        <p14:creationId xmlns:p14="http://schemas.microsoft.com/office/powerpoint/2010/main" val="1454603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14:presetBounceEnd="50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50000">
                                          <p:cBhvr additive="base">
                                            <p:cTn id="7" dur="500" fill="hold"/>
                                            <p:tgtEl>
                                              <p:spTgt spid="3"/>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hank you US">
    <p:bg>
      <p:bgPr>
        <a:solidFill>
          <a:schemeClr val="tx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97657" y="2402713"/>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377" rtl="0" eaLnBrk="1" latinLnBrk="0" hangingPunct="1">
              <a:lnSpc>
                <a:spcPct val="100000"/>
              </a:lnSpc>
              <a:spcBef>
                <a:spcPct val="0"/>
              </a:spcBef>
              <a:buNone/>
            </a:pPr>
            <a:r>
              <a:rPr lang="en-US" sz="6700" b="0" i="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3" y="5837210"/>
            <a:ext cx="2441448" cy="756849"/>
          </a:xfrm>
          <a:prstGeom prst="rect">
            <a:avLst/>
          </a:prstGeom>
        </p:spPr>
      </p:pic>
      <p:sp>
        <p:nvSpPr>
          <p:cNvPr id="4" name="Text Placeholder 3">
            <a:extLst>
              <a:ext uri="{FF2B5EF4-FFF2-40B4-BE49-F238E27FC236}">
                <a16:creationId xmlns:a16="http://schemas.microsoft.com/office/drawing/2014/main" id="{40BB225F-CF54-A4BB-80AA-14CE6DB0D31F}"/>
              </a:ext>
            </a:extLst>
          </p:cNvPr>
          <p:cNvSpPr>
            <a:spLocks noGrp="1"/>
          </p:cNvSpPr>
          <p:nvPr>
            <p:ph type="body" sz="quarter" idx="10" hasCustomPrompt="1"/>
          </p:nvPr>
        </p:nvSpPr>
        <p:spPr>
          <a:xfrm>
            <a:off x="10734676" y="6266462"/>
            <a:ext cx="1090613" cy="276225"/>
          </a:xfrm>
          <a:prstGeom prst="rect">
            <a:avLst/>
          </a:prstGeom>
        </p:spPr>
        <p:txBody>
          <a:bodyPr lIns="0" tIns="0" rIns="0" bIns="0"/>
          <a:lstStyle>
            <a:lvl1pPr marL="0" indent="0" algn="r">
              <a:buNone/>
              <a:defRPr sz="800">
                <a:solidFill>
                  <a:schemeClr val="bg1"/>
                </a:solidFill>
                <a:latin typeface="Fira Sans" panose="020B0503050000020004" pitchFamily="34" charset="0"/>
              </a:defRPr>
            </a:lvl1pPr>
          </a:lstStyle>
          <a:p>
            <a:pPr lvl="0"/>
            <a:r>
              <a:rPr lang="en-GB"/>
              <a:t>TSK-14385</a:t>
            </a:r>
            <a:endParaRPr lang="en-US"/>
          </a:p>
        </p:txBody>
      </p:sp>
    </p:spTree>
    <p:extLst>
      <p:ext uri="{BB962C8B-B14F-4D97-AF65-F5344CB8AC3E}">
        <p14:creationId xmlns:p14="http://schemas.microsoft.com/office/powerpoint/2010/main" val="897769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49" y="0"/>
            <a:ext cx="321945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552" y="309191"/>
            <a:ext cx="2598736" cy="45842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300"/>
              </a:spcBef>
              <a:spcAft>
                <a:spcPts val="300"/>
              </a:spcAft>
            </a:pPr>
            <a:r>
              <a:rPr lang="en-US" sz="1500" b="1">
                <a:solidFill>
                  <a:schemeClr val="tx1"/>
                </a:solidFill>
                <a:latin typeface="+mn-lt"/>
              </a:rPr>
              <a:t>Rackspace Technology</a:t>
            </a:r>
          </a:p>
          <a:p>
            <a:pPr>
              <a:lnSpc>
                <a:spcPct val="110000"/>
              </a:lnSpc>
              <a:spcBef>
                <a:spcPts val="300"/>
              </a:spcBef>
              <a:spcAft>
                <a:spcPts val="300"/>
              </a:spcAft>
            </a:pPr>
            <a:r>
              <a:rPr lang="en-US" sz="1500">
                <a:solidFill>
                  <a:schemeClr val="tx1"/>
                </a:solidFill>
                <a:latin typeface="+mn-lt"/>
              </a:rPr>
              <a:t>19122 U.S. Highway 281 North Ste 128, San Antonio, TX 78258</a:t>
            </a:r>
          </a:p>
          <a:p>
            <a:pPr marL="0" algn="l" defTabSz="228594" rtl="0" eaLnBrk="1" latinLnBrk="0" hangingPunct="1">
              <a:lnSpc>
                <a:spcPct val="110000"/>
              </a:lnSpc>
              <a:spcBef>
                <a:spcPts val="300"/>
              </a:spcBef>
              <a:spcAft>
                <a:spcPts val="1800"/>
              </a:spcAft>
            </a:pPr>
            <a:r>
              <a:rPr lang="en-US" sz="1500" b="1" kern="1200" cap="none">
                <a:solidFill>
                  <a:schemeClr val="tx1"/>
                </a:solidFill>
                <a:latin typeface="+mn-lt"/>
                <a:ea typeface="+mn-ea"/>
                <a:cs typeface="+mn-cs"/>
              </a:rPr>
              <a:t>www.rackspace.com</a:t>
            </a:r>
          </a:p>
          <a:p>
            <a:pPr marL="0" marR="0" lvl="0" indent="0" algn="l" defTabSz="228594"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and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914377" rtl="0" eaLnBrk="1" fontAlgn="auto" latinLnBrk="0" hangingPunct="1">
              <a:lnSpc>
                <a:spcPct val="110000"/>
              </a:lnSpc>
              <a:spcBef>
                <a:spcPts val="300"/>
              </a:spcBef>
              <a:spcAft>
                <a:spcPts val="300"/>
              </a:spcAft>
              <a:buClrTx/>
              <a:buSzTx/>
              <a:buFont typeface="Arial" panose="020B0604020202020204" pitchFamily="34" charset="0"/>
              <a:buNone/>
              <a:tabLst/>
              <a:defRPr/>
            </a:pPr>
            <a:endParaRPr lang="en-US" sz="451" cap="none" baseline="0">
              <a:solidFill>
                <a:schemeClr val="tx1"/>
              </a:solidFill>
              <a:latin typeface="+mn-lt"/>
            </a:endParaRPr>
          </a:p>
          <a:p>
            <a:pPr>
              <a:spcBef>
                <a:spcPts val="300"/>
              </a:spcBef>
              <a:spcAft>
                <a:spcPts val="300"/>
              </a:spcAft>
            </a:pPr>
            <a:endParaRPr lang="en-US" sz="451">
              <a:solidFill>
                <a:schemeClr val="tx1"/>
              </a:solidFill>
              <a:latin typeface="+mn-lt"/>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97657" y="140641"/>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377" rtl="0" eaLnBrk="1" latinLnBrk="0" hangingPunct="1">
              <a:lnSpc>
                <a:spcPct val="100000"/>
              </a:lnSpc>
              <a:spcBef>
                <a:spcPct val="0"/>
              </a:spcBef>
              <a:buNone/>
            </a:pPr>
            <a:r>
              <a:rPr lang="en-US" sz="6700" b="0" i="0" kern="1200">
                <a:ln w="9525">
                  <a:noFill/>
                </a:ln>
                <a:solidFill>
                  <a:schemeClr val="bg1"/>
                </a:solidFill>
                <a:latin typeface="+mj-lt"/>
                <a:ea typeface="+mj-ea"/>
                <a:cs typeface="+mj-cs"/>
              </a:rPr>
              <a:t>Thank you</a:t>
            </a:r>
          </a:p>
        </p:txBody>
      </p:sp>
      <p:sp>
        <p:nvSpPr>
          <p:cNvPr id="4" name="Text Placeholder 3">
            <a:extLst>
              <a:ext uri="{FF2B5EF4-FFF2-40B4-BE49-F238E27FC236}">
                <a16:creationId xmlns:a16="http://schemas.microsoft.com/office/drawing/2014/main" id="{40BB225F-CF54-A4BB-80AA-14CE6DB0D31F}"/>
              </a:ext>
            </a:extLst>
          </p:cNvPr>
          <p:cNvSpPr>
            <a:spLocks noGrp="1"/>
          </p:cNvSpPr>
          <p:nvPr>
            <p:ph type="body" sz="quarter" idx="10" hasCustomPrompt="1"/>
          </p:nvPr>
        </p:nvSpPr>
        <p:spPr>
          <a:xfrm>
            <a:off x="9226552" y="6266462"/>
            <a:ext cx="1090613" cy="276225"/>
          </a:xfrm>
          <a:prstGeom prst="rect">
            <a:avLst/>
          </a:prstGeom>
        </p:spPr>
        <p:txBody>
          <a:bodyPr lIns="0" tIns="0" rIns="0" bIns="0"/>
          <a:lstStyle>
            <a:lvl1pPr marL="0" indent="0" algn="l">
              <a:buNone/>
              <a:defRPr sz="800">
                <a:latin typeface="+mn-lt"/>
              </a:defRPr>
            </a:lvl1pPr>
          </a:lstStyle>
          <a:p>
            <a:pPr lvl="0"/>
            <a:r>
              <a:rPr lang="en-GB"/>
              <a:t>TSK number</a:t>
            </a:r>
            <a:endParaRPr lang="en-US"/>
          </a:p>
        </p:txBody>
      </p:sp>
      <p:pic>
        <p:nvPicPr>
          <p:cNvPr id="3" name="Graphic 2">
            <a:extLst>
              <a:ext uri="{FF2B5EF4-FFF2-40B4-BE49-F238E27FC236}">
                <a16:creationId xmlns:a16="http://schemas.microsoft.com/office/drawing/2014/main" id="{594D9AB6-AFA7-9CA5-EF5C-0C4311756C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1951" y="6496051"/>
            <a:ext cx="903173" cy="279984"/>
          </a:xfrm>
          <a:prstGeom prst="rect">
            <a:avLst/>
          </a:prstGeom>
        </p:spPr>
      </p:pic>
    </p:spTree>
    <p:extLst>
      <p:ext uri="{BB962C8B-B14F-4D97-AF65-F5344CB8AC3E}">
        <p14:creationId xmlns:p14="http://schemas.microsoft.com/office/powerpoint/2010/main" val="2352831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49" y="0"/>
            <a:ext cx="321945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1"/>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7"/>
            <a:ext cx="2596896" cy="45842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594" rtl="0" eaLnBrk="1" latinLnBrk="0" hangingPunct="1">
              <a:lnSpc>
                <a:spcPct val="110000"/>
              </a:lnSpc>
              <a:spcBef>
                <a:spcPts val="300"/>
              </a:spcBef>
              <a:spcAft>
                <a:spcPts val="300"/>
              </a:spcAft>
            </a:pPr>
            <a:r>
              <a:rPr lang="en-US" sz="1500" b="1" kern="1200">
                <a:solidFill>
                  <a:schemeClr val="tx1"/>
                </a:solidFill>
                <a:latin typeface="+mn-lt"/>
                <a:ea typeface="+mn-ea"/>
                <a:cs typeface="+mn-cs"/>
              </a:rPr>
              <a:t>Rackspace Technology</a:t>
            </a:r>
          </a:p>
          <a:p>
            <a:pPr marL="0" algn="l" defTabSz="228594" rtl="0" eaLnBrk="1" latinLnBrk="0" hangingPunct="1">
              <a:lnSpc>
                <a:spcPct val="110000"/>
              </a:lnSpc>
              <a:spcBef>
                <a:spcPts val="300"/>
              </a:spcBef>
              <a:spcAft>
                <a:spcPts val="300"/>
              </a:spcAft>
            </a:pPr>
            <a:r>
              <a:rPr lang="en-US" sz="1500" kern="1200">
                <a:solidFill>
                  <a:schemeClr val="tx1"/>
                </a:solidFill>
                <a:latin typeface="+mn-lt"/>
                <a:ea typeface="+mn-ea"/>
                <a:cs typeface="+mn-cs"/>
              </a:rPr>
              <a:t>8 Millington Road</a:t>
            </a:r>
            <a:br>
              <a:rPr lang="en-US" sz="1500" kern="1200">
                <a:solidFill>
                  <a:schemeClr val="tx1"/>
                </a:solidFill>
                <a:latin typeface="+mn-lt"/>
                <a:ea typeface="+mn-ea"/>
                <a:cs typeface="+mn-cs"/>
              </a:rPr>
            </a:br>
            <a:r>
              <a:rPr lang="en-US" sz="1500" kern="1200">
                <a:solidFill>
                  <a:schemeClr val="tx1"/>
                </a:solidFill>
                <a:latin typeface="+mn-lt"/>
                <a:ea typeface="+mn-ea"/>
                <a:cs typeface="+mn-cs"/>
              </a:rPr>
              <a:t>Hayes, Middlesex </a:t>
            </a:r>
            <a:br>
              <a:rPr lang="en-US" sz="1500" kern="1200">
                <a:solidFill>
                  <a:schemeClr val="tx1"/>
                </a:solidFill>
                <a:latin typeface="+mn-lt"/>
                <a:ea typeface="+mn-ea"/>
                <a:cs typeface="+mn-cs"/>
              </a:rPr>
            </a:br>
            <a:r>
              <a:rPr lang="en-US" sz="1500" kern="1200">
                <a:solidFill>
                  <a:schemeClr val="tx1"/>
                </a:solidFill>
                <a:latin typeface="+mn-lt"/>
                <a:ea typeface="+mn-ea"/>
                <a:cs typeface="+mn-cs"/>
              </a:rPr>
              <a:t>UB3 4AZ</a:t>
            </a:r>
          </a:p>
          <a:p>
            <a:pPr>
              <a:lnSpc>
                <a:spcPct val="110000"/>
              </a:lnSpc>
              <a:spcBef>
                <a:spcPts val="300"/>
              </a:spcBef>
              <a:spcAft>
                <a:spcPts val="300"/>
              </a:spcAft>
            </a:pPr>
            <a:r>
              <a:rPr lang="en-US" sz="1500">
                <a:solidFill>
                  <a:schemeClr val="tx1"/>
                </a:solidFill>
                <a:latin typeface="+mn-lt"/>
              </a:rPr>
              <a:t>U.K. sales: 020 8734 2600  </a:t>
            </a:r>
            <a:br>
              <a:rPr lang="en-US" sz="1500">
                <a:solidFill>
                  <a:schemeClr val="tx1"/>
                </a:solidFill>
                <a:latin typeface="+mn-lt"/>
              </a:rPr>
            </a:br>
            <a:r>
              <a:rPr lang="en-US" sz="1500">
                <a:solidFill>
                  <a:schemeClr val="tx1"/>
                </a:solidFill>
                <a:latin typeface="+mn-lt"/>
              </a:rPr>
              <a:t>U.K. support: 020 8734 2700   </a:t>
            </a:r>
          </a:p>
          <a:p>
            <a:pPr marL="0" algn="l" defTabSz="228594" rtl="0" eaLnBrk="1" latinLnBrk="0" hangingPunct="1">
              <a:lnSpc>
                <a:spcPct val="110000"/>
              </a:lnSpc>
              <a:spcBef>
                <a:spcPts val="300"/>
              </a:spcBef>
              <a:spcAft>
                <a:spcPts val="1800"/>
              </a:spcAft>
            </a:pPr>
            <a:r>
              <a:rPr lang="en-US" sz="1500" b="1" kern="1200" cap="none">
                <a:solidFill>
                  <a:schemeClr val="tx1"/>
                </a:solidFill>
                <a:latin typeface="+mn-lt"/>
                <a:ea typeface="+mn-ea"/>
                <a:cs typeface="+mn-cs"/>
              </a:rPr>
              <a:t>www.rackspace.co.uk</a:t>
            </a:r>
          </a:p>
          <a:p>
            <a:pPr marL="0" marR="0" lvl="0" indent="0" algn="l" defTabSz="228594"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and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a:solidFill>
                <a:schemeClr val="tx1"/>
              </a:solidFill>
              <a:latin typeface="+mn-lt"/>
            </a:endParaRPr>
          </a:p>
          <a:p>
            <a:pPr>
              <a:spcBef>
                <a:spcPts val="300"/>
              </a:spcBef>
              <a:spcAft>
                <a:spcPts val="300"/>
              </a:spcAft>
            </a:pPr>
            <a:endParaRPr lang="en-US" sz="451">
              <a:solidFill>
                <a:schemeClr val="tx1"/>
              </a:solidFill>
              <a:latin typeface="+mn-lt"/>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3" y="5837210"/>
            <a:ext cx="2441448" cy="756849"/>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297657" y="140641"/>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377" rtl="0" eaLnBrk="1" latinLnBrk="0" hangingPunct="1">
              <a:lnSpc>
                <a:spcPct val="100000"/>
              </a:lnSpc>
              <a:spcBef>
                <a:spcPct val="0"/>
              </a:spcBef>
              <a:buNone/>
            </a:pPr>
            <a:r>
              <a:rPr lang="en-US" sz="6700" b="0" i="0" kern="1200">
                <a:ln w="9525">
                  <a:noFill/>
                </a:ln>
                <a:solidFill>
                  <a:schemeClr val="bg1"/>
                </a:solidFill>
                <a:latin typeface="+mj-lt"/>
                <a:ea typeface="+mj-ea"/>
                <a:cs typeface="+mj-cs"/>
              </a:rPr>
              <a:t>Thank you</a:t>
            </a:r>
          </a:p>
        </p:txBody>
      </p:sp>
      <p:sp>
        <p:nvSpPr>
          <p:cNvPr id="3" name="Text Placeholder 3">
            <a:extLst>
              <a:ext uri="{FF2B5EF4-FFF2-40B4-BE49-F238E27FC236}">
                <a16:creationId xmlns:a16="http://schemas.microsoft.com/office/drawing/2014/main" id="{A7D94E06-292C-5400-0061-0B3DBC6BB8D5}"/>
              </a:ext>
            </a:extLst>
          </p:cNvPr>
          <p:cNvSpPr>
            <a:spLocks noGrp="1"/>
          </p:cNvSpPr>
          <p:nvPr>
            <p:ph type="body" sz="quarter" idx="10" hasCustomPrompt="1"/>
          </p:nvPr>
        </p:nvSpPr>
        <p:spPr>
          <a:xfrm>
            <a:off x="9226552" y="6266462"/>
            <a:ext cx="1090613" cy="276225"/>
          </a:xfrm>
          <a:prstGeom prst="rect">
            <a:avLst/>
          </a:prstGeom>
        </p:spPr>
        <p:txBody>
          <a:bodyPr lIns="0" tIns="0" rIns="0" bIns="0"/>
          <a:lstStyle>
            <a:lvl1pPr marL="0" indent="0" algn="l">
              <a:buNone/>
              <a:defRPr sz="800">
                <a:latin typeface="+mn-lt"/>
              </a:defRPr>
            </a:lvl1pPr>
          </a:lstStyle>
          <a:p>
            <a:pPr lvl="0"/>
            <a:r>
              <a:rPr lang="en-GB"/>
              <a:t>TSK number</a:t>
            </a:r>
            <a:endParaRPr lang="en-US"/>
          </a:p>
        </p:txBody>
      </p:sp>
    </p:spTree>
    <p:extLst>
      <p:ext uri="{BB962C8B-B14F-4D97-AF65-F5344CB8AC3E}">
        <p14:creationId xmlns:p14="http://schemas.microsoft.com/office/powerpoint/2010/main" val="26790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B047954A-9825-7A10-C1E0-2C589652D428}"/>
              </a:ext>
            </a:extLst>
          </p:cNvPr>
          <p:cNvSpPr/>
          <p:nvPr userDrawn="1"/>
        </p:nvSpPr>
        <p:spPr>
          <a:xfrm>
            <a:off x="4167608" y="2994760"/>
            <a:ext cx="4010605" cy="825377"/>
          </a:xfrm>
          <a:custGeom>
            <a:avLst/>
            <a:gdLst>
              <a:gd name="connsiteX0" fmla="*/ 2101054 w 4010605"/>
              <a:gd name="connsiteY0" fmla="*/ 497433 h 825377"/>
              <a:gd name="connsiteX1" fmla="*/ 2054921 w 4010605"/>
              <a:gd name="connsiteY1" fmla="*/ 612765 h 825377"/>
              <a:gd name="connsiteX2" fmla="*/ 1870389 w 4010605"/>
              <a:gd name="connsiteY2" fmla="*/ 673941 h 825377"/>
              <a:gd name="connsiteX3" fmla="*/ 1723967 w 4010605"/>
              <a:gd name="connsiteY3" fmla="*/ 639843 h 825377"/>
              <a:gd name="connsiteX4" fmla="*/ 1745028 w 4010605"/>
              <a:gd name="connsiteY4" fmla="*/ 526517 h 825377"/>
              <a:gd name="connsiteX5" fmla="*/ 1884429 w 4010605"/>
              <a:gd name="connsiteY5" fmla="*/ 565629 h 825377"/>
              <a:gd name="connsiteX6" fmla="*/ 1945606 w 4010605"/>
              <a:gd name="connsiteY6" fmla="*/ 521502 h 825377"/>
              <a:gd name="connsiteX7" fmla="*/ 1883427 w 4010605"/>
              <a:gd name="connsiteY7" fmla="*/ 457317 h 825377"/>
              <a:gd name="connsiteX8" fmla="*/ 1778123 w 4010605"/>
              <a:gd name="connsiteY8" fmla="*/ 324936 h 825377"/>
              <a:gd name="connsiteX9" fmla="*/ 1998759 w 4010605"/>
              <a:gd name="connsiteY9" fmla="*/ 151436 h 825377"/>
              <a:gd name="connsiteX10" fmla="*/ 2139163 w 4010605"/>
              <a:gd name="connsiteY10" fmla="*/ 184532 h 825377"/>
              <a:gd name="connsiteX11" fmla="*/ 2119106 w 4010605"/>
              <a:gd name="connsiteY11" fmla="*/ 297858 h 825377"/>
              <a:gd name="connsiteX12" fmla="*/ 1992741 w 4010605"/>
              <a:gd name="connsiteY12" fmla="*/ 261754 h 825377"/>
              <a:gd name="connsiteX13" fmla="*/ 1928557 w 4010605"/>
              <a:gd name="connsiteY13" fmla="*/ 304878 h 825377"/>
              <a:gd name="connsiteX14" fmla="*/ 1988730 w 4010605"/>
              <a:gd name="connsiteY14" fmla="*/ 361040 h 825377"/>
              <a:gd name="connsiteX15" fmla="*/ 2101054 w 4010605"/>
              <a:gd name="connsiteY15" fmla="*/ 497433 h 825377"/>
              <a:gd name="connsiteX16" fmla="*/ 1184413 w 4010605"/>
              <a:gd name="connsiteY16" fmla="*/ 152439 h 825377"/>
              <a:gd name="connsiteX17" fmla="*/ 857471 w 4010605"/>
              <a:gd name="connsiteY17" fmla="*/ 469352 h 825377"/>
              <a:gd name="connsiteX18" fmla="*/ 1069080 w 4010605"/>
              <a:gd name="connsiteY18" fmla="*/ 674944 h 825377"/>
              <a:gd name="connsiteX19" fmla="*/ 1211491 w 4010605"/>
              <a:gd name="connsiteY19" fmla="*/ 647866 h 825377"/>
              <a:gd name="connsiteX20" fmla="*/ 1234557 w 4010605"/>
              <a:gd name="connsiteY20" fmla="*/ 523508 h 825377"/>
              <a:gd name="connsiteX21" fmla="*/ 1110199 w 4010605"/>
              <a:gd name="connsiteY21" fmla="*/ 555600 h 825377"/>
              <a:gd name="connsiteX22" fmla="*/ 1012918 w 4010605"/>
              <a:gd name="connsiteY22" fmla="*/ 453306 h 825377"/>
              <a:gd name="connsiteX23" fmla="*/ 1181404 w 4010605"/>
              <a:gd name="connsiteY23" fmla="*/ 271783 h 825377"/>
              <a:gd name="connsiteX24" fmla="*/ 1263641 w 4010605"/>
              <a:gd name="connsiteY24" fmla="*/ 290838 h 825377"/>
              <a:gd name="connsiteX25" fmla="*/ 1286707 w 4010605"/>
              <a:gd name="connsiteY25" fmla="*/ 169488 h 825377"/>
              <a:gd name="connsiteX26" fmla="*/ 1184413 w 4010605"/>
              <a:gd name="connsiteY26" fmla="*/ 152439 h 825377"/>
              <a:gd name="connsiteX27" fmla="*/ 1184413 w 4010605"/>
              <a:gd name="connsiteY27" fmla="*/ 152439 h 825377"/>
              <a:gd name="connsiteX28" fmla="*/ 3797943 w 4010605"/>
              <a:gd name="connsiteY28" fmla="*/ 558609 h 825377"/>
              <a:gd name="connsiteX29" fmla="*/ 3972445 w 4010605"/>
              <a:gd name="connsiteY29" fmla="*/ 509467 h 825377"/>
              <a:gd name="connsiteX30" fmla="*/ 3948376 w 4010605"/>
              <a:gd name="connsiteY30" fmla="*/ 634829 h 825377"/>
              <a:gd name="connsiteX31" fmla="*/ 3761839 w 4010605"/>
              <a:gd name="connsiteY31" fmla="*/ 674944 h 825377"/>
              <a:gd name="connsiteX32" fmla="*/ 3544212 w 4010605"/>
              <a:gd name="connsiteY32" fmla="*/ 463335 h 825377"/>
              <a:gd name="connsiteX33" fmla="*/ 3622437 w 4010605"/>
              <a:gd name="connsiteY33" fmla="*/ 250722 h 825377"/>
              <a:gd name="connsiteX34" fmla="*/ 3836052 w 4010605"/>
              <a:gd name="connsiteY34" fmla="*/ 152439 h 825377"/>
              <a:gd name="connsiteX35" fmla="*/ 4010555 w 4010605"/>
              <a:gd name="connsiteY35" fmla="*/ 303875 h 825377"/>
              <a:gd name="connsiteX36" fmla="*/ 3970440 w 4010605"/>
              <a:gd name="connsiteY36" fmla="*/ 406170 h 825377"/>
              <a:gd name="connsiteX37" fmla="*/ 3684616 w 4010605"/>
              <a:gd name="connsiteY37" fmla="*/ 460326 h 825377"/>
              <a:gd name="connsiteX38" fmla="*/ 3797943 w 4010605"/>
              <a:gd name="connsiteY38" fmla="*/ 558609 h 825377"/>
              <a:gd name="connsiteX39" fmla="*/ 3797943 w 4010605"/>
              <a:gd name="connsiteY39" fmla="*/ 558609 h 825377"/>
              <a:gd name="connsiteX40" fmla="*/ 3701665 w 4010605"/>
              <a:gd name="connsiteY40" fmla="*/ 362043 h 825377"/>
              <a:gd name="connsiteX41" fmla="*/ 3859119 w 4010605"/>
              <a:gd name="connsiteY41" fmla="*/ 332959 h 825377"/>
              <a:gd name="connsiteX42" fmla="*/ 3818001 w 4010605"/>
              <a:gd name="connsiteY42" fmla="*/ 260751 h 825377"/>
              <a:gd name="connsiteX43" fmla="*/ 3701665 w 4010605"/>
              <a:gd name="connsiteY43" fmla="*/ 362043 h 825377"/>
              <a:gd name="connsiteX44" fmla="*/ 3469998 w 4010605"/>
              <a:gd name="connsiteY44" fmla="*/ 152439 h 825377"/>
              <a:gd name="connsiteX45" fmla="*/ 3143056 w 4010605"/>
              <a:gd name="connsiteY45" fmla="*/ 469352 h 825377"/>
              <a:gd name="connsiteX46" fmla="*/ 3354666 w 4010605"/>
              <a:gd name="connsiteY46" fmla="*/ 674944 h 825377"/>
              <a:gd name="connsiteX47" fmla="*/ 3497076 w 4010605"/>
              <a:gd name="connsiteY47" fmla="*/ 647866 h 825377"/>
              <a:gd name="connsiteX48" fmla="*/ 3520142 w 4010605"/>
              <a:gd name="connsiteY48" fmla="*/ 523508 h 825377"/>
              <a:gd name="connsiteX49" fmla="*/ 3395784 w 4010605"/>
              <a:gd name="connsiteY49" fmla="*/ 555600 h 825377"/>
              <a:gd name="connsiteX50" fmla="*/ 3298504 w 4010605"/>
              <a:gd name="connsiteY50" fmla="*/ 453306 h 825377"/>
              <a:gd name="connsiteX51" fmla="*/ 3466989 w 4010605"/>
              <a:gd name="connsiteY51" fmla="*/ 271783 h 825377"/>
              <a:gd name="connsiteX52" fmla="*/ 3549226 w 4010605"/>
              <a:gd name="connsiteY52" fmla="*/ 290838 h 825377"/>
              <a:gd name="connsiteX53" fmla="*/ 3572293 w 4010605"/>
              <a:gd name="connsiteY53" fmla="*/ 169488 h 825377"/>
              <a:gd name="connsiteX54" fmla="*/ 3469998 w 4010605"/>
              <a:gd name="connsiteY54" fmla="*/ 152439 h 825377"/>
              <a:gd name="connsiteX55" fmla="*/ 3117984 w 4010605"/>
              <a:gd name="connsiteY55" fmla="*/ 383104 h 825377"/>
              <a:gd name="connsiteX56" fmla="*/ 3064830 w 4010605"/>
              <a:gd name="connsiteY56" fmla="*/ 663912 h 825377"/>
              <a:gd name="connsiteX57" fmla="*/ 2922420 w 4010605"/>
              <a:gd name="connsiteY57" fmla="*/ 663912 h 825377"/>
              <a:gd name="connsiteX58" fmla="*/ 2940472 w 4010605"/>
              <a:gd name="connsiteY58" fmla="*/ 567635 h 825377"/>
              <a:gd name="connsiteX59" fmla="*/ 2791041 w 4010605"/>
              <a:gd name="connsiteY59" fmla="*/ 675947 h 825377"/>
              <a:gd name="connsiteX60" fmla="*/ 2647628 w 4010605"/>
              <a:gd name="connsiteY60" fmla="*/ 500441 h 825377"/>
              <a:gd name="connsiteX61" fmla="*/ 2751929 w 4010605"/>
              <a:gd name="connsiteY61" fmla="*/ 236682 h 825377"/>
              <a:gd name="connsiteX62" fmla="*/ 2957521 w 4010605"/>
              <a:gd name="connsiteY62" fmla="*/ 152439 h 825377"/>
              <a:gd name="connsiteX63" fmla="*/ 3090906 w 4010605"/>
              <a:gd name="connsiteY63" fmla="*/ 203586 h 825377"/>
              <a:gd name="connsiteX64" fmla="*/ 3117984 w 4010605"/>
              <a:gd name="connsiteY64" fmla="*/ 383104 h 825377"/>
              <a:gd name="connsiteX65" fmla="*/ 2981590 w 4010605"/>
              <a:gd name="connsiteY65" fmla="*/ 318919 h 825377"/>
              <a:gd name="connsiteX66" fmla="*/ 2928437 w 4010605"/>
              <a:gd name="connsiteY66" fmla="*/ 264763 h 825377"/>
              <a:gd name="connsiteX67" fmla="*/ 2798062 w 4010605"/>
              <a:gd name="connsiteY67" fmla="*/ 469352 h 825377"/>
              <a:gd name="connsiteX68" fmla="*/ 2851215 w 4010605"/>
              <a:gd name="connsiteY68" fmla="*/ 554597 h 825377"/>
              <a:gd name="connsiteX69" fmla="*/ 2967550 w 4010605"/>
              <a:gd name="connsiteY69" fmla="*/ 415196 h 825377"/>
              <a:gd name="connsiteX70" fmla="*/ 2981590 w 4010605"/>
              <a:gd name="connsiteY70" fmla="*/ 318919 h 825377"/>
              <a:gd name="connsiteX71" fmla="*/ 2981590 w 4010605"/>
              <a:gd name="connsiteY71" fmla="*/ 318919 h 825377"/>
              <a:gd name="connsiteX72" fmla="*/ 832398 w 4010605"/>
              <a:gd name="connsiteY72" fmla="*/ 383104 h 825377"/>
              <a:gd name="connsiteX73" fmla="*/ 779245 w 4010605"/>
              <a:gd name="connsiteY73" fmla="*/ 663912 h 825377"/>
              <a:gd name="connsiteX74" fmla="*/ 636835 w 4010605"/>
              <a:gd name="connsiteY74" fmla="*/ 663912 h 825377"/>
              <a:gd name="connsiteX75" fmla="*/ 654887 w 4010605"/>
              <a:gd name="connsiteY75" fmla="*/ 567635 h 825377"/>
              <a:gd name="connsiteX76" fmla="*/ 505456 w 4010605"/>
              <a:gd name="connsiteY76" fmla="*/ 675947 h 825377"/>
              <a:gd name="connsiteX77" fmla="*/ 362043 w 4010605"/>
              <a:gd name="connsiteY77" fmla="*/ 500441 h 825377"/>
              <a:gd name="connsiteX78" fmla="*/ 466344 w 4010605"/>
              <a:gd name="connsiteY78" fmla="*/ 236682 h 825377"/>
              <a:gd name="connsiteX79" fmla="*/ 671936 w 4010605"/>
              <a:gd name="connsiteY79" fmla="*/ 152439 h 825377"/>
              <a:gd name="connsiteX80" fmla="*/ 805320 w 4010605"/>
              <a:gd name="connsiteY80" fmla="*/ 203586 h 825377"/>
              <a:gd name="connsiteX81" fmla="*/ 832398 w 4010605"/>
              <a:gd name="connsiteY81" fmla="*/ 383104 h 825377"/>
              <a:gd name="connsiteX82" fmla="*/ 696005 w 4010605"/>
              <a:gd name="connsiteY82" fmla="*/ 318919 h 825377"/>
              <a:gd name="connsiteX83" fmla="*/ 642852 w 4010605"/>
              <a:gd name="connsiteY83" fmla="*/ 264763 h 825377"/>
              <a:gd name="connsiteX84" fmla="*/ 512477 w 4010605"/>
              <a:gd name="connsiteY84" fmla="*/ 469352 h 825377"/>
              <a:gd name="connsiteX85" fmla="*/ 565630 w 4010605"/>
              <a:gd name="connsiteY85" fmla="*/ 554597 h 825377"/>
              <a:gd name="connsiteX86" fmla="*/ 681965 w 4010605"/>
              <a:gd name="connsiteY86" fmla="*/ 415196 h 825377"/>
              <a:gd name="connsiteX87" fmla="*/ 696005 w 4010605"/>
              <a:gd name="connsiteY87" fmla="*/ 318919 h 825377"/>
              <a:gd name="connsiteX88" fmla="*/ 2637600 w 4010605"/>
              <a:gd name="connsiteY88" fmla="*/ 342988 h 825377"/>
              <a:gd name="connsiteX89" fmla="*/ 2473126 w 4010605"/>
              <a:gd name="connsiteY89" fmla="*/ 645860 h 825377"/>
              <a:gd name="connsiteX90" fmla="*/ 2364814 w 4010605"/>
              <a:gd name="connsiteY90" fmla="*/ 675947 h 825377"/>
              <a:gd name="connsiteX91" fmla="*/ 2265527 w 4010605"/>
              <a:gd name="connsiteY91" fmla="*/ 625803 h 825377"/>
              <a:gd name="connsiteX92" fmla="*/ 2227418 w 4010605"/>
              <a:gd name="connsiteY92" fmla="*/ 825377 h 825377"/>
              <a:gd name="connsiteX93" fmla="*/ 2078990 w 4010605"/>
              <a:gd name="connsiteY93" fmla="*/ 825377 h 825377"/>
              <a:gd name="connsiteX94" fmla="*/ 2205354 w 4010605"/>
              <a:gd name="connsiteY94" fmla="*/ 161465 h 825377"/>
              <a:gd name="connsiteX95" fmla="*/ 2336733 w 4010605"/>
              <a:gd name="connsiteY95" fmla="*/ 161465 h 825377"/>
              <a:gd name="connsiteX96" fmla="*/ 2321689 w 4010605"/>
              <a:gd name="connsiteY96" fmla="*/ 241696 h 825377"/>
              <a:gd name="connsiteX97" fmla="*/ 2475131 w 4010605"/>
              <a:gd name="connsiteY97" fmla="*/ 151436 h 825377"/>
              <a:gd name="connsiteX98" fmla="*/ 2637600 w 4010605"/>
              <a:gd name="connsiteY98" fmla="*/ 342988 h 825377"/>
              <a:gd name="connsiteX99" fmla="*/ 2637600 w 4010605"/>
              <a:gd name="connsiteY99" fmla="*/ 342988 h 825377"/>
              <a:gd name="connsiteX100" fmla="*/ 2483155 w 4010605"/>
              <a:gd name="connsiteY100" fmla="*/ 354020 h 825377"/>
              <a:gd name="connsiteX101" fmla="*/ 2422981 w 4010605"/>
              <a:gd name="connsiteY101" fmla="*/ 272786 h 825377"/>
              <a:gd name="connsiteX102" fmla="*/ 2302634 w 4010605"/>
              <a:gd name="connsiteY102" fmla="*/ 431242 h 825377"/>
              <a:gd name="connsiteX103" fmla="*/ 2347765 w 4010605"/>
              <a:gd name="connsiteY103" fmla="*/ 562621 h 825377"/>
              <a:gd name="connsiteX104" fmla="*/ 2483155 w 4010605"/>
              <a:gd name="connsiteY104" fmla="*/ 354020 h 825377"/>
              <a:gd name="connsiteX105" fmla="*/ 2483155 w 4010605"/>
              <a:gd name="connsiteY105" fmla="*/ 354020 h 825377"/>
              <a:gd name="connsiteX106" fmla="*/ 207598 w 4010605"/>
              <a:gd name="connsiteY106" fmla="*/ 272786 h 825377"/>
              <a:gd name="connsiteX107" fmla="*/ 228659 w 4010605"/>
              <a:gd name="connsiteY107" fmla="*/ 161465 h 825377"/>
              <a:gd name="connsiteX108" fmla="*/ 97280 w 4010605"/>
              <a:gd name="connsiteY108" fmla="*/ 161465 h 825377"/>
              <a:gd name="connsiteX109" fmla="*/ 0 w 4010605"/>
              <a:gd name="connsiteY109" fmla="*/ 672938 h 825377"/>
              <a:gd name="connsiteX110" fmla="*/ 148428 w 4010605"/>
              <a:gd name="connsiteY110" fmla="*/ 672938 h 825377"/>
              <a:gd name="connsiteX111" fmla="*/ 188543 w 4010605"/>
              <a:gd name="connsiteY111" fmla="*/ 461329 h 825377"/>
              <a:gd name="connsiteX112" fmla="*/ 385110 w 4010605"/>
              <a:gd name="connsiteY112" fmla="*/ 301870 h 825377"/>
              <a:gd name="connsiteX113" fmla="*/ 414193 w 4010605"/>
              <a:gd name="connsiteY113" fmla="*/ 149430 h 825377"/>
              <a:gd name="connsiteX114" fmla="*/ 207598 w 4010605"/>
              <a:gd name="connsiteY114" fmla="*/ 272786 h 825377"/>
              <a:gd name="connsiteX115" fmla="*/ 1400034 w 4010605"/>
              <a:gd name="connsiteY115" fmla="*/ 663912 h 825377"/>
              <a:gd name="connsiteX116" fmla="*/ 1451181 w 4010605"/>
              <a:gd name="connsiteY116" fmla="*/ 394135 h 825377"/>
              <a:gd name="connsiteX117" fmla="*/ 1556485 w 4010605"/>
              <a:gd name="connsiteY117" fmla="*/ 663912 h 825377"/>
              <a:gd name="connsiteX118" fmla="*/ 1716947 w 4010605"/>
              <a:gd name="connsiteY118" fmla="*/ 663912 h 825377"/>
              <a:gd name="connsiteX119" fmla="*/ 1607632 w 4010605"/>
              <a:gd name="connsiteY119" fmla="*/ 392130 h 825377"/>
              <a:gd name="connsiteX120" fmla="*/ 1806204 w 4010605"/>
              <a:gd name="connsiteY120" fmla="*/ 160462 h 825377"/>
              <a:gd name="connsiteX121" fmla="*/ 1643736 w 4010605"/>
              <a:gd name="connsiteY121" fmla="*/ 160462 h 825377"/>
              <a:gd name="connsiteX122" fmla="*/ 1452184 w 4010605"/>
              <a:gd name="connsiteY122" fmla="*/ 390124 h 825377"/>
              <a:gd name="connsiteX123" fmla="*/ 1526398 w 4010605"/>
              <a:gd name="connsiteY123" fmla="*/ 0 h 825377"/>
              <a:gd name="connsiteX124" fmla="*/ 1378973 w 4010605"/>
              <a:gd name="connsiteY124" fmla="*/ 0 h 825377"/>
              <a:gd name="connsiteX125" fmla="*/ 1252609 w 4010605"/>
              <a:gd name="connsiteY125" fmla="*/ 663912 h 825377"/>
              <a:gd name="connsiteX126" fmla="*/ 1400034 w 4010605"/>
              <a:gd name="connsiteY126" fmla="*/ 663912 h 825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4010605" h="825377">
                <a:moveTo>
                  <a:pt x="2101054" y="497433"/>
                </a:moveTo>
                <a:cubicBezTo>
                  <a:pt x="2102057" y="540557"/>
                  <a:pt x="2086010" y="582678"/>
                  <a:pt x="2054921" y="612765"/>
                </a:cubicBezTo>
                <a:cubicBezTo>
                  <a:pt x="2014805" y="652881"/>
                  <a:pt x="1948614" y="674944"/>
                  <a:pt x="1870389" y="673941"/>
                </a:cubicBezTo>
                <a:cubicBezTo>
                  <a:pt x="1814227" y="672938"/>
                  <a:pt x="1757062" y="658898"/>
                  <a:pt x="1723967" y="639843"/>
                </a:cubicBezTo>
                <a:lnTo>
                  <a:pt x="1745028" y="526517"/>
                </a:lnTo>
                <a:cubicBezTo>
                  <a:pt x="1788152" y="549583"/>
                  <a:pt x="1835288" y="563623"/>
                  <a:pt x="1884429" y="565629"/>
                </a:cubicBezTo>
                <a:cubicBezTo>
                  <a:pt x="1921536" y="565629"/>
                  <a:pt x="1945606" y="548580"/>
                  <a:pt x="1945606" y="521502"/>
                </a:cubicBezTo>
                <a:cubicBezTo>
                  <a:pt x="1945606" y="496430"/>
                  <a:pt x="1928557" y="479381"/>
                  <a:pt x="1883427" y="457317"/>
                </a:cubicBezTo>
                <a:cubicBezTo>
                  <a:pt x="1813224" y="422216"/>
                  <a:pt x="1778123" y="377086"/>
                  <a:pt x="1778123" y="324936"/>
                </a:cubicBezTo>
                <a:cubicBezTo>
                  <a:pt x="1778123" y="221638"/>
                  <a:pt x="1866377" y="151436"/>
                  <a:pt x="1998759" y="151436"/>
                </a:cubicBezTo>
                <a:cubicBezTo>
                  <a:pt x="2068961" y="151436"/>
                  <a:pt x="2114091" y="167482"/>
                  <a:pt x="2139163" y="184532"/>
                </a:cubicBezTo>
                <a:lnTo>
                  <a:pt x="2119106" y="297858"/>
                </a:lnTo>
                <a:cubicBezTo>
                  <a:pt x="2099048" y="282815"/>
                  <a:pt x="2047900" y="261754"/>
                  <a:pt x="1992741" y="261754"/>
                </a:cubicBezTo>
                <a:cubicBezTo>
                  <a:pt x="1954632" y="261754"/>
                  <a:pt x="1928557" y="277800"/>
                  <a:pt x="1928557" y="304878"/>
                </a:cubicBezTo>
                <a:cubicBezTo>
                  <a:pt x="1928557" y="323933"/>
                  <a:pt x="1947611" y="341985"/>
                  <a:pt x="1988730" y="361040"/>
                </a:cubicBezTo>
                <a:cubicBezTo>
                  <a:pt x="2041883" y="388118"/>
                  <a:pt x="2101054" y="427231"/>
                  <a:pt x="2101054" y="497433"/>
                </a:cubicBezTo>
                <a:close/>
                <a:moveTo>
                  <a:pt x="1184413" y="152439"/>
                </a:moveTo>
                <a:cubicBezTo>
                  <a:pt x="997875" y="152439"/>
                  <a:pt x="857471" y="288832"/>
                  <a:pt x="857471" y="469352"/>
                </a:cubicBezTo>
                <a:cubicBezTo>
                  <a:pt x="857471" y="593710"/>
                  <a:pt x="940710" y="674944"/>
                  <a:pt x="1069080" y="674944"/>
                </a:cubicBezTo>
                <a:cubicBezTo>
                  <a:pt x="1124239" y="674944"/>
                  <a:pt x="1177392" y="664915"/>
                  <a:pt x="1211491" y="647866"/>
                </a:cubicBezTo>
                <a:lnTo>
                  <a:pt x="1234557" y="523508"/>
                </a:lnTo>
                <a:cubicBezTo>
                  <a:pt x="1196447" y="544569"/>
                  <a:pt x="1153323" y="555600"/>
                  <a:pt x="1110199" y="555600"/>
                </a:cubicBezTo>
                <a:cubicBezTo>
                  <a:pt x="1063063" y="555600"/>
                  <a:pt x="1012918" y="528522"/>
                  <a:pt x="1012918" y="453306"/>
                </a:cubicBezTo>
                <a:cubicBezTo>
                  <a:pt x="1012918" y="364049"/>
                  <a:pt x="1076101" y="271783"/>
                  <a:pt x="1181404" y="271783"/>
                </a:cubicBezTo>
                <a:cubicBezTo>
                  <a:pt x="1210488" y="270780"/>
                  <a:pt x="1238569" y="277800"/>
                  <a:pt x="1263641" y="290838"/>
                </a:cubicBezTo>
                <a:lnTo>
                  <a:pt x="1286707" y="169488"/>
                </a:lnTo>
                <a:cubicBezTo>
                  <a:pt x="1254615" y="158456"/>
                  <a:pt x="1219514" y="152439"/>
                  <a:pt x="1184413" y="152439"/>
                </a:cubicBezTo>
                <a:lnTo>
                  <a:pt x="1184413" y="152439"/>
                </a:lnTo>
                <a:close/>
                <a:moveTo>
                  <a:pt x="3797943" y="558609"/>
                </a:moveTo>
                <a:cubicBezTo>
                  <a:pt x="3860122" y="558609"/>
                  <a:pt x="3920295" y="541560"/>
                  <a:pt x="3972445" y="509467"/>
                </a:cubicBezTo>
                <a:lnTo>
                  <a:pt x="3948376" y="634829"/>
                </a:lnTo>
                <a:cubicBezTo>
                  <a:pt x="3877171" y="670933"/>
                  <a:pt x="3793931" y="674944"/>
                  <a:pt x="3761839" y="674944"/>
                </a:cubicBezTo>
                <a:cubicBezTo>
                  <a:pt x="3623440" y="674944"/>
                  <a:pt x="3544212" y="597722"/>
                  <a:pt x="3544212" y="463335"/>
                </a:cubicBezTo>
                <a:cubicBezTo>
                  <a:pt x="3544212" y="385109"/>
                  <a:pt x="3572293" y="309893"/>
                  <a:pt x="3622437" y="250722"/>
                </a:cubicBezTo>
                <a:cubicBezTo>
                  <a:pt x="3675590" y="187540"/>
                  <a:pt x="3753815" y="151436"/>
                  <a:pt x="3836052" y="152439"/>
                </a:cubicBezTo>
                <a:cubicBezTo>
                  <a:pt x="3940353" y="152439"/>
                  <a:pt x="4010555" y="213615"/>
                  <a:pt x="4010555" y="303875"/>
                </a:cubicBezTo>
                <a:cubicBezTo>
                  <a:pt x="4011558" y="341985"/>
                  <a:pt x="3997518" y="379092"/>
                  <a:pt x="3970440" y="406170"/>
                </a:cubicBezTo>
                <a:cubicBezTo>
                  <a:pt x="3920295" y="455311"/>
                  <a:pt x="3796940" y="482390"/>
                  <a:pt x="3684616" y="460326"/>
                </a:cubicBezTo>
                <a:cubicBezTo>
                  <a:pt x="3680605" y="521502"/>
                  <a:pt x="3727741" y="558609"/>
                  <a:pt x="3797943" y="558609"/>
                </a:cubicBezTo>
                <a:lnTo>
                  <a:pt x="3797943" y="558609"/>
                </a:lnTo>
                <a:close/>
                <a:moveTo>
                  <a:pt x="3701665" y="362043"/>
                </a:moveTo>
                <a:cubicBezTo>
                  <a:pt x="3788917" y="363046"/>
                  <a:pt x="3838058" y="354020"/>
                  <a:pt x="3859119" y="332959"/>
                </a:cubicBezTo>
                <a:cubicBezTo>
                  <a:pt x="3882185" y="309893"/>
                  <a:pt x="3875165" y="260751"/>
                  <a:pt x="3818001" y="260751"/>
                </a:cubicBezTo>
                <a:cubicBezTo>
                  <a:pt x="3753815" y="260751"/>
                  <a:pt x="3713700" y="312901"/>
                  <a:pt x="3701665" y="362043"/>
                </a:cubicBezTo>
                <a:close/>
                <a:moveTo>
                  <a:pt x="3469998" y="152439"/>
                </a:moveTo>
                <a:cubicBezTo>
                  <a:pt x="3283460" y="152439"/>
                  <a:pt x="3143056" y="288832"/>
                  <a:pt x="3143056" y="469352"/>
                </a:cubicBezTo>
                <a:cubicBezTo>
                  <a:pt x="3143056" y="593710"/>
                  <a:pt x="3226296" y="674944"/>
                  <a:pt x="3354666" y="674944"/>
                </a:cubicBezTo>
                <a:cubicBezTo>
                  <a:pt x="3409824" y="674944"/>
                  <a:pt x="3462977" y="664915"/>
                  <a:pt x="3497076" y="647866"/>
                </a:cubicBezTo>
                <a:lnTo>
                  <a:pt x="3520142" y="523508"/>
                </a:lnTo>
                <a:cubicBezTo>
                  <a:pt x="3482033" y="544569"/>
                  <a:pt x="3438908" y="555600"/>
                  <a:pt x="3395784" y="555600"/>
                </a:cubicBezTo>
                <a:cubicBezTo>
                  <a:pt x="3348648" y="555600"/>
                  <a:pt x="3298504" y="528522"/>
                  <a:pt x="3298504" y="453306"/>
                </a:cubicBezTo>
                <a:cubicBezTo>
                  <a:pt x="3298504" y="364049"/>
                  <a:pt x="3361686" y="271783"/>
                  <a:pt x="3466989" y="271783"/>
                </a:cubicBezTo>
                <a:cubicBezTo>
                  <a:pt x="3496073" y="270780"/>
                  <a:pt x="3524154" y="277800"/>
                  <a:pt x="3549226" y="290838"/>
                </a:cubicBezTo>
                <a:lnTo>
                  <a:pt x="3572293" y="169488"/>
                </a:lnTo>
                <a:cubicBezTo>
                  <a:pt x="3540200" y="158456"/>
                  <a:pt x="3505099" y="152439"/>
                  <a:pt x="3469998" y="152439"/>
                </a:cubicBezTo>
                <a:close/>
                <a:moveTo>
                  <a:pt x="3117984" y="383104"/>
                </a:moveTo>
                <a:lnTo>
                  <a:pt x="3064830" y="663912"/>
                </a:lnTo>
                <a:lnTo>
                  <a:pt x="2922420" y="663912"/>
                </a:lnTo>
                <a:lnTo>
                  <a:pt x="2940472" y="567635"/>
                </a:lnTo>
                <a:cubicBezTo>
                  <a:pt x="2920414" y="627808"/>
                  <a:pt x="2872276" y="675947"/>
                  <a:pt x="2791041" y="675947"/>
                </a:cubicBezTo>
                <a:cubicBezTo>
                  <a:pt x="2691755" y="675947"/>
                  <a:pt x="2647628" y="588696"/>
                  <a:pt x="2647628" y="500441"/>
                </a:cubicBezTo>
                <a:cubicBezTo>
                  <a:pt x="2647628" y="401155"/>
                  <a:pt x="2686741" y="301870"/>
                  <a:pt x="2751929" y="236682"/>
                </a:cubicBezTo>
                <a:cubicBezTo>
                  <a:pt x="2806085" y="181523"/>
                  <a:pt x="2880299" y="151436"/>
                  <a:pt x="2957521" y="152439"/>
                </a:cubicBezTo>
                <a:cubicBezTo>
                  <a:pt x="3017695" y="152439"/>
                  <a:pt x="3062825" y="170491"/>
                  <a:pt x="3090906" y="203586"/>
                </a:cubicBezTo>
                <a:cubicBezTo>
                  <a:pt x="3132024" y="253731"/>
                  <a:pt x="3129015" y="328947"/>
                  <a:pt x="3117984" y="383104"/>
                </a:cubicBezTo>
                <a:close/>
                <a:moveTo>
                  <a:pt x="2981590" y="318919"/>
                </a:moveTo>
                <a:cubicBezTo>
                  <a:pt x="2979585" y="283818"/>
                  <a:pt x="2961533" y="264763"/>
                  <a:pt x="2928437" y="264763"/>
                </a:cubicBezTo>
                <a:cubicBezTo>
                  <a:pt x="2858235" y="264763"/>
                  <a:pt x="2798062" y="385109"/>
                  <a:pt x="2798062" y="469352"/>
                </a:cubicBezTo>
                <a:cubicBezTo>
                  <a:pt x="2798062" y="521502"/>
                  <a:pt x="2817117" y="554597"/>
                  <a:pt x="2851215" y="554597"/>
                </a:cubicBezTo>
                <a:cubicBezTo>
                  <a:pt x="2905371" y="554597"/>
                  <a:pt x="2951504" y="498436"/>
                  <a:pt x="2967550" y="415196"/>
                </a:cubicBezTo>
                <a:cubicBezTo>
                  <a:pt x="2973567" y="387115"/>
                  <a:pt x="2982593" y="340982"/>
                  <a:pt x="2981590" y="318919"/>
                </a:cubicBezTo>
                <a:lnTo>
                  <a:pt x="2981590" y="318919"/>
                </a:lnTo>
                <a:close/>
                <a:moveTo>
                  <a:pt x="832398" y="383104"/>
                </a:moveTo>
                <a:lnTo>
                  <a:pt x="779245" y="663912"/>
                </a:lnTo>
                <a:lnTo>
                  <a:pt x="636835" y="663912"/>
                </a:lnTo>
                <a:lnTo>
                  <a:pt x="654887" y="567635"/>
                </a:lnTo>
                <a:cubicBezTo>
                  <a:pt x="634829" y="627808"/>
                  <a:pt x="586690" y="675947"/>
                  <a:pt x="505456" y="675947"/>
                </a:cubicBezTo>
                <a:cubicBezTo>
                  <a:pt x="406170" y="675947"/>
                  <a:pt x="362043" y="588696"/>
                  <a:pt x="362043" y="500441"/>
                </a:cubicBezTo>
                <a:cubicBezTo>
                  <a:pt x="362043" y="401155"/>
                  <a:pt x="401156" y="301870"/>
                  <a:pt x="466344" y="236682"/>
                </a:cubicBezTo>
                <a:cubicBezTo>
                  <a:pt x="520500" y="181523"/>
                  <a:pt x="594713" y="151436"/>
                  <a:pt x="671936" y="152439"/>
                </a:cubicBezTo>
                <a:cubicBezTo>
                  <a:pt x="732109" y="152439"/>
                  <a:pt x="777239" y="170491"/>
                  <a:pt x="805320" y="203586"/>
                </a:cubicBezTo>
                <a:cubicBezTo>
                  <a:pt x="846439" y="253731"/>
                  <a:pt x="843430" y="328947"/>
                  <a:pt x="832398" y="383104"/>
                </a:cubicBezTo>
                <a:close/>
                <a:moveTo>
                  <a:pt x="696005" y="318919"/>
                </a:moveTo>
                <a:cubicBezTo>
                  <a:pt x="694000" y="283818"/>
                  <a:pt x="675948" y="264763"/>
                  <a:pt x="642852" y="264763"/>
                </a:cubicBezTo>
                <a:cubicBezTo>
                  <a:pt x="572650" y="264763"/>
                  <a:pt x="512477" y="385109"/>
                  <a:pt x="512477" y="469352"/>
                </a:cubicBezTo>
                <a:cubicBezTo>
                  <a:pt x="512477" y="521502"/>
                  <a:pt x="531531" y="554597"/>
                  <a:pt x="565630" y="554597"/>
                </a:cubicBezTo>
                <a:cubicBezTo>
                  <a:pt x="619786" y="554597"/>
                  <a:pt x="665919" y="498436"/>
                  <a:pt x="681965" y="415196"/>
                </a:cubicBezTo>
                <a:cubicBezTo>
                  <a:pt x="687982" y="387115"/>
                  <a:pt x="697008" y="340982"/>
                  <a:pt x="696005" y="318919"/>
                </a:cubicBezTo>
                <a:close/>
                <a:moveTo>
                  <a:pt x="2637600" y="342988"/>
                </a:moveTo>
                <a:cubicBezTo>
                  <a:pt x="2637600" y="465340"/>
                  <a:pt x="2579432" y="589699"/>
                  <a:pt x="2473126" y="645860"/>
                </a:cubicBezTo>
                <a:cubicBezTo>
                  <a:pt x="2440030" y="663912"/>
                  <a:pt x="2402923" y="674944"/>
                  <a:pt x="2364814" y="675947"/>
                </a:cubicBezTo>
                <a:cubicBezTo>
                  <a:pt x="2311660" y="675947"/>
                  <a:pt x="2282577" y="655889"/>
                  <a:pt x="2265527" y="625803"/>
                </a:cubicBezTo>
                <a:lnTo>
                  <a:pt x="2227418" y="825377"/>
                </a:lnTo>
                <a:lnTo>
                  <a:pt x="2078990" y="825377"/>
                </a:lnTo>
                <a:lnTo>
                  <a:pt x="2205354" y="161465"/>
                </a:lnTo>
                <a:lnTo>
                  <a:pt x="2336733" y="161465"/>
                </a:lnTo>
                <a:lnTo>
                  <a:pt x="2321689" y="241696"/>
                </a:lnTo>
                <a:cubicBezTo>
                  <a:pt x="2358796" y="187540"/>
                  <a:pt x="2413955" y="151436"/>
                  <a:pt x="2475131" y="151436"/>
                </a:cubicBezTo>
                <a:cubicBezTo>
                  <a:pt x="2573415" y="151436"/>
                  <a:pt x="2637600" y="226653"/>
                  <a:pt x="2637600" y="342988"/>
                </a:cubicBezTo>
                <a:lnTo>
                  <a:pt x="2637600" y="342988"/>
                </a:lnTo>
                <a:close/>
                <a:moveTo>
                  <a:pt x="2483155" y="354020"/>
                </a:moveTo>
                <a:cubicBezTo>
                  <a:pt x="2483155" y="329950"/>
                  <a:pt x="2477137" y="272786"/>
                  <a:pt x="2422981" y="272786"/>
                </a:cubicBezTo>
                <a:cubicBezTo>
                  <a:pt x="2367822" y="272786"/>
                  <a:pt x="2320686" y="335968"/>
                  <a:pt x="2302634" y="431242"/>
                </a:cubicBezTo>
                <a:cubicBezTo>
                  <a:pt x="2296617" y="464337"/>
                  <a:pt x="2278565" y="562621"/>
                  <a:pt x="2347765" y="562621"/>
                </a:cubicBezTo>
                <a:cubicBezTo>
                  <a:pt x="2425990" y="562621"/>
                  <a:pt x="2483155" y="451300"/>
                  <a:pt x="2483155" y="354020"/>
                </a:cubicBezTo>
                <a:lnTo>
                  <a:pt x="2483155" y="354020"/>
                </a:lnTo>
                <a:close/>
                <a:moveTo>
                  <a:pt x="207598" y="272786"/>
                </a:moveTo>
                <a:lnTo>
                  <a:pt x="228659" y="161465"/>
                </a:lnTo>
                <a:lnTo>
                  <a:pt x="97280" y="161465"/>
                </a:lnTo>
                <a:lnTo>
                  <a:pt x="0" y="672938"/>
                </a:lnTo>
                <a:lnTo>
                  <a:pt x="148428" y="672938"/>
                </a:lnTo>
                <a:lnTo>
                  <a:pt x="188543" y="461329"/>
                </a:lnTo>
                <a:cubicBezTo>
                  <a:pt x="212613" y="336971"/>
                  <a:pt x="283818" y="286826"/>
                  <a:pt x="385110" y="301870"/>
                </a:cubicBezTo>
                <a:lnTo>
                  <a:pt x="414193" y="149430"/>
                </a:lnTo>
                <a:cubicBezTo>
                  <a:pt x="326942" y="142410"/>
                  <a:pt x="242699" y="191552"/>
                  <a:pt x="207598" y="272786"/>
                </a:cubicBezTo>
                <a:close/>
                <a:moveTo>
                  <a:pt x="1400034" y="663912"/>
                </a:moveTo>
                <a:lnTo>
                  <a:pt x="1451181" y="394135"/>
                </a:lnTo>
                <a:lnTo>
                  <a:pt x="1556485" y="663912"/>
                </a:lnTo>
                <a:lnTo>
                  <a:pt x="1716947" y="663912"/>
                </a:lnTo>
                <a:lnTo>
                  <a:pt x="1607632" y="392130"/>
                </a:lnTo>
                <a:lnTo>
                  <a:pt x="1806204" y="160462"/>
                </a:lnTo>
                <a:lnTo>
                  <a:pt x="1643736" y="160462"/>
                </a:lnTo>
                <a:lnTo>
                  <a:pt x="1452184" y="390124"/>
                </a:lnTo>
                <a:lnTo>
                  <a:pt x="1526398" y="0"/>
                </a:lnTo>
                <a:lnTo>
                  <a:pt x="1378973" y="0"/>
                </a:lnTo>
                <a:lnTo>
                  <a:pt x="1252609" y="663912"/>
                </a:lnTo>
                <a:lnTo>
                  <a:pt x="1400034" y="663912"/>
                </a:lnTo>
                <a:close/>
              </a:path>
            </a:pathLst>
          </a:custGeom>
          <a:solidFill>
            <a:srgbClr val="FFFFFF"/>
          </a:solidFill>
          <a:ln w="10025" cap="flat">
            <a:noFill/>
            <a:prstDash val="solid"/>
            <a:miter/>
          </a:ln>
        </p:spPr>
        <p:txBody>
          <a:bodyPr rtlCol="0" anchor="ctr"/>
          <a:lstStyle/>
          <a:p>
            <a:endParaRPr lang="en-US" sz="675"/>
          </a:p>
        </p:txBody>
      </p:sp>
      <p:sp>
        <p:nvSpPr>
          <p:cNvPr id="7" name="Freeform 6">
            <a:extLst>
              <a:ext uri="{FF2B5EF4-FFF2-40B4-BE49-F238E27FC236}">
                <a16:creationId xmlns:a16="http://schemas.microsoft.com/office/drawing/2014/main" id="{483D6FC1-6DED-F743-BE26-C97D31C25E42}"/>
              </a:ext>
            </a:extLst>
          </p:cNvPr>
          <p:cNvSpPr/>
          <p:nvPr userDrawn="1"/>
        </p:nvSpPr>
        <p:spPr>
          <a:xfrm>
            <a:off x="6055046" y="3858246"/>
            <a:ext cx="2108417" cy="374161"/>
          </a:xfrm>
          <a:custGeom>
            <a:avLst/>
            <a:gdLst>
              <a:gd name="connsiteX0" fmla="*/ 1224528 w 2108417"/>
              <a:gd name="connsiteY0" fmla="*/ 152439 h 374161"/>
              <a:gd name="connsiteX1" fmla="*/ 1102176 w 2108417"/>
              <a:gd name="connsiteY1" fmla="*/ 286826 h 374161"/>
              <a:gd name="connsiteX2" fmla="*/ 1014924 w 2108417"/>
              <a:gd name="connsiteY2" fmla="*/ 198572 h 374161"/>
              <a:gd name="connsiteX3" fmla="*/ 1137277 w 2108417"/>
              <a:gd name="connsiteY3" fmla="*/ 64185 h 374161"/>
              <a:gd name="connsiteX4" fmla="*/ 1224528 w 2108417"/>
              <a:gd name="connsiteY4" fmla="*/ 152439 h 374161"/>
              <a:gd name="connsiteX5" fmla="*/ 1067075 w 2108417"/>
              <a:gd name="connsiteY5" fmla="*/ 198572 h 374161"/>
              <a:gd name="connsiteX6" fmla="*/ 1108193 w 2108417"/>
              <a:gd name="connsiteY6" fmla="*/ 248716 h 374161"/>
              <a:gd name="connsiteX7" fmla="*/ 1171375 w 2108417"/>
              <a:gd name="connsiteY7" fmla="*/ 153442 h 374161"/>
              <a:gd name="connsiteX8" fmla="*/ 1130256 w 2108417"/>
              <a:gd name="connsiteY8" fmla="*/ 104300 h 374161"/>
              <a:gd name="connsiteX9" fmla="*/ 1067075 w 2108417"/>
              <a:gd name="connsiteY9" fmla="*/ 198572 h 374161"/>
              <a:gd name="connsiteX10" fmla="*/ 1570525 w 2108417"/>
              <a:gd name="connsiteY10" fmla="*/ 152439 h 374161"/>
              <a:gd name="connsiteX11" fmla="*/ 1448173 w 2108417"/>
              <a:gd name="connsiteY11" fmla="*/ 286826 h 374161"/>
              <a:gd name="connsiteX12" fmla="*/ 1360921 w 2108417"/>
              <a:gd name="connsiteY12" fmla="*/ 198572 h 374161"/>
              <a:gd name="connsiteX13" fmla="*/ 1483274 w 2108417"/>
              <a:gd name="connsiteY13" fmla="*/ 64185 h 374161"/>
              <a:gd name="connsiteX14" fmla="*/ 1570525 w 2108417"/>
              <a:gd name="connsiteY14" fmla="*/ 152439 h 374161"/>
              <a:gd name="connsiteX15" fmla="*/ 1570525 w 2108417"/>
              <a:gd name="connsiteY15" fmla="*/ 152439 h 374161"/>
              <a:gd name="connsiteX16" fmla="*/ 1413071 w 2108417"/>
              <a:gd name="connsiteY16" fmla="*/ 198572 h 374161"/>
              <a:gd name="connsiteX17" fmla="*/ 1454190 w 2108417"/>
              <a:gd name="connsiteY17" fmla="*/ 248716 h 374161"/>
              <a:gd name="connsiteX18" fmla="*/ 1517372 w 2108417"/>
              <a:gd name="connsiteY18" fmla="*/ 153442 h 374161"/>
              <a:gd name="connsiteX19" fmla="*/ 1476253 w 2108417"/>
              <a:gd name="connsiteY19" fmla="*/ 104300 h 374161"/>
              <a:gd name="connsiteX20" fmla="*/ 1413071 w 2108417"/>
              <a:gd name="connsiteY20" fmla="*/ 198572 h 374161"/>
              <a:gd name="connsiteX21" fmla="*/ 1300748 w 2108417"/>
              <a:gd name="connsiteY21" fmla="*/ 0 h 374161"/>
              <a:gd name="connsiteX22" fmla="*/ 1246592 w 2108417"/>
              <a:gd name="connsiteY22" fmla="*/ 282815 h 374161"/>
              <a:gd name="connsiteX23" fmla="*/ 1297739 w 2108417"/>
              <a:gd name="connsiteY23" fmla="*/ 282815 h 374161"/>
              <a:gd name="connsiteX24" fmla="*/ 1351895 w 2108417"/>
              <a:gd name="connsiteY24" fmla="*/ 0 h 374161"/>
              <a:gd name="connsiteX25" fmla="*/ 1300748 w 2108417"/>
              <a:gd name="connsiteY25" fmla="*/ 0 h 374161"/>
              <a:gd name="connsiteX26" fmla="*/ 480384 w 2108417"/>
              <a:gd name="connsiteY26" fmla="*/ 65188 h 374161"/>
              <a:gd name="connsiteX27" fmla="*/ 344994 w 2108417"/>
              <a:gd name="connsiteY27" fmla="*/ 198572 h 374161"/>
              <a:gd name="connsiteX28" fmla="*/ 344994 w 2108417"/>
              <a:gd name="connsiteY28" fmla="*/ 202583 h 374161"/>
              <a:gd name="connsiteX29" fmla="*/ 431243 w 2108417"/>
              <a:gd name="connsiteY29" fmla="*/ 286826 h 374161"/>
              <a:gd name="connsiteX30" fmla="*/ 494425 w 2108417"/>
              <a:gd name="connsiteY30" fmla="*/ 273789 h 374161"/>
              <a:gd name="connsiteX31" fmla="*/ 502448 w 2108417"/>
              <a:gd name="connsiteY31" fmla="*/ 229662 h 374161"/>
              <a:gd name="connsiteX32" fmla="*/ 445283 w 2108417"/>
              <a:gd name="connsiteY32" fmla="*/ 245708 h 374161"/>
              <a:gd name="connsiteX33" fmla="*/ 398147 w 2108417"/>
              <a:gd name="connsiteY33" fmla="*/ 195563 h 374161"/>
              <a:gd name="connsiteX34" fmla="*/ 478378 w 2108417"/>
              <a:gd name="connsiteY34" fmla="*/ 106306 h 374161"/>
              <a:gd name="connsiteX35" fmla="*/ 517491 w 2108417"/>
              <a:gd name="connsiteY35" fmla="*/ 116335 h 374161"/>
              <a:gd name="connsiteX36" fmla="*/ 525514 w 2108417"/>
              <a:gd name="connsiteY36" fmla="*/ 74214 h 374161"/>
              <a:gd name="connsiteX37" fmla="*/ 480384 w 2108417"/>
              <a:gd name="connsiteY37" fmla="*/ 65188 h 374161"/>
              <a:gd name="connsiteX38" fmla="*/ 190549 w 2108417"/>
              <a:gd name="connsiteY38" fmla="*/ 225650 h 374161"/>
              <a:gd name="connsiteX39" fmla="*/ 184532 w 2108417"/>
              <a:gd name="connsiteY39" fmla="*/ 195563 h 374161"/>
              <a:gd name="connsiteX40" fmla="*/ 323933 w 2108417"/>
              <a:gd name="connsiteY40" fmla="*/ 125361 h 374161"/>
              <a:gd name="connsiteX41" fmla="*/ 255737 w 2108417"/>
              <a:gd name="connsiteY41" fmla="*/ 65188 h 374161"/>
              <a:gd name="connsiteX42" fmla="*/ 135390 w 2108417"/>
              <a:gd name="connsiteY42" fmla="*/ 199575 h 374161"/>
              <a:gd name="connsiteX43" fmla="*/ 222641 w 2108417"/>
              <a:gd name="connsiteY43" fmla="*/ 287829 h 374161"/>
              <a:gd name="connsiteX44" fmla="*/ 302873 w 2108417"/>
              <a:gd name="connsiteY44" fmla="*/ 267771 h 374161"/>
              <a:gd name="connsiteX45" fmla="*/ 311899 w 2108417"/>
              <a:gd name="connsiteY45" fmla="*/ 221638 h 374161"/>
              <a:gd name="connsiteX46" fmla="*/ 234676 w 2108417"/>
              <a:gd name="connsiteY46" fmla="*/ 246711 h 374161"/>
              <a:gd name="connsiteX47" fmla="*/ 190549 w 2108417"/>
              <a:gd name="connsiteY47" fmla="*/ 225650 h 374161"/>
              <a:gd name="connsiteX48" fmla="*/ 248717 w 2108417"/>
              <a:gd name="connsiteY48" fmla="*/ 103297 h 374161"/>
              <a:gd name="connsiteX49" fmla="*/ 275795 w 2108417"/>
              <a:gd name="connsiteY49" fmla="*/ 125361 h 374161"/>
              <a:gd name="connsiteX50" fmla="*/ 189546 w 2108417"/>
              <a:gd name="connsiteY50" fmla="*/ 157454 h 374161"/>
              <a:gd name="connsiteX51" fmla="*/ 248717 w 2108417"/>
              <a:gd name="connsiteY51" fmla="*/ 103297 h 374161"/>
              <a:gd name="connsiteX52" fmla="*/ 979823 w 2108417"/>
              <a:gd name="connsiteY52" fmla="*/ 123355 h 374161"/>
              <a:gd name="connsiteX53" fmla="*/ 925667 w 2108417"/>
              <a:gd name="connsiteY53" fmla="*/ 65188 h 374161"/>
              <a:gd name="connsiteX54" fmla="*/ 848444 w 2108417"/>
              <a:gd name="connsiteY54" fmla="*/ 109315 h 374161"/>
              <a:gd name="connsiteX55" fmla="*/ 856468 w 2108417"/>
              <a:gd name="connsiteY55" fmla="*/ 68196 h 374161"/>
              <a:gd name="connsiteX56" fmla="*/ 810335 w 2108417"/>
              <a:gd name="connsiteY56" fmla="*/ 68196 h 374161"/>
              <a:gd name="connsiteX57" fmla="*/ 769216 w 2108417"/>
              <a:gd name="connsiteY57" fmla="*/ 281812 h 374161"/>
              <a:gd name="connsiteX58" fmla="*/ 820364 w 2108417"/>
              <a:gd name="connsiteY58" fmla="*/ 281812 h 374161"/>
              <a:gd name="connsiteX59" fmla="*/ 839419 w 2108417"/>
              <a:gd name="connsiteY59" fmla="*/ 183529 h 374161"/>
              <a:gd name="connsiteX60" fmla="*/ 900595 w 2108417"/>
              <a:gd name="connsiteY60" fmla="*/ 105303 h 374161"/>
              <a:gd name="connsiteX61" fmla="*/ 927673 w 2108417"/>
              <a:gd name="connsiteY61" fmla="*/ 135390 h 374161"/>
              <a:gd name="connsiteX62" fmla="*/ 924664 w 2108417"/>
              <a:gd name="connsiteY62" fmla="*/ 160462 h 374161"/>
              <a:gd name="connsiteX63" fmla="*/ 901598 w 2108417"/>
              <a:gd name="connsiteY63" fmla="*/ 280809 h 374161"/>
              <a:gd name="connsiteX64" fmla="*/ 952745 w 2108417"/>
              <a:gd name="connsiteY64" fmla="*/ 280809 h 374161"/>
              <a:gd name="connsiteX65" fmla="*/ 976814 w 2108417"/>
              <a:gd name="connsiteY65" fmla="*/ 156451 h 374161"/>
              <a:gd name="connsiteX66" fmla="*/ 979823 w 2108417"/>
              <a:gd name="connsiteY66" fmla="*/ 123355 h 374161"/>
              <a:gd name="connsiteX67" fmla="*/ 979823 w 2108417"/>
              <a:gd name="connsiteY67" fmla="*/ 123355 h 374161"/>
              <a:gd name="connsiteX68" fmla="*/ 684974 w 2108417"/>
              <a:gd name="connsiteY68" fmla="*/ 65188 h 374161"/>
              <a:gd name="connsiteX69" fmla="*/ 613768 w 2108417"/>
              <a:gd name="connsiteY69" fmla="*/ 100289 h 374161"/>
              <a:gd name="connsiteX70" fmla="*/ 632823 w 2108417"/>
              <a:gd name="connsiteY70" fmla="*/ 0 h 374161"/>
              <a:gd name="connsiteX71" fmla="*/ 581676 w 2108417"/>
              <a:gd name="connsiteY71" fmla="*/ 0 h 374161"/>
              <a:gd name="connsiteX72" fmla="*/ 527520 w 2108417"/>
              <a:gd name="connsiteY72" fmla="*/ 282815 h 374161"/>
              <a:gd name="connsiteX73" fmla="*/ 578667 w 2108417"/>
              <a:gd name="connsiteY73" fmla="*/ 282815 h 374161"/>
              <a:gd name="connsiteX74" fmla="*/ 597722 w 2108417"/>
              <a:gd name="connsiteY74" fmla="*/ 184532 h 374161"/>
              <a:gd name="connsiteX75" fmla="*/ 658898 w 2108417"/>
              <a:gd name="connsiteY75" fmla="*/ 106306 h 374161"/>
              <a:gd name="connsiteX76" fmla="*/ 685977 w 2108417"/>
              <a:gd name="connsiteY76" fmla="*/ 136393 h 374161"/>
              <a:gd name="connsiteX77" fmla="*/ 682968 w 2108417"/>
              <a:gd name="connsiteY77" fmla="*/ 161465 h 374161"/>
              <a:gd name="connsiteX78" fmla="*/ 659901 w 2108417"/>
              <a:gd name="connsiteY78" fmla="*/ 281812 h 374161"/>
              <a:gd name="connsiteX79" fmla="*/ 711049 w 2108417"/>
              <a:gd name="connsiteY79" fmla="*/ 281812 h 374161"/>
              <a:gd name="connsiteX80" fmla="*/ 735118 w 2108417"/>
              <a:gd name="connsiteY80" fmla="*/ 157454 h 374161"/>
              <a:gd name="connsiteX81" fmla="*/ 739130 w 2108417"/>
              <a:gd name="connsiteY81" fmla="*/ 122352 h 374161"/>
              <a:gd name="connsiteX82" fmla="*/ 684974 w 2108417"/>
              <a:gd name="connsiteY82" fmla="*/ 65188 h 374161"/>
              <a:gd name="connsiteX83" fmla="*/ 95275 w 2108417"/>
              <a:gd name="connsiteY83" fmla="*/ 15043 h 374161"/>
              <a:gd name="connsiteX84" fmla="*/ 46133 w 2108417"/>
              <a:gd name="connsiteY84" fmla="*/ 15043 h 374161"/>
              <a:gd name="connsiteX85" fmla="*/ 35101 w 2108417"/>
              <a:gd name="connsiteY85" fmla="*/ 70202 h 374161"/>
              <a:gd name="connsiteX86" fmla="*/ 7020 w 2108417"/>
              <a:gd name="connsiteY86" fmla="*/ 70202 h 374161"/>
              <a:gd name="connsiteX87" fmla="*/ 0 w 2108417"/>
              <a:gd name="connsiteY87" fmla="*/ 109315 h 374161"/>
              <a:gd name="connsiteX88" fmla="*/ 28081 w 2108417"/>
              <a:gd name="connsiteY88" fmla="*/ 109315 h 374161"/>
              <a:gd name="connsiteX89" fmla="*/ 10029 w 2108417"/>
              <a:gd name="connsiteY89" fmla="*/ 204589 h 374161"/>
              <a:gd name="connsiteX90" fmla="*/ 6017 w 2108417"/>
              <a:gd name="connsiteY90" fmla="*/ 243702 h 374161"/>
              <a:gd name="connsiteX91" fmla="*/ 56162 w 2108417"/>
              <a:gd name="connsiteY91" fmla="*/ 287829 h 374161"/>
              <a:gd name="connsiteX92" fmla="*/ 89257 w 2108417"/>
              <a:gd name="connsiteY92" fmla="*/ 283817 h 374161"/>
              <a:gd name="connsiteX93" fmla="*/ 89257 w 2108417"/>
              <a:gd name="connsiteY93" fmla="*/ 283817 h 374161"/>
              <a:gd name="connsiteX94" fmla="*/ 97280 w 2108417"/>
              <a:gd name="connsiteY94" fmla="*/ 243702 h 374161"/>
              <a:gd name="connsiteX95" fmla="*/ 77222 w 2108417"/>
              <a:gd name="connsiteY95" fmla="*/ 245708 h 374161"/>
              <a:gd name="connsiteX96" fmla="*/ 58168 w 2108417"/>
              <a:gd name="connsiteY96" fmla="*/ 231667 h 374161"/>
              <a:gd name="connsiteX97" fmla="*/ 58168 w 2108417"/>
              <a:gd name="connsiteY97" fmla="*/ 226653 h 374161"/>
              <a:gd name="connsiteX98" fmla="*/ 62179 w 2108417"/>
              <a:gd name="connsiteY98" fmla="*/ 196566 h 374161"/>
              <a:gd name="connsiteX99" fmla="*/ 79228 w 2108417"/>
              <a:gd name="connsiteY99" fmla="*/ 111321 h 374161"/>
              <a:gd name="connsiteX100" fmla="*/ 126364 w 2108417"/>
              <a:gd name="connsiteY100" fmla="*/ 111321 h 374161"/>
              <a:gd name="connsiteX101" fmla="*/ 134387 w 2108417"/>
              <a:gd name="connsiteY101" fmla="*/ 72208 h 374161"/>
              <a:gd name="connsiteX102" fmla="*/ 87251 w 2108417"/>
              <a:gd name="connsiteY102" fmla="*/ 72208 h 374161"/>
              <a:gd name="connsiteX103" fmla="*/ 95275 w 2108417"/>
              <a:gd name="connsiteY103" fmla="*/ 15043 h 374161"/>
              <a:gd name="connsiteX104" fmla="*/ 1804198 w 2108417"/>
              <a:gd name="connsiteY104" fmla="*/ 362043 h 374161"/>
              <a:gd name="connsiteX105" fmla="*/ 1909502 w 2108417"/>
              <a:gd name="connsiteY105" fmla="*/ 321927 h 374161"/>
              <a:gd name="connsiteX106" fmla="*/ 1909502 w 2108417"/>
              <a:gd name="connsiteY106" fmla="*/ 321927 h 374161"/>
              <a:gd name="connsiteX107" fmla="*/ 2051912 w 2108417"/>
              <a:gd name="connsiteY107" fmla="*/ 68196 h 374161"/>
              <a:gd name="connsiteX108" fmla="*/ 1997756 w 2108417"/>
              <a:gd name="connsiteY108" fmla="*/ 68196 h 374161"/>
              <a:gd name="connsiteX109" fmla="*/ 1916522 w 2108417"/>
              <a:gd name="connsiteY109" fmla="*/ 226653 h 374161"/>
              <a:gd name="connsiteX110" fmla="*/ 1896464 w 2108417"/>
              <a:gd name="connsiteY110" fmla="*/ 68196 h 374161"/>
              <a:gd name="connsiteX111" fmla="*/ 1843311 w 2108417"/>
              <a:gd name="connsiteY111" fmla="*/ 68196 h 374161"/>
              <a:gd name="connsiteX112" fmla="*/ 1881421 w 2108417"/>
              <a:gd name="connsiteY112" fmla="*/ 276797 h 374161"/>
              <a:gd name="connsiteX113" fmla="*/ 1864372 w 2108417"/>
              <a:gd name="connsiteY113" fmla="*/ 309893 h 374161"/>
              <a:gd name="connsiteX114" fmla="*/ 1811218 w 2108417"/>
              <a:gd name="connsiteY114" fmla="*/ 319922 h 374161"/>
              <a:gd name="connsiteX115" fmla="*/ 1804198 w 2108417"/>
              <a:gd name="connsiteY115" fmla="*/ 362043 h 374161"/>
              <a:gd name="connsiteX116" fmla="*/ 1734999 w 2108417"/>
              <a:gd name="connsiteY116" fmla="*/ 65188 h 374161"/>
              <a:gd name="connsiteX117" fmla="*/ 1598606 w 2108417"/>
              <a:gd name="connsiteY117" fmla="*/ 212612 h 374161"/>
              <a:gd name="connsiteX118" fmla="*/ 1662791 w 2108417"/>
              <a:gd name="connsiteY118" fmla="*/ 287829 h 374161"/>
              <a:gd name="connsiteX119" fmla="*/ 1733996 w 2108417"/>
              <a:gd name="connsiteY119" fmla="*/ 249719 h 374161"/>
              <a:gd name="connsiteX120" fmla="*/ 1729985 w 2108417"/>
              <a:gd name="connsiteY120" fmla="*/ 268774 h 374161"/>
              <a:gd name="connsiteX121" fmla="*/ 1660785 w 2108417"/>
              <a:gd name="connsiteY121" fmla="*/ 333962 h 374161"/>
              <a:gd name="connsiteX122" fmla="*/ 1604623 w 2108417"/>
              <a:gd name="connsiteY122" fmla="*/ 320924 h 374161"/>
              <a:gd name="connsiteX123" fmla="*/ 1596600 w 2108417"/>
              <a:gd name="connsiteY123" fmla="*/ 362043 h 374161"/>
              <a:gd name="connsiteX124" fmla="*/ 1659782 w 2108417"/>
              <a:gd name="connsiteY124" fmla="*/ 374077 h 374161"/>
              <a:gd name="connsiteX125" fmla="*/ 1739011 w 2108417"/>
              <a:gd name="connsiteY125" fmla="*/ 350008 h 374161"/>
              <a:gd name="connsiteX126" fmla="*/ 1783138 w 2108417"/>
              <a:gd name="connsiteY126" fmla="*/ 255737 h 374161"/>
              <a:gd name="connsiteX127" fmla="*/ 1802192 w 2108417"/>
              <a:gd name="connsiteY127" fmla="*/ 159459 h 374161"/>
              <a:gd name="connsiteX128" fmla="*/ 1806204 w 2108417"/>
              <a:gd name="connsiteY128" fmla="*/ 122352 h 374161"/>
              <a:gd name="connsiteX129" fmla="*/ 1734999 w 2108417"/>
              <a:gd name="connsiteY129" fmla="*/ 65188 h 374161"/>
              <a:gd name="connsiteX130" fmla="*/ 1734999 w 2108417"/>
              <a:gd name="connsiteY130" fmla="*/ 65188 h 374161"/>
              <a:gd name="connsiteX131" fmla="*/ 1751045 w 2108417"/>
              <a:gd name="connsiteY131" fmla="*/ 156451 h 374161"/>
              <a:gd name="connsiteX132" fmla="*/ 1747034 w 2108417"/>
              <a:gd name="connsiteY132" fmla="*/ 176508 h 374161"/>
              <a:gd name="connsiteX133" fmla="*/ 1684855 w 2108417"/>
              <a:gd name="connsiteY133" fmla="*/ 246711 h 374161"/>
              <a:gd name="connsiteX134" fmla="*/ 1650756 w 2108417"/>
              <a:gd name="connsiteY134" fmla="*/ 203586 h 374161"/>
              <a:gd name="connsiteX135" fmla="*/ 1724970 w 2108417"/>
              <a:gd name="connsiteY135" fmla="*/ 104300 h 374161"/>
              <a:gd name="connsiteX136" fmla="*/ 1753051 w 2108417"/>
              <a:gd name="connsiteY136" fmla="*/ 126364 h 374161"/>
              <a:gd name="connsiteX137" fmla="*/ 1753051 w 2108417"/>
              <a:gd name="connsiteY137" fmla="*/ 131378 h 374161"/>
              <a:gd name="connsiteX138" fmla="*/ 1751045 w 2108417"/>
              <a:gd name="connsiteY138" fmla="*/ 156451 h 374161"/>
              <a:gd name="connsiteX139" fmla="*/ 2108074 w 2108417"/>
              <a:gd name="connsiteY139" fmla="*/ 238687 h 374161"/>
              <a:gd name="connsiteX140" fmla="*/ 2069964 w 2108417"/>
              <a:gd name="connsiteY140" fmla="*/ 190549 h 374161"/>
              <a:gd name="connsiteX141" fmla="*/ 2063947 w 2108417"/>
              <a:gd name="connsiteY141" fmla="*/ 190549 h 374161"/>
              <a:gd name="connsiteX142" fmla="*/ 2010794 w 2108417"/>
              <a:gd name="connsiteY142" fmla="*/ 239690 h 374161"/>
              <a:gd name="connsiteX143" fmla="*/ 2048903 w 2108417"/>
              <a:gd name="connsiteY143" fmla="*/ 287829 h 374161"/>
              <a:gd name="connsiteX144" fmla="*/ 2054921 w 2108417"/>
              <a:gd name="connsiteY144" fmla="*/ 287829 h 374161"/>
              <a:gd name="connsiteX145" fmla="*/ 2108074 w 2108417"/>
              <a:gd name="connsiteY145" fmla="*/ 238687 h 374161"/>
              <a:gd name="connsiteX146" fmla="*/ 2101054 w 2108417"/>
              <a:gd name="connsiteY146" fmla="*/ 238687 h 374161"/>
              <a:gd name="connsiteX147" fmla="*/ 2054921 w 2108417"/>
              <a:gd name="connsiteY147" fmla="*/ 280809 h 374161"/>
              <a:gd name="connsiteX148" fmla="*/ 2016811 w 2108417"/>
              <a:gd name="connsiteY148" fmla="*/ 244705 h 374161"/>
              <a:gd name="connsiteX149" fmla="*/ 2016811 w 2108417"/>
              <a:gd name="connsiteY149" fmla="*/ 239690 h 374161"/>
              <a:gd name="connsiteX150" fmla="*/ 2062944 w 2108417"/>
              <a:gd name="connsiteY150" fmla="*/ 197569 h 374161"/>
              <a:gd name="connsiteX151" fmla="*/ 2101054 w 2108417"/>
              <a:gd name="connsiteY151" fmla="*/ 233673 h 374161"/>
              <a:gd name="connsiteX152" fmla="*/ 2101054 w 2108417"/>
              <a:gd name="connsiteY152" fmla="*/ 238687 h 374161"/>
              <a:gd name="connsiteX153" fmla="*/ 2066955 w 2108417"/>
              <a:gd name="connsiteY153" fmla="*/ 244705 h 374161"/>
              <a:gd name="connsiteX154" fmla="*/ 2074979 w 2108417"/>
              <a:gd name="connsiteY154" fmla="*/ 267771 h 374161"/>
              <a:gd name="connsiteX155" fmla="*/ 2066955 w 2108417"/>
              <a:gd name="connsiteY155" fmla="*/ 267771 h 374161"/>
              <a:gd name="connsiteX156" fmla="*/ 2058932 w 2108417"/>
              <a:gd name="connsiteY156" fmla="*/ 245708 h 374161"/>
              <a:gd name="connsiteX157" fmla="*/ 2047900 w 2108417"/>
              <a:gd name="connsiteY157" fmla="*/ 245708 h 374161"/>
              <a:gd name="connsiteX158" fmla="*/ 2043889 w 2108417"/>
              <a:gd name="connsiteY158" fmla="*/ 267771 h 374161"/>
              <a:gd name="connsiteX159" fmla="*/ 2036869 w 2108417"/>
              <a:gd name="connsiteY159" fmla="*/ 267771 h 374161"/>
              <a:gd name="connsiteX160" fmla="*/ 2047900 w 2108417"/>
              <a:gd name="connsiteY160" fmla="*/ 210607 h 374161"/>
              <a:gd name="connsiteX161" fmla="*/ 2066955 w 2108417"/>
              <a:gd name="connsiteY161" fmla="*/ 210607 h 374161"/>
              <a:gd name="connsiteX162" fmla="*/ 2081999 w 2108417"/>
              <a:gd name="connsiteY162" fmla="*/ 224647 h 374161"/>
              <a:gd name="connsiteX163" fmla="*/ 2081999 w 2108417"/>
              <a:gd name="connsiteY163" fmla="*/ 224647 h 374161"/>
              <a:gd name="connsiteX164" fmla="*/ 2066955 w 2108417"/>
              <a:gd name="connsiteY164" fmla="*/ 244705 h 374161"/>
              <a:gd name="connsiteX165" fmla="*/ 2066955 w 2108417"/>
              <a:gd name="connsiteY165" fmla="*/ 244705 h 374161"/>
              <a:gd name="connsiteX166" fmla="*/ 2066955 w 2108417"/>
              <a:gd name="connsiteY166" fmla="*/ 216624 h 374161"/>
              <a:gd name="connsiteX167" fmla="*/ 2053918 w 2108417"/>
              <a:gd name="connsiteY167" fmla="*/ 216624 h 374161"/>
              <a:gd name="connsiteX168" fmla="*/ 2049906 w 2108417"/>
              <a:gd name="connsiteY168" fmla="*/ 237685 h 374161"/>
              <a:gd name="connsiteX169" fmla="*/ 2061941 w 2108417"/>
              <a:gd name="connsiteY169" fmla="*/ 237685 h 374161"/>
              <a:gd name="connsiteX170" fmla="*/ 2074979 w 2108417"/>
              <a:gd name="connsiteY170" fmla="*/ 226653 h 374161"/>
              <a:gd name="connsiteX171" fmla="*/ 2068961 w 2108417"/>
              <a:gd name="connsiteY171" fmla="*/ 216624 h 374161"/>
              <a:gd name="connsiteX172" fmla="*/ 2066955 w 2108417"/>
              <a:gd name="connsiteY172" fmla="*/ 216624 h 374161"/>
              <a:gd name="connsiteX173" fmla="*/ 2066955 w 2108417"/>
              <a:gd name="connsiteY173" fmla="*/ 216624 h 374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2108417" h="374161">
                <a:moveTo>
                  <a:pt x="1224528" y="152439"/>
                </a:moveTo>
                <a:cubicBezTo>
                  <a:pt x="1224528" y="224647"/>
                  <a:pt x="1174384" y="286826"/>
                  <a:pt x="1102176" y="286826"/>
                </a:cubicBezTo>
                <a:cubicBezTo>
                  <a:pt x="1048020" y="286826"/>
                  <a:pt x="1014924" y="249719"/>
                  <a:pt x="1014924" y="198572"/>
                </a:cubicBezTo>
                <a:cubicBezTo>
                  <a:pt x="1014924" y="126364"/>
                  <a:pt x="1065069" y="64185"/>
                  <a:pt x="1137277" y="64185"/>
                </a:cubicBezTo>
                <a:cubicBezTo>
                  <a:pt x="1194441" y="65188"/>
                  <a:pt x="1224528" y="106306"/>
                  <a:pt x="1224528" y="152439"/>
                </a:cubicBezTo>
                <a:close/>
                <a:moveTo>
                  <a:pt x="1067075" y="198572"/>
                </a:moveTo>
                <a:cubicBezTo>
                  <a:pt x="1067075" y="227656"/>
                  <a:pt x="1082118" y="248716"/>
                  <a:pt x="1108193" y="248716"/>
                </a:cubicBezTo>
                <a:cubicBezTo>
                  <a:pt x="1146303" y="248716"/>
                  <a:pt x="1171375" y="196566"/>
                  <a:pt x="1171375" y="153442"/>
                </a:cubicBezTo>
                <a:cubicBezTo>
                  <a:pt x="1171375" y="131378"/>
                  <a:pt x="1161346" y="104300"/>
                  <a:pt x="1130256" y="104300"/>
                </a:cubicBezTo>
                <a:cubicBezTo>
                  <a:pt x="1091144" y="104300"/>
                  <a:pt x="1067075" y="158456"/>
                  <a:pt x="1067075" y="198572"/>
                </a:cubicBezTo>
                <a:close/>
                <a:moveTo>
                  <a:pt x="1570525" y="152439"/>
                </a:moveTo>
                <a:cubicBezTo>
                  <a:pt x="1570525" y="224647"/>
                  <a:pt x="1520380" y="286826"/>
                  <a:pt x="1448173" y="286826"/>
                </a:cubicBezTo>
                <a:cubicBezTo>
                  <a:pt x="1394017" y="286826"/>
                  <a:pt x="1360921" y="249719"/>
                  <a:pt x="1360921" y="198572"/>
                </a:cubicBezTo>
                <a:cubicBezTo>
                  <a:pt x="1360921" y="126364"/>
                  <a:pt x="1411066" y="64185"/>
                  <a:pt x="1483274" y="64185"/>
                </a:cubicBezTo>
                <a:cubicBezTo>
                  <a:pt x="1541441" y="65188"/>
                  <a:pt x="1570525" y="106306"/>
                  <a:pt x="1570525" y="152439"/>
                </a:cubicBezTo>
                <a:lnTo>
                  <a:pt x="1570525" y="152439"/>
                </a:lnTo>
                <a:close/>
                <a:moveTo>
                  <a:pt x="1413071" y="198572"/>
                </a:moveTo>
                <a:cubicBezTo>
                  <a:pt x="1413071" y="227656"/>
                  <a:pt x="1428115" y="248716"/>
                  <a:pt x="1454190" y="248716"/>
                </a:cubicBezTo>
                <a:cubicBezTo>
                  <a:pt x="1492300" y="248716"/>
                  <a:pt x="1517372" y="196566"/>
                  <a:pt x="1517372" y="153442"/>
                </a:cubicBezTo>
                <a:cubicBezTo>
                  <a:pt x="1517372" y="131378"/>
                  <a:pt x="1507343" y="104300"/>
                  <a:pt x="1476253" y="104300"/>
                </a:cubicBezTo>
                <a:cubicBezTo>
                  <a:pt x="1437141" y="104300"/>
                  <a:pt x="1413071" y="158456"/>
                  <a:pt x="1413071" y="198572"/>
                </a:cubicBezTo>
                <a:close/>
                <a:moveTo>
                  <a:pt x="1300748" y="0"/>
                </a:moveTo>
                <a:lnTo>
                  <a:pt x="1246592" y="282815"/>
                </a:lnTo>
                <a:lnTo>
                  <a:pt x="1297739" y="282815"/>
                </a:lnTo>
                <a:lnTo>
                  <a:pt x="1351895" y="0"/>
                </a:lnTo>
                <a:lnTo>
                  <a:pt x="1300748" y="0"/>
                </a:lnTo>
                <a:close/>
                <a:moveTo>
                  <a:pt x="480384" y="65188"/>
                </a:moveTo>
                <a:cubicBezTo>
                  <a:pt x="406170" y="64185"/>
                  <a:pt x="345997" y="124358"/>
                  <a:pt x="344994" y="198572"/>
                </a:cubicBezTo>
                <a:cubicBezTo>
                  <a:pt x="344994" y="199575"/>
                  <a:pt x="344994" y="200578"/>
                  <a:pt x="344994" y="202583"/>
                </a:cubicBezTo>
                <a:cubicBezTo>
                  <a:pt x="344994" y="253731"/>
                  <a:pt x="378089" y="286826"/>
                  <a:pt x="431243" y="286826"/>
                </a:cubicBezTo>
                <a:cubicBezTo>
                  <a:pt x="453306" y="286826"/>
                  <a:pt x="474367" y="282815"/>
                  <a:pt x="494425" y="273789"/>
                </a:cubicBezTo>
                <a:lnTo>
                  <a:pt x="502448" y="229662"/>
                </a:lnTo>
                <a:cubicBezTo>
                  <a:pt x="485399" y="239690"/>
                  <a:pt x="465341" y="245708"/>
                  <a:pt x="445283" y="245708"/>
                </a:cubicBezTo>
                <a:cubicBezTo>
                  <a:pt x="417202" y="245708"/>
                  <a:pt x="398147" y="227656"/>
                  <a:pt x="398147" y="195563"/>
                </a:cubicBezTo>
                <a:cubicBezTo>
                  <a:pt x="398147" y="151436"/>
                  <a:pt x="429237" y="106306"/>
                  <a:pt x="478378" y="106306"/>
                </a:cubicBezTo>
                <a:cubicBezTo>
                  <a:pt x="492419" y="106306"/>
                  <a:pt x="505456" y="109315"/>
                  <a:pt x="517491" y="116335"/>
                </a:cubicBezTo>
                <a:lnTo>
                  <a:pt x="525514" y="74214"/>
                </a:lnTo>
                <a:cubicBezTo>
                  <a:pt x="511474" y="68196"/>
                  <a:pt x="496430" y="65188"/>
                  <a:pt x="480384" y="65188"/>
                </a:cubicBezTo>
                <a:close/>
                <a:moveTo>
                  <a:pt x="190549" y="225650"/>
                </a:moveTo>
                <a:cubicBezTo>
                  <a:pt x="185535" y="216624"/>
                  <a:pt x="184532" y="205592"/>
                  <a:pt x="184532" y="195563"/>
                </a:cubicBezTo>
                <a:cubicBezTo>
                  <a:pt x="266769" y="197569"/>
                  <a:pt x="323933" y="179517"/>
                  <a:pt x="323933" y="125361"/>
                </a:cubicBezTo>
                <a:cubicBezTo>
                  <a:pt x="323933" y="89257"/>
                  <a:pt x="296855" y="65188"/>
                  <a:pt x="255737" y="65188"/>
                </a:cubicBezTo>
                <a:cubicBezTo>
                  <a:pt x="182526" y="65188"/>
                  <a:pt x="135390" y="135390"/>
                  <a:pt x="135390" y="199575"/>
                </a:cubicBezTo>
                <a:cubicBezTo>
                  <a:pt x="135390" y="251725"/>
                  <a:pt x="163471" y="287829"/>
                  <a:pt x="222641" y="287829"/>
                </a:cubicBezTo>
                <a:cubicBezTo>
                  <a:pt x="250722" y="287829"/>
                  <a:pt x="278803" y="280809"/>
                  <a:pt x="302873" y="267771"/>
                </a:cubicBezTo>
                <a:lnTo>
                  <a:pt x="311899" y="221638"/>
                </a:lnTo>
                <a:cubicBezTo>
                  <a:pt x="289835" y="238687"/>
                  <a:pt x="262757" y="247713"/>
                  <a:pt x="234676" y="246711"/>
                </a:cubicBezTo>
                <a:cubicBezTo>
                  <a:pt x="216624" y="248716"/>
                  <a:pt x="199575" y="240693"/>
                  <a:pt x="190549" y="225650"/>
                </a:cubicBezTo>
                <a:close/>
                <a:moveTo>
                  <a:pt x="248717" y="103297"/>
                </a:moveTo>
                <a:cubicBezTo>
                  <a:pt x="264763" y="103297"/>
                  <a:pt x="275795" y="111321"/>
                  <a:pt x="275795" y="125361"/>
                </a:cubicBezTo>
                <a:cubicBezTo>
                  <a:pt x="275795" y="151436"/>
                  <a:pt x="241696" y="158456"/>
                  <a:pt x="189546" y="157454"/>
                </a:cubicBezTo>
                <a:cubicBezTo>
                  <a:pt x="195563" y="131378"/>
                  <a:pt x="216624" y="103297"/>
                  <a:pt x="248717" y="103297"/>
                </a:cubicBezTo>
                <a:close/>
                <a:moveTo>
                  <a:pt x="979823" y="123355"/>
                </a:moveTo>
                <a:cubicBezTo>
                  <a:pt x="979823" y="83240"/>
                  <a:pt x="955754" y="65188"/>
                  <a:pt x="925667" y="65188"/>
                </a:cubicBezTo>
                <a:cubicBezTo>
                  <a:pt x="893574" y="65188"/>
                  <a:pt x="864491" y="82237"/>
                  <a:pt x="848444" y="109315"/>
                </a:cubicBezTo>
                <a:lnTo>
                  <a:pt x="856468" y="68196"/>
                </a:lnTo>
                <a:lnTo>
                  <a:pt x="810335" y="68196"/>
                </a:lnTo>
                <a:lnTo>
                  <a:pt x="769216" y="281812"/>
                </a:lnTo>
                <a:lnTo>
                  <a:pt x="820364" y="281812"/>
                </a:lnTo>
                <a:lnTo>
                  <a:pt x="839419" y="183529"/>
                </a:lnTo>
                <a:cubicBezTo>
                  <a:pt x="848444" y="133384"/>
                  <a:pt x="877528" y="105303"/>
                  <a:pt x="900595" y="105303"/>
                </a:cubicBezTo>
                <a:cubicBezTo>
                  <a:pt x="920653" y="105303"/>
                  <a:pt x="927673" y="118341"/>
                  <a:pt x="927673" y="135390"/>
                </a:cubicBezTo>
                <a:cubicBezTo>
                  <a:pt x="927673" y="143413"/>
                  <a:pt x="926670" y="152439"/>
                  <a:pt x="924664" y="160462"/>
                </a:cubicBezTo>
                <a:lnTo>
                  <a:pt x="901598" y="280809"/>
                </a:lnTo>
                <a:lnTo>
                  <a:pt x="952745" y="280809"/>
                </a:lnTo>
                <a:lnTo>
                  <a:pt x="976814" y="156451"/>
                </a:lnTo>
                <a:cubicBezTo>
                  <a:pt x="978820" y="147425"/>
                  <a:pt x="979823" y="135390"/>
                  <a:pt x="979823" y="123355"/>
                </a:cubicBezTo>
                <a:lnTo>
                  <a:pt x="979823" y="123355"/>
                </a:lnTo>
                <a:close/>
                <a:moveTo>
                  <a:pt x="684974" y="65188"/>
                </a:moveTo>
                <a:cubicBezTo>
                  <a:pt x="656893" y="65188"/>
                  <a:pt x="630818" y="78225"/>
                  <a:pt x="613768" y="100289"/>
                </a:cubicBezTo>
                <a:lnTo>
                  <a:pt x="632823" y="0"/>
                </a:lnTo>
                <a:lnTo>
                  <a:pt x="581676" y="0"/>
                </a:lnTo>
                <a:lnTo>
                  <a:pt x="527520" y="282815"/>
                </a:lnTo>
                <a:lnTo>
                  <a:pt x="578667" y="282815"/>
                </a:lnTo>
                <a:lnTo>
                  <a:pt x="597722" y="184532"/>
                </a:lnTo>
                <a:cubicBezTo>
                  <a:pt x="606748" y="134387"/>
                  <a:pt x="635832" y="106306"/>
                  <a:pt x="658898" y="106306"/>
                </a:cubicBezTo>
                <a:cubicBezTo>
                  <a:pt x="678956" y="106306"/>
                  <a:pt x="685977" y="119344"/>
                  <a:pt x="685977" y="136393"/>
                </a:cubicBezTo>
                <a:cubicBezTo>
                  <a:pt x="685977" y="144416"/>
                  <a:pt x="684974" y="153442"/>
                  <a:pt x="682968" y="161465"/>
                </a:cubicBezTo>
                <a:lnTo>
                  <a:pt x="659901" y="281812"/>
                </a:lnTo>
                <a:lnTo>
                  <a:pt x="711049" y="281812"/>
                </a:lnTo>
                <a:lnTo>
                  <a:pt x="735118" y="157454"/>
                </a:lnTo>
                <a:cubicBezTo>
                  <a:pt x="737124" y="145419"/>
                  <a:pt x="739130" y="134387"/>
                  <a:pt x="739130" y="122352"/>
                </a:cubicBezTo>
                <a:cubicBezTo>
                  <a:pt x="739130" y="83240"/>
                  <a:pt x="716063" y="65188"/>
                  <a:pt x="684974" y="65188"/>
                </a:cubicBezTo>
                <a:close/>
                <a:moveTo>
                  <a:pt x="95275" y="15043"/>
                </a:moveTo>
                <a:lnTo>
                  <a:pt x="46133" y="15043"/>
                </a:lnTo>
                <a:lnTo>
                  <a:pt x="35101" y="70202"/>
                </a:lnTo>
                <a:lnTo>
                  <a:pt x="7020" y="70202"/>
                </a:lnTo>
                <a:lnTo>
                  <a:pt x="0" y="109315"/>
                </a:lnTo>
                <a:lnTo>
                  <a:pt x="28081" y="109315"/>
                </a:lnTo>
                <a:lnTo>
                  <a:pt x="10029" y="204589"/>
                </a:lnTo>
                <a:cubicBezTo>
                  <a:pt x="7020" y="217627"/>
                  <a:pt x="6017" y="230664"/>
                  <a:pt x="6017" y="243702"/>
                </a:cubicBezTo>
                <a:cubicBezTo>
                  <a:pt x="6017" y="267771"/>
                  <a:pt x="21061" y="287829"/>
                  <a:pt x="56162" y="287829"/>
                </a:cubicBezTo>
                <a:cubicBezTo>
                  <a:pt x="67194" y="287829"/>
                  <a:pt x="78225" y="286826"/>
                  <a:pt x="89257" y="283817"/>
                </a:cubicBezTo>
                <a:lnTo>
                  <a:pt x="89257" y="283817"/>
                </a:lnTo>
                <a:lnTo>
                  <a:pt x="97280" y="243702"/>
                </a:lnTo>
                <a:cubicBezTo>
                  <a:pt x="90260" y="244705"/>
                  <a:pt x="84243" y="245708"/>
                  <a:pt x="77222" y="245708"/>
                </a:cubicBezTo>
                <a:cubicBezTo>
                  <a:pt x="68197" y="246711"/>
                  <a:pt x="59171" y="240693"/>
                  <a:pt x="58168" y="231667"/>
                </a:cubicBezTo>
                <a:cubicBezTo>
                  <a:pt x="58168" y="229662"/>
                  <a:pt x="58168" y="228659"/>
                  <a:pt x="58168" y="226653"/>
                </a:cubicBezTo>
                <a:cubicBezTo>
                  <a:pt x="58168" y="216624"/>
                  <a:pt x="60173" y="206595"/>
                  <a:pt x="62179" y="196566"/>
                </a:cubicBezTo>
                <a:lnTo>
                  <a:pt x="79228" y="111321"/>
                </a:lnTo>
                <a:lnTo>
                  <a:pt x="126364" y="111321"/>
                </a:lnTo>
                <a:lnTo>
                  <a:pt x="134387" y="72208"/>
                </a:lnTo>
                <a:lnTo>
                  <a:pt x="87251" y="72208"/>
                </a:lnTo>
                <a:lnTo>
                  <a:pt x="95275" y="15043"/>
                </a:lnTo>
                <a:close/>
                <a:moveTo>
                  <a:pt x="1804198" y="362043"/>
                </a:moveTo>
                <a:cubicBezTo>
                  <a:pt x="1843311" y="380095"/>
                  <a:pt x="1881421" y="372072"/>
                  <a:pt x="1909502" y="321927"/>
                </a:cubicBezTo>
                <a:lnTo>
                  <a:pt x="1909502" y="321927"/>
                </a:lnTo>
                <a:lnTo>
                  <a:pt x="2051912" y="68196"/>
                </a:lnTo>
                <a:lnTo>
                  <a:pt x="1997756" y="68196"/>
                </a:lnTo>
                <a:lnTo>
                  <a:pt x="1916522" y="226653"/>
                </a:lnTo>
                <a:lnTo>
                  <a:pt x="1896464" y="68196"/>
                </a:lnTo>
                <a:lnTo>
                  <a:pt x="1843311" y="68196"/>
                </a:lnTo>
                <a:lnTo>
                  <a:pt x="1881421" y="276797"/>
                </a:lnTo>
                <a:lnTo>
                  <a:pt x="1864372" y="309893"/>
                </a:lnTo>
                <a:cubicBezTo>
                  <a:pt x="1849328" y="334965"/>
                  <a:pt x="1823253" y="326942"/>
                  <a:pt x="1811218" y="319922"/>
                </a:cubicBezTo>
                <a:lnTo>
                  <a:pt x="1804198" y="362043"/>
                </a:lnTo>
                <a:close/>
                <a:moveTo>
                  <a:pt x="1734999" y="65188"/>
                </a:moveTo>
                <a:cubicBezTo>
                  <a:pt x="1644739" y="65188"/>
                  <a:pt x="1598606" y="145419"/>
                  <a:pt x="1598606" y="212612"/>
                </a:cubicBezTo>
                <a:cubicBezTo>
                  <a:pt x="1598606" y="250722"/>
                  <a:pt x="1617661" y="287829"/>
                  <a:pt x="1662791" y="287829"/>
                </a:cubicBezTo>
                <a:cubicBezTo>
                  <a:pt x="1690872" y="287829"/>
                  <a:pt x="1717950" y="273789"/>
                  <a:pt x="1733996" y="249719"/>
                </a:cubicBezTo>
                <a:lnTo>
                  <a:pt x="1729985" y="268774"/>
                </a:lnTo>
                <a:cubicBezTo>
                  <a:pt x="1719956" y="317916"/>
                  <a:pt x="1693881" y="333962"/>
                  <a:pt x="1660785" y="333962"/>
                </a:cubicBezTo>
                <a:cubicBezTo>
                  <a:pt x="1641730" y="333962"/>
                  <a:pt x="1622675" y="329950"/>
                  <a:pt x="1604623" y="320924"/>
                </a:cubicBezTo>
                <a:lnTo>
                  <a:pt x="1596600" y="362043"/>
                </a:lnTo>
                <a:cubicBezTo>
                  <a:pt x="1616658" y="370066"/>
                  <a:pt x="1637719" y="374077"/>
                  <a:pt x="1659782" y="374077"/>
                </a:cubicBezTo>
                <a:cubicBezTo>
                  <a:pt x="1687863" y="375080"/>
                  <a:pt x="1715944" y="367057"/>
                  <a:pt x="1739011" y="350008"/>
                </a:cubicBezTo>
                <a:cubicBezTo>
                  <a:pt x="1763080" y="329950"/>
                  <a:pt x="1775115" y="296855"/>
                  <a:pt x="1783138" y="255737"/>
                </a:cubicBezTo>
                <a:lnTo>
                  <a:pt x="1802192" y="159459"/>
                </a:lnTo>
                <a:cubicBezTo>
                  <a:pt x="1805201" y="147425"/>
                  <a:pt x="1806204" y="135390"/>
                  <a:pt x="1806204" y="122352"/>
                </a:cubicBezTo>
                <a:cubicBezTo>
                  <a:pt x="1806204" y="84243"/>
                  <a:pt x="1779126" y="65188"/>
                  <a:pt x="1734999" y="65188"/>
                </a:cubicBezTo>
                <a:lnTo>
                  <a:pt x="1734999" y="65188"/>
                </a:lnTo>
                <a:close/>
                <a:moveTo>
                  <a:pt x="1751045" y="156451"/>
                </a:moveTo>
                <a:lnTo>
                  <a:pt x="1747034" y="176508"/>
                </a:lnTo>
                <a:cubicBezTo>
                  <a:pt x="1738008" y="219633"/>
                  <a:pt x="1710929" y="246711"/>
                  <a:pt x="1684855" y="246711"/>
                </a:cubicBezTo>
                <a:cubicBezTo>
                  <a:pt x="1660785" y="246711"/>
                  <a:pt x="1650756" y="226653"/>
                  <a:pt x="1650756" y="203586"/>
                </a:cubicBezTo>
                <a:cubicBezTo>
                  <a:pt x="1650756" y="161465"/>
                  <a:pt x="1679840" y="104300"/>
                  <a:pt x="1724970" y="104300"/>
                </a:cubicBezTo>
                <a:cubicBezTo>
                  <a:pt x="1739011" y="102295"/>
                  <a:pt x="1752048" y="112324"/>
                  <a:pt x="1753051" y="126364"/>
                </a:cubicBezTo>
                <a:cubicBezTo>
                  <a:pt x="1753051" y="128370"/>
                  <a:pt x="1753051" y="129373"/>
                  <a:pt x="1753051" y="131378"/>
                </a:cubicBezTo>
                <a:cubicBezTo>
                  <a:pt x="1753051" y="139402"/>
                  <a:pt x="1752048" y="148427"/>
                  <a:pt x="1751045" y="156451"/>
                </a:cubicBezTo>
                <a:close/>
                <a:moveTo>
                  <a:pt x="2108074" y="238687"/>
                </a:moveTo>
                <a:cubicBezTo>
                  <a:pt x="2111083" y="214618"/>
                  <a:pt x="2094033" y="192555"/>
                  <a:pt x="2069964" y="190549"/>
                </a:cubicBezTo>
                <a:cubicBezTo>
                  <a:pt x="2067958" y="190549"/>
                  <a:pt x="2065953" y="190549"/>
                  <a:pt x="2063947" y="190549"/>
                </a:cubicBezTo>
                <a:cubicBezTo>
                  <a:pt x="2036869" y="191552"/>
                  <a:pt x="2013802" y="211610"/>
                  <a:pt x="2010794" y="239690"/>
                </a:cubicBezTo>
                <a:cubicBezTo>
                  <a:pt x="2007785" y="263760"/>
                  <a:pt x="2024834" y="284820"/>
                  <a:pt x="2048903" y="287829"/>
                </a:cubicBezTo>
                <a:cubicBezTo>
                  <a:pt x="2050909" y="287829"/>
                  <a:pt x="2052915" y="287829"/>
                  <a:pt x="2054921" y="287829"/>
                </a:cubicBezTo>
                <a:cubicBezTo>
                  <a:pt x="2081999" y="286826"/>
                  <a:pt x="2105065" y="265766"/>
                  <a:pt x="2108074" y="238687"/>
                </a:cubicBezTo>
                <a:close/>
                <a:moveTo>
                  <a:pt x="2101054" y="238687"/>
                </a:moveTo>
                <a:cubicBezTo>
                  <a:pt x="2098045" y="262757"/>
                  <a:pt x="2078990" y="280809"/>
                  <a:pt x="2054921" y="280809"/>
                </a:cubicBezTo>
                <a:cubicBezTo>
                  <a:pt x="2034863" y="280809"/>
                  <a:pt x="2017814" y="264763"/>
                  <a:pt x="2016811" y="244705"/>
                </a:cubicBezTo>
                <a:cubicBezTo>
                  <a:pt x="2016811" y="242699"/>
                  <a:pt x="2016811" y="241696"/>
                  <a:pt x="2016811" y="239690"/>
                </a:cubicBezTo>
                <a:cubicBezTo>
                  <a:pt x="2019820" y="215621"/>
                  <a:pt x="2038874" y="197569"/>
                  <a:pt x="2062944" y="197569"/>
                </a:cubicBezTo>
                <a:cubicBezTo>
                  <a:pt x="2083002" y="197569"/>
                  <a:pt x="2100051" y="213615"/>
                  <a:pt x="2101054" y="233673"/>
                </a:cubicBezTo>
                <a:cubicBezTo>
                  <a:pt x="2101054" y="234676"/>
                  <a:pt x="2101054" y="236682"/>
                  <a:pt x="2101054" y="238687"/>
                </a:cubicBezTo>
                <a:close/>
                <a:moveTo>
                  <a:pt x="2066955" y="244705"/>
                </a:moveTo>
                <a:lnTo>
                  <a:pt x="2074979" y="267771"/>
                </a:lnTo>
                <a:lnTo>
                  <a:pt x="2066955" y="267771"/>
                </a:lnTo>
                <a:lnTo>
                  <a:pt x="2058932" y="245708"/>
                </a:lnTo>
                <a:lnTo>
                  <a:pt x="2047900" y="245708"/>
                </a:lnTo>
                <a:lnTo>
                  <a:pt x="2043889" y="267771"/>
                </a:lnTo>
                <a:lnTo>
                  <a:pt x="2036869" y="267771"/>
                </a:lnTo>
                <a:lnTo>
                  <a:pt x="2047900" y="210607"/>
                </a:lnTo>
                <a:lnTo>
                  <a:pt x="2066955" y="210607"/>
                </a:lnTo>
                <a:cubicBezTo>
                  <a:pt x="2074979" y="210607"/>
                  <a:pt x="2081999" y="216624"/>
                  <a:pt x="2081999" y="224647"/>
                </a:cubicBezTo>
                <a:cubicBezTo>
                  <a:pt x="2081999" y="224647"/>
                  <a:pt x="2081999" y="224647"/>
                  <a:pt x="2081999" y="224647"/>
                </a:cubicBezTo>
                <a:cubicBezTo>
                  <a:pt x="2083002" y="233673"/>
                  <a:pt x="2075981" y="241696"/>
                  <a:pt x="2066955" y="244705"/>
                </a:cubicBezTo>
                <a:lnTo>
                  <a:pt x="2066955" y="244705"/>
                </a:lnTo>
                <a:close/>
                <a:moveTo>
                  <a:pt x="2066955" y="216624"/>
                </a:moveTo>
                <a:lnTo>
                  <a:pt x="2053918" y="216624"/>
                </a:lnTo>
                <a:lnTo>
                  <a:pt x="2049906" y="237685"/>
                </a:lnTo>
                <a:lnTo>
                  <a:pt x="2061941" y="237685"/>
                </a:lnTo>
                <a:cubicBezTo>
                  <a:pt x="2068961" y="237685"/>
                  <a:pt x="2073976" y="232670"/>
                  <a:pt x="2074979" y="226653"/>
                </a:cubicBezTo>
                <a:cubicBezTo>
                  <a:pt x="2075981" y="222641"/>
                  <a:pt x="2072973" y="217627"/>
                  <a:pt x="2068961" y="216624"/>
                </a:cubicBezTo>
                <a:cubicBezTo>
                  <a:pt x="2068961" y="216624"/>
                  <a:pt x="2067958" y="216624"/>
                  <a:pt x="2066955" y="216624"/>
                </a:cubicBezTo>
                <a:lnTo>
                  <a:pt x="2066955" y="216624"/>
                </a:lnTo>
                <a:close/>
              </a:path>
            </a:pathLst>
          </a:custGeom>
          <a:solidFill>
            <a:srgbClr val="FFFFFF"/>
          </a:solidFill>
          <a:ln w="10025" cap="flat">
            <a:noFill/>
            <a:prstDash val="solid"/>
            <a:miter/>
          </a:ln>
        </p:spPr>
        <p:txBody>
          <a:bodyPr rtlCol="0" anchor="ctr"/>
          <a:lstStyle/>
          <a:p>
            <a:endParaRPr lang="en-US" sz="675"/>
          </a:p>
        </p:txBody>
      </p:sp>
    </p:spTree>
    <p:extLst>
      <p:ext uri="{BB962C8B-B14F-4D97-AF65-F5344CB8AC3E}">
        <p14:creationId xmlns:p14="http://schemas.microsoft.com/office/powerpoint/2010/main" val="2798611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14:presetBounceEnd="5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5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5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5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50000">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theme" Target="../theme/theme1.xml"/><Relationship Id="rId42"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slideLayout" Target="../slideLayouts/slideLayout42.xml"/><Relationship Id="rId3" Type="http://schemas.openxmlformats.org/officeDocument/2006/relationships/slideLayout" Target="../slideLayouts/slideLayout43.xml"/><Relationship Id="rId4" Type="http://schemas.openxmlformats.org/officeDocument/2006/relationships/slideLayout" Target="../slideLayouts/slideLayout44.xml"/><Relationship Id="rId5" Type="http://schemas.openxmlformats.org/officeDocument/2006/relationships/slideLayout" Target="../slideLayouts/slideLayout45.xml"/><Relationship Id="rId6" Type="http://schemas.openxmlformats.org/officeDocument/2006/relationships/slideLayout" Target="../slideLayouts/slideLayout46.xml"/><Relationship Id="rId7" Type="http://schemas.openxmlformats.org/officeDocument/2006/relationships/slideLayout" Target="../slideLayouts/slideLayout47.xml"/><Relationship Id="rId8" Type="http://schemas.openxmlformats.org/officeDocument/2006/relationships/slideLayout" Target="../slideLayouts/slideLayout48.xml"/><Relationship Id="rId9" Type="http://schemas.openxmlformats.org/officeDocument/2006/relationships/theme" Target="../theme/theme2.xml"/><Relationship Id="rId10"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1950" y="1388582"/>
            <a:ext cx="11456853" cy="1744067"/>
          </a:xfrm>
          <a:prstGeom prst="rect">
            <a:avLst/>
          </a:prstGeom>
        </p:spPr>
        <p:txBody>
          <a:bodyPr vert="horz" wrap="square" lIns="182880" tIns="0" rIns="0" bIns="0" rtlCol="0">
            <a:spAutoFit/>
          </a:bodyPr>
          <a:lstStyle/>
          <a:p>
            <a:pPr marL="142871" marR="0" lvl="0"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1" marR="0" lvl="1"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1" marR="0" lvl="2"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1" marR="0" lvl="3"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1" marR="0" lvl="4"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2" name="Title Placeholder 1"/>
          <p:cNvSpPr>
            <a:spLocks noGrp="1"/>
          </p:cNvSpPr>
          <p:nvPr>
            <p:ph type="title"/>
          </p:nvPr>
        </p:nvSpPr>
        <p:spPr>
          <a:xfrm>
            <a:off x="334497" y="361950"/>
            <a:ext cx="11495553" cy="615553"/>
          </a:xfrm>
          <a:prstGeom prst="rect">
            <a:avLst/>
          </a:prstGeom>
          <a:ln w="12700">
            <a:noFill/>
          </a:ln>
        </p:spPr>
        <p:txBody>
          <a:bodyPr vert="horz" wrap="square" lIns="0" tIns="0" rIns="0" bIns="0" rtlCol="0" anchor="t" anchorCtr="0">
            <a:spAutoFit/>
          </a:bodyPr>
          <a:lstStyle/>
          <a:p>
            <a:r>
              <a:rPr lang="en-US"/>
              <a:t>Click to edit Master title style</a:t>
            </a:r>
          </a:p>
        </p:txBody>
      </p:sp>
      <p:pic>
        <p:nvPicPr>
          <p:cNvPr id="10" name="Graphic 9">
            <a:extLst>
              <a:ext uri="{FF2B5EF4-FFF2-40B4-BE49-F238E27FC236}">
                <a16:creationId xmlns:a16="http://schemas.microsoft.com/office/drawing/2014/main" id="{94FE013C-5447-1E2D-495B-6918031C13CA}"/>
              </a:ext>
            </a:extLst>
          </p:cNvPr>
          <p:cNvPicPr>
            <a:picLocks noChangeAspect="1"/>
          </p:cNvPicPr>
          <p:nvPr userDrawn="1"/>
        </p:nvPicPr>
        <p:blipFill>
          <a:blip>
            <a:extLst>
              <a:ext uri="{96DAC541-7B7A-43D3-8B79-37D633B846F1}">
                <asvg:svgBlip xmlns:asvg="http://schemas.microsoft.com/office/drawing/2016/SVG/main" r:embed="rId42"/>
              </a:ext>
            </a:extLst>
          </a:blip>
          <a:stretch>
            <a:fillRect/>
          </a:stretch>
        </p:blipFill>
        <p:spPr>
          <a:xfrm>
            <a:off x="166624" y="6478841"/>
            <a:ext cx="215391" cy="271755"/>
          </a:xfrm>
          <a:prstGeom prst="rect">
            <a:avLst/>
          </a:prstGeom>
        </p:spPr>
      </p:pic>
    </p:spTree>
    <p:extLst>
      <p:ext uri="{BB962C8B-B14F-4D97-AF65-F5344CB8AC3E}">
        <p14:creationId xmlns:p14="http://schemas.microsoft.com/office/powerpoint/2010/main" val="605910522"/>
      </p:ext>
    </p:extLst>
  </p:cSld>
  <p:clrMap bg1="lt1" tx1="dk1" bg2="lt2" tx2="dk2" accent1="accent1" accent2="accent2" accent3="accent3" accent4="accent4" accent5="accent5" accent6="accent6" hlink="hlink" folHlink="folHlink"/>
  <p:sldLayoutIdLst>
    <p:sldLayoutId id="2147484004" r:id="rId1"/>
    <p:sldLayoutId id="2147483843" r:id="rId2"/>
    <p:sldLayoutId id="2147484012" r:id="rId3"/>
    <p:sldLayoutId id="2147484003" r:id="rId4"/>
    <p:sldLayoutId id="2147483989" r:id="rId5"/>
    <p:sldLayoutId id="2147484031" r:id="rId6"/>
    <p:sldLayoutId id="2147483817" r:id="rId7"/>
    <p:sldLayoutId id="2147484020" r:id="rId8"/>
    <p:sldLayoutId id="2147484036" r:id="rId9"/>
    <p:sldLayoutId id="2147484021" r:id="rId10"/>
    <p:sldLayoutId id="2147484033" r:id="rId11"/>
    <p:sldLayoutId id="2147483819" r:id="rId12"/>
    <p:sldLayoutId id="2147483820" r:id="rId13"/>
    <p:sldLayoutId id="2147483821" r:id="rId14"/>
    <p:sldLayoutId id="2147483822" r:id="rId15"/>
    <p:sldLayoutId id="2147483874" r:id="rId16"/>
    <p:sldLayoutId id="2147483823" r:id="rId17"/>
    <p:sldLayoutId id="2147483866" r:id="rId18"/>
    <p:sldLayoutId id="2147483990" r:id="rId19"/>
    <p:sldLayoutId id="2147484022" r:id="rId20"/>
    <p:sldLayoutId id="2147484017" r:id="rId21"/>
    <p:sldLayoutId id="2147484018" r:id="rId22"/>
    <p:sldLayoutId id="2147484024" r:id="rId23"/>
    <p:sldLayoutId id="2147484025" r:id="rId24"/>
    <p:sldLayoutId id="2147484026" r:id="rId25"/>
    <p:sldLayoutId id="2147484035" r:id="rId26"/>
    <p:sldLayoutId id="2147484027" r:id="rId27"/>
    <p:sldLayoutId id="2147484028" r:id="rId28"/>
    <p:sldLayoutId id="2147484038" r:id="rId29"/>
    <p:sldLayoutId id="2147484029" r:id="rId30"/>
    <p:sldLayoutId id="2147484030" r:id="rId31"/>
    <p:sldLayoutId id="2147483991" r:id="rId32"/>
    <p:sldLayoutId id="2147484023" r:id="rId33"/>
    <p:sldLayoutId id="2147484006" r:id="rId34"/>
    <p:sldLayoutId id="2147484007" r:id="rId35"/>
    <p:sldLayoutId id="2147483853" r:id="rId36"/>
    <p:sldLayoutId id="2147483940" r:id="rId37"/>
    <p:sldLayoutId id="2147484009" r:id="rId38"/>
    <p:sldLayoutId id="2147484015" r:id="rId39"/>
    <p:sldLayoutId id="2147484014" r:id="rId4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fontAlgn="base" latinLnBrk="0" hangingPunct="1">
        <a:lnSpc>
          <a:spcPct val="100000"/>
        </a:lnSpc>
        <a:spcBef>
          <a:spcPct val="0"/>
        </a:spcBef>
        <a:buNone/>
        <a:defRPr sz="4000" b="0" i="0" kern="1200">
          <a:ln w="9525">
            <a:noFill/>
          </a:ln>
          <a:solidFill>
            <a:schemeClr val="tx1"/>
          </a:solidFill>
          <a:latin typeface="+mj-lt"/>
          <a:ea typeface="+mj-ea"/>
          <a:cs typeface="+mj-cs"/>
        </a:defRPr>
      </a:lvl1pPr>
    </p:titleStyle>
    <p:bodyStyle>
      <a:lvl1pPr marL="142871" marR="0"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b="0" i="0" kern="1200">
          <a:ln>
            <a:noFill/>
          </a:ln>
          <a:solidFill>
            <a:schemeClr val="tx1"/>
          </a:solidFill>
          <a:latin typeface="+mn-lt"/>
          <a:ea typeface="Fira Sans" panose="020B0503050000020004" pitchFamily="34" charset="0"/>
          <a:cs typeface="+mn-cs"/>
        </a:defRPr>
      </a:lvl1pPr>
      <a:lvl2pPr marL="428615" marR="0" indent="-145254"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b="0" i="0" kern="1200">
          <a:ln>
            <a:noFill/>
          </a:ln>
          <a:solidFill>
            <a:schemeClr val="tx1"/>
          </a:solidFill>
          <a:latin typeface="+mn-lt"/>
          <a:ea typeface="Fira Sans" panose="020B0503050000020004" pitchFamily="34" charset="0"/>
          <a:cs typeface="+mn-cs"/>
        </a:defRPr>
      </a:lvl2pPr>
      <a:lvl3pPr marL="714357" marR="0" indent="-14763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b="0" i="0" kern="1200">
          <a:ln>
            <a:noFill/>
          </a:ln>
          <a:solidFill>
            <a:schemeClr val="tx1"/>
          </a:solidFill>
          <a:latin typeface="+mn-lt"/>
          <a:ea typeface="Fira Sans" panose="020B0503050000020004" pitchFamily="34" charset="0"/>
          <a:cs typeface="+mn-cs"/>
        </a:defRPr>
      </a:lvl3pPr>
      <a:lvl4pPr marL="1000100" marR="0" indent="-15001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b="0" i="0" kern="1200">
          <a:ln>
            <a:noFill/>
          </a:ln>
          <a:solidFill>
            <a:schemeClr val="tx1"/>
          </a:solidFill>
          <a:latin typeface="+mn-lt"/>
          <a:ea typeface="Fira Sans" panose="020B0503050000020004" pitchFamily="34" charset="0"/>
          <a:cs typeface="+mn-cs"/>
        </a:defRPr>
      </a:lvl4pPr>
      <a:lvl5pPr marL="1285843" marR="0" indent="-152396"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b="0" i="0" kern="1200">
          <a:ln>
            <a:noFill/>
          </a:ln>
          <a:solidFill>
            <a:schemeClr val="tx1"/>
          </a:solidFill>
          <a:latin typeface="+mn-lt"/>
          <a:ea typeface="Fira Sans" panose="020B0503050000020004" pitchFamily="34" charset="0"/>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52" userDrawn="1">
          <p15:clr>
            <a:srgbClr val="000000"/>
          </p15:clr>
        </p15:guide>
        <p15:guide id="5" orient="horz" pos="228" userDrawn="1">
          <p15:clr>
            <a:srgbClr val="000000"/>
          </p15:clr>
        </p15:guide>
        <p15:guide id="8" orient="horz" pos="1200" userDrawn="1">
          <p15:clr>
            <a:srgbClr val="000000"/>
          </p15:clr>
        </p15:guide>
        <p15:guide id="11" orient="horz" pos="2160" userDrawn="1">
          <p15:clr>
            <a:srgbClr val="000000"/>
          </p15:clr>
        </p15:guide>
        <p15:guide id="14" orient="horz" pos="4092" userDrawn="1">
          <p15:clr>
            <a:srgbClr val="000000"/>
          </p15:clr>
        </p15:guide>
        <p15:guide id="45" orient="horz" pos="3120" userDrawn="1">
          <p15:clr>
            <a:srgbClr val="000000"/>
          </p15:clr>
        </p15:guide>
        <p15:guide id="52" pos="2040" userDrawn="1">
          <p15:clr>
            <a:srgbClr val="000000"/>
          </p15:clr>
        </p15:guide>
        <p15:guide id="55" pos="3840" userDrawn="1">
          <p15:clr>
            <a:srgbClr val="000000"/>
          </p15:clr>
        </p15:guide>
        <p15:guide id="58" pos="5652" userDrawn="1">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BB4D8F10-0568-8A5D-4250-6207297D4F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61951" y="6496051"/>
            <a:ext cx="903173" cy="279984"/>
          </a:xfrm>
          <a:prstGeom prst="rect">
            <a:avLst/>
          </a:prstGeom>
        </p:spPr>
      </p:pic>
    </p:spTree>
    <p:extLst>
      <p:ext uri="{BB962C8B-B14F-4D97-AF65-F5344CB8AC3E}">
        <p14:creationId xmlns:p14="http://schemas.microsoft.com/office/powerpoint/2010/main" val="1244359039"/>
      </p:ext>
    </p:extLst>
  </p:cSld>
  <p:clrMap bg1="lt1" tx1="dk1" bg2="lt2" tx2="dk2" accent1="accent1" accent2="accent2" accent3="accent3" accent4="accent4" accent5="accent5" accent6="accent6" hlink="hlink" folHlink="folHlink"/>
  <p:sldLayoutIdLst>
    <p:sldLayoutId id="2147483832" r:id="rId1"/>
    <p:sldLayoutId id="2147484016" r:id="rId2"/>
    <p:sldLayoutId id="2147484032" r:id="rId3"/>
    <p:sldLayoutId id="2147484019" r:id="rId4"/>
    <p:sldLayoutId id="2147484011" r:id="rId5"/>
    <p:sldLayoutId id="2147483838" r:id="rId6"/>
    <p:sldLayoutId id="2147483839" r:id="rId7"/>
    <p:sldLayoutId id="2147484005"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p:titleStyle>
    <p:bodyStyle>
      <a:lvl1pPr marL="142871" marR="0" indent="-142871"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1pPr>
      <a:lvl2pPr marL="428615" marR="0" indent="-145254"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2pPr>
      <a:lvl3pPr marL="714357" marR="0" indent="-14763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3pPr>
      <a:lvl4pPr marL="1000100" marR="0" indent="-150015"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4pPr>
      <a:lvl5pPr marL="1285843" marR="0" indent="-152396" algn="l" defTabSz="914377"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49" userDrawn="1">
          <p15:clr>
            <a:srgbClr val="000000"/>
          </p15:clr>
        </p15:guide>
        <p15:guide id="5" orient="horz" pos="228" userDrawn="1">
          <p15:clr>
            <a:srgbClr val="000000"/>
          </p15:clr>
        </p15:guide>
        <p15:guide id="11" orient="horz" pos="3120" userDrawn="1">
          <p15:clr>
            <a:srgbClr val="000000"/>
          </p15:clr>
        </p15:guide>
        <p15:guide id="14" orient="horz" pos="4092" userDrawn="1">
          <p15:clr>
            <a:srgbClr val="000000"/>
          </p15:clr>
        </p15:guide>
        <p15:guide id="34" pos="2040" userDrawn="1">
          <p15:clr>
            <a:srgbClr val="000000"/>
          </p15:clr>
        </p15:guide>
        <p15:guide id="36" pos="3840" userDrawn="1">
          <p15:clr>
            <a:srgbClr val="000000"/>
          </p15:clr>
        </p15:guide>
        <p15:guide id="38" pos="5652" userDrawn="1">
          <p15:clr>
            <a:srgbClr val="000000"/>
          </p15:clr>
        </p15:guide>
        <p15:guide id="40" orient="horz" pos="2163" userDrawn="1">
          <p15:clr>
            <a:srgbClr val="000000"/>
          </p15:clr>
        </p15:guide>
        <p15:guide id="41" orient="horz" pos="1201" userDrawn="1">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9.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22.pn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Leadership onsite · October 2026 · PM Inference/Serving</a:t>
            </a:r>
          </a:p>
        </p:txBody>
      </p:sp>
      <p:sp>
        <p:nvSpPr>
          <p:cNvPr id="3" name="Title 2"/>
          <p:cNvSpPr>
            <a:spLocks noGrp="1"/>
          </p:cNvSpPr>
          <p:nvPr>
            <p:ph type="ctrTitle"/>
          </p:nvPr>
        </p:nvSpPr>
        <p:spPr/>
        <p:txBody>
          <a:bodyPr/>
          <a:lstStyle/>
          <a:p>
            <a:r>
              <a:t>What we'll prove, and how we'll prove it</a:t>
            </a:r>
          </a:p>
        </p:txBody>
      </p:sp>
      <p:sp>
        <p:nvSpPr>
          <p:cNvPr id="4" name="Subtitle 3"/>
          <p:cNvSpPr>
            <a:spLocks noGrp="1"/>
          </p:cNvSpPr>
          <p:nvPr>
            <p:ph type="subTitle" idx="1"/>
          </p:nvPr>
        </p:nvSpPr>
        <p:spPr/>
        <p:txBody>
          <a:bodyPr/>
          <a:lstStyle/>
          <a:p>
            <a:r>
              <a:t>The RackAI roadmap and the MI350P benchmarking program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Bottom line: </a:t>
            </a:r>
            <a:r>
              <a:rPr sz="3200">
                <a:solidFill>
                  <a:schemeClr val="accent1"/>
                </a:solidFill>
              </a:rPr>
              <a:t>what you'll leave with today</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0" name="Rounded Rectangle 9"/>
          <p:cNvSpPr/>
          <p:nvPr/>
        </p:nvSpPr>
        <p:spPr>
          <a:xfrm>
            <a:off x="9464040" y="384048"/>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1" name="Rounded Rectangle 10"/>
          <p:cNvSpPr/>
          <p:nvPr/>
        </p:nvSpPr>
        <p:spPr>
          <a:xfrm>
            <a:off x="10607040" y="384048"/>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2" name="TextBox 11"/>
          <p:cNvSpPr txBox="1"/>
          <p:nvPr/>
        </p:nvSpPr>
        <p:spPr>
          <a:xfrm>
            <a:off x="365760" y="1051560"/>
            <a:ext cx="11430000" cy="777240"/>
          </a:xfrm>
          <a:prstGeom prst="rect">
            <a:avLst/>
          </a:prstGeom>
          <a:noFill/>
        </p:spPr>
        <p:txBody>
          <a:bodyPr wrap="square" anchor="t" lIns="0" rIns="0" tIns="0" bIns="0">
            <a:spAutoFit/>
          </a:bodyPr>
          <a:lstStyle/>
          <a:p>
            <a:pPr algn="l">
              <a:spcAft>
                <a:spcPts val="400"/>
              </a:spcAft>
            </a:pPr>
            <a:r>
              <a:rPr sz="2200">
                <a:solidFill>
                  <a:srgbClr val="1F2328"/>
                </a:solidFill>
                <a:latin typeface="+mj-lt"/>
              </a:rPr>
              <a:t>RackAI wins where enterprises need someone to run their AI, </a:t>
            </a:r>
            <a:r>
              <a:rPr sz="2200">
                <a:solidFill>
                  <a:schemeClr val="accent3"/>
                </a:solidFill>
                <a:latin typeface="+mj-lt"/>
              </a:rPr>
              <a:t>and need it to stay theirs.</a:t>
            </a:r>
          </a:p>
        </p:txBody>
      </p:sp>
      <p:sp>
        <p:nvSpPr>
          <p:cNvPr id="13" name="TextBox 12"/>
          <p:cNvSpPr txBox="1"/>
          <p:nvPr/>
        </p:nvSpPr>
        <p:spPr>
          <a:xfrm>
            <a:off x="365760" y="1874519"/>
            <a:ext cx="11430000" cy="457200"/>
          </a:xfrm>
          <a:prstGeom prst="rect">
            <a:avLst/>
          </a:prstGeom>
          <a:noFill/>
        </p:spPr>
        <p:txBody>
          <a:bodyPr wrap="square" anchor="t" lIns="0" rIns="0" tIns="0" bIns="0">
            <a:spAutoFit/>
          </a:bodyPr>
          <a:lstStyle/>
          <a:p>
            <a:pPr algn="l">
              <a:spcAft>
                <a:spcPts val="400"/>
              </a:spcAft>
            </a:pPr>
            <a:r>
              <a:rPr sz="1500">
                <a:solidFill>
                  <a:srgbClr val="5F6670"/>
                </a:solidFill>
              </a:rPr>
              <a:t>We earn that as an operator and a sovereign provider. Today we're strong at measuring, and thin where that trust is proven.</a:t>
            </a:r>
          </a:p>
        </p:txBody>
      </p:sp>
      <p:sp>
        <p:nvSpPr>
          <p:cNvPr id="14" name="TextBox 13"/>
          <p:cNvSpPr txBox="1"/>
          <p:nvPr/>
        </p:nvSpPr>
        <p:spPr>
          <a:xfrm>
            <a:off x="365760" y="2468880"/>
            <a:ext cx="11430000" cy="365760"/>
          </a:xfrm>
          <a:prstGeom prst="rect">
            <a:avLst/>
          </a:prstGeom>
          <a:noFill/>
        </p:spPr>
        <p:txBody>
          <a:bodyPr wrap="square" anchor="t" lIns="0" rIns="0" tIns="0" bIns="0">
            <a:spAutoFit/>
          </a:bodyPr>
          <a:lstStyle/>
          <a:p>
            <a:pPr algn="l">
              <a:spcAft>
                <a:spcPts val="400"/>
              </a:spcAft>
            </a:pPr>
            <a:r>
              <a:rPr sz="1500">
                <a:solidFill>
                  <a:schemeClr val="accent3"/>
                </a:solidFill>
                <a:latin typeface="+mj-lt"/>
              </a:rPr>
              <a:t>Not approving today: </a:t>
            </a:r>
            <a:r>
              <a:rPr sz="1500">
                <a:solidFill>
                  <a:schemeClr val="accent3"/>
                </a:solidFill>
              </a:rPr>
              <a:t>budgets, headcount or a detailed architecture. Owners bring those back scoped.</a:t>
            </a:r>
          </a:p>
        </p:txBody>
      </p:sp>
      <p:sp>
        <p:nvSpPr>
          <p:cNvPr id="15" name="Rounded Rectangle 14"/>
          <p:cNvSpPr/>
          <p:nvPr/>
        </p:nvSpPr>
        <p:spPr>
          <a:xfrm>
            <a:off x="365760" y="2971800"/>
            <a:ext cx="3703320" cy="32918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16" name="Picture 15" descr="check_k.png"/>
          <p:cNvPicPr>
            <a:picLocks noChangeAspect="1"/>
          </p:cNvPicPr>
          <p:nvPr/>
        </p:nvPicPr>
        <p:blipFill>
          <a:blip r:embed="rId2"/>
          <a:stretch>
            <a:fillRect/>
          </a:stretch>
        </p:blipFill>
        <p:spPr>
          <a:xfrm>
            <a:off x="640080" y="3182112"/>
            <a:ext cx="384048" cy="384048"/>
          </a:xfrm>
          <a:prstGeom prst="rect">
            <a:avLst/>
          </a:prstGeom>
        </p:spPr>
      </p:pic>
      <p:sp>
        <p:nvSpPr>
          <p:cNvPr id="17" name="TextBox 16"/>
          <p:cNvSpPr txBox="1"/>
          <p:nvPr/>
        </p:nvSpPr>
        <p:spPr>
          <a:xfrm>
            <a:off x="1143000" y="3182112"/>
            <a:ext cx="2743200" cy="384048"/>
          </a:xfrm>
          <a:prstGeom prst="rect">
            <a:avLst/>
          </a:prstGeom>
          <a:noFill/>
        </p:spPr>
        <p:txBody>
          <a:bodyPr wrap="square" anchor="ctr" lIns="0" rIns="0" tIns="0" bIns="0">
            <a:spAutoFit/>
          </a:bodyPr>
          <a:lstStyle/>
          <a:p>
            <a:pPr algn="l">
              <a:spcAft>
                <a:spcPts val="400"/>
              </a:spcAft>
            </a:pPr>
            <a:r>
              <a:rPr sz="1900">
                <a:solidFill>
                  <a:srgbClr val="1F2328"/>
                </a:solidFill>
                <a:latin typeface="+mj-lt"/>
              </a:rPr>
              <a:t>You will leave with</a:t>
            </a:r>
          </a:p>
        </p:txBody>
      </p:sp>
      <p:sp>
        <p:nvSpPr>
          <p:cNvPr id="18" name="TextBox 17"/>
          <p:cNvSpPr txBox="1"/>
          <p:nvPr/>
        </p:nvSpPr>
        <p:spPr>
          <a:xfrm>
            <a:off x="640080" y="3767328"/>
            <a:ext cx="3200400" cy="2468880"/>
          </a:xfrm>
          <a:prstGeom prst="rect">
            <a:avLst/>
          </a:prstGeom>
          <a:noFill/>
        </p:spPr>
        <p:txBody>
          <a:bodyPr wrap="square" anchor="t" lIns="0" rIns="0" tIns="0" bIns="0">
            <a:spAutoFit/>
          </a:bodyPr>
          <a:lstStyle/>
          <a:p>
            <a:pPr algn="l">
              <a:spcAft>
                <a:spcPts val="800"/>
              </a:spcAft>
            </a:pPr>
            <a:r>
              <a:rPr sz="1400">
                <a:solidFill>
                  <a:srgbClr val="1F2328"/>
                </a:solidFill>
              </a:rPr>
              <a:t>– A decision: do we manage toward MOE-1, a paying customer who hands us operations?</a:t>
            </a:r>
          </a:p>
          <a:p>
            <a:pPr algn="l">
              <a:spcAft>
                <a:spcPts val="800"/>
              </a:spcAft>
            </a:pPr>
            <a:r>
              <a:rPr sz="1400">
                <a:solidFill>
                  <a:srgbClr val="1F2328"/>
                </a:solidFill>
              </a:rPr>
              <a:t>– MI350P's first proof chosen, and the claim rule agreed</a:t>
            </a:r>
          </a:p>
          <a:p>
            <a:pPr algn="l">
              <a:spcAft>
                <a:spcPts val="800"/>
              </a:spcAft>
            </a:pPr>
            <a:r>
              <a:rPr sz="1400">
                <a:solidFill>
                  <a:srgbClr val="1F2328"/>
                </a:solidFill>
              </a:rPr>
              <a:t>– A named owner and date for every decision on the table</a:t>
            </a:r>
          </a:p>
          <a:p>
            <a:pPr algn="l">
              <a:spcAft>
                <a:spcPts val="800"/>
              </a:spcAft>
            </a:pPr>
            <a:r>
              <a:rPr sz="1400">
                <a:solidFill>
                  <a:srgbClr val="1F2328"/>
                </a:solidFill>
              </a:rPr>
              <a:t>– A written decision record within 5 working days</a:t>
            </a:r>
          </a:p>
        </p:txBody>
      </p:sp>
      <p:sp>
        <p:nvSpPr>
          <p:cNvPr id="19" name="Rounded Rectangle 18"/>
          <p:cNvSpPr/>
          <p:nvPr/>
        </p:nvSpPr>
        <p:spPr>
          <a:xfrm>
            <a:off x="4233672" y="2971800"/>
            <a:ext cx="3703320" cy="3291840"/>
          </a:xfrm>
          <a:prstGeom prst="roundRect">
            <a:avLst>
              <a:gd name="adj" fmla="val 6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20" name="Picture 19" descr="alert.png"/>
          <p:cNvPicPr>
            <a:picLocks noChangeAspect="1"/>
          </p:cNvPicPr>
          <p:nvPr/>
        </p:nvPicPr>
        <p:blipFill>
          <a:blip r:embed="rId3"/>
          <a:stretch>
            <a:fillRect/>
          </a:stretch>
        </p:blipFill>
        <p:spPr>
          <a:xfrm>
            <a:off x="4507992" y="3182112"/>
            <a:ext cx="384048" cy="384048"/>
          </a:xfrm>
          <a:prstGeom prst="rect">
            <a:avLst/>
          </a:prstGeom>
        </p:spPr>
      </p:pic>
      <p:sp>
        <p:nvSpPr>
          <p:cNvPr id="21" name="TextBox 20"/>
          <p:cNvSpPr txBox="1"/>
          <p:nvPr/>
        </p:nvSpPr>
        <p:spPr>
          <a:xfrm>
            <a:off x="5010912" y="3182112"/>
            <a:ext cx="2743200" cy="384048"/>
          </a:xfrm>
          <a:prstGeom prst="rect">
            <a:avLst/>
          </a:prstGeom>
          <a:noFill/>
        </p:spPr>
        <p:txBody>
          <a:bodyPr wrap="square" anchor="ctr" lIns="0" rIns="0" tIns="0" bIns="0">
            <a:spAutoFit/>
          </a:bodyPr>
          <a:lstStyle/>
          <a:p>
            <a:pPr algn="l">
              <a:spcAft>
                <a:spcPts val="400"/>
              </a:spcAft>
            </a:pPr>
            <a:r>
              <a:rPr sz="1900">
                <a:solidFill>
                  <a:srgbClr val="1F2328"/>
                </a:solidFill>
                <a:latin typeface="+mj-lt"/>
              </a:rPr>
              <a:t>This session has failed if</a:t>
            </a:r>
          </a:p>
        </p:txBody>
      </p:sp>
      <p:sp>
        <p:nvSpPr>
          <p:cNvPr id="22" name="TextBox 21"/>
          <p:cNvSpPr txBox="1"/>
          <p:nvPr/>
        </p:nvSpPr>
        <p:spPr>
          <a:xfrm>
            <a:off x="4507992" y="3767328"/>
            <a:ext cx="3200400" cy="2468880"/>
          </a:xfrm>
          <a:prstGeom prst="rect">
            <a:avLst/>
          </a:prstGeom>
          <a:noFill/>
        </p:spPr>
        <p:txBody>
          <a:bodyPr wrap="square" anchor="t" lIns="0" rIns="0" tIns="0" bIns="0">
            <a:spAutoFit/>
          </a:bodyPr>
          <a:lstStyle/>
          <a:p>
            <a:pPr algn="l">
              <a:spcAft>
                <a:spcPts val="800"/>
              </a:spcAft>
            </a:pPr>
            <a:r>
              <a:rPr sz="1400">
                <a:solidFill>
                  <a:srgbClr val="1F2328"/>
                </a:solidFill>
              </a:rPr>
              <a:t>– We leave without an owner and date for naming MOE-0</a:t>
            </a:r>
          </a:p>
          <a:p>
            <a:pPr algn="l">
              <a:spcAft>
                <a:spcPts val="800"/>
              </a:spcAft>
            </a:pPr>
            <a:r>
              <a:rPr sz="1400">
                <a:solidFill>
                  <a:srgbClr val="1F2328"/>
                </a:solidFill>
              </a:rPr>
              <a:t>– No one owns confirming the MI350P topology</a:t>
            </a:r>
          </a:p>
          <a:p>
            <a:pPr algn="l">
              <a:spcAft>
                <a:spcPts val="800"/>
              </a:spcAft>
            </a:pPr>
            <a:r>
              <a:rPr sz="1400">
                <a:solidFill>
                  <a:srgbClr val="1F2328"/>
                </a:solidFill>
              </a:rPr>
              <a:t>– We debated the framework instead of deciding</a:t>
            </a:r>
          </a:p>
        </p:txBody>
      </p:sp>
      <p:sp>
        <p:nvSpPr>
          <p:cNvPr id="23" name="Rounded Rectangle 22"/>
          <p:cNvSpPr/>
          <p:nvPr/>
        </p:nvSpPr>
        <p:spPr>
          <a:xfrm>
            <a:off x="8101584" y="2971800"/>
            <a:ext cx="3703320" cy="329184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24" name="Picture 23" descr="key.png"/>
          <p:cNvPicPr>
            <a:picLocks noChangeAspect="1"/>
          </p:cNvPicPr>
          <p:nvPr/>
        </p:nvPicPr>
        <p:blipFill>
          <a:blip r:embed="rId4"/>
          <a:stretch>
            <a:fillRect/>
          </a:stretch>
        </p:blipFill>
        <p:spPr>
          <a:xfrm>
            <a:off x="8375904" y="3182112"/>
            <a:ext cx="384048" cy="384048"/>
          </a:xfrm>
          <a:prstGeom prst="rect">
            <a:avLst/>
          </a:prstGeom>
        </p:spPr>
      </p:pic>
      <p:sp>
        <p:nvSpPr>
          <p:cNvPr id="25" name="TextBox 24"/>
          <p:cNvSpPr txBox="1"/>
          <p:nvPr/>
        </p:nvSpPr>
        <p:spPr>
          <a:xfrm>
            <a:off x="8878824" y="3182112"/>
            <a:ext cx="2743200" cy="384048"/>
          </a:xfrm>
          <a:prstGeom prst="rect">
            <a:avLst/>
          </a:prstGeom>
          <a:noFill/>
        </p:spPr>
        <p:txBody>
          <a:bodyPr wrap="square" anchor="ctr" lIns="0" rIns="0" tIns="0" bIns="0">
            <a:spAutoFit/>
          </a:bodyPr>
          <a:lstStyle/>
          <a:p>
            <a:pPr algn="l">
              <a:spcAft>
                <a:spcPts val="400"/>
              </a:spcAft>
            </a:pPr>
            <a:r>
              <a:rPr sz="1900">
                <a:solidFill>
                  <a:srgbClr val="1F2328"/>
                </a:solidFill>
                <a:latin typeface="+mj-lt"/>
              </a:rPr>
              <a:t>What I own</a:t>
            </a:r>
          </a:p>
        </p:txBody>
      </p:sp>
      <p:sp>
        <p:nvSpPr>
          <p:cNvPr id="26" name="TextBox 25"/>
          <p:cNvSpPr txBox="1"/>
          <p:nvPr/>
        </p:nvSpPr>
        <p:spPr>
          <a:xfrm>
            <a:off x="8375904" y="3767328"/>
            <a:ext cx="3200400" cy="2468880"/>
          </a:xfrm>
          <a:prstGeom prst="rect">
            <a:avLst/>
          </a:prstGeom>
          <a:noFill/>
        </p:spPr>
        <p:txBody>
          <a:bodyPr wrap="square" anchor="t" lIns="0" rIns="0" tIns="0" bIns="0">
            <a:spAutoFit/>
          </a:bodyPr>
          <a:lstStyle/>
          <a:p>
            <a:pPr algn="l">
              <a:spcAft>
                <a:spcPts val="800"/>
              </a:spcAft>
            </a:pPr>
            <a:r>
              <a:rPr sz="1400">
                <a:solidFill>
                  <a:srgbClr val="1F2328"/>
                </a:solidFill>
              </a:rPr>
              <a:t>– The decision record, with owners and dates, in 5 working days</a:t>
            </a:r>
          </a:p>
          <a:p>
            <a:pPr algn="l">
              <a:spcAft>
                <a:spcPts val="800"/>
              </a:spcAft>
            </a:pPr>
            <a:r>
              <a:rPr sz="1400">
                <a:solidFill>
                  <a:srgbClr val="1F2328"/>
                </a:solidFill>
              </a:rPr>
              <a:t>– A first draft of the MOE-1 customer profile, in 2 weeks</a:t>
            </a:r>
          </a:p>
          <a:p>
            <a:pPr algn="l">
              <a:spcAft>
                <a:spcPts val="800"/>
              </a:spcAft>
            </a:pPr>
            <a:r>
              <a:rPr sz="1400">
                <a:solidFill>
                  <a:srgbClr val="1F2328"/>
                </a:solidFill>
              </a:rPr>
              <a:t>– Weekly status against each decision until it closes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The problems we're </a:t>
            </a:r>
            <a:r>
              <a:rPr sz="3200">
                <a:solidFill>
                  <a:schemeClr val="accent1"/>
                </a:solidFill>
              </a:rPr>
              <a:t>built to solve</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0" name="Rounded Rectangle 9"/>
          <p:cNvSpPr/>
          <p:nvPr/>
        </p:nvSpPr>
        <p:spPr>
          <a:xfrm>
            <a:off x="1051560" y="1234440"/>
            <a:ext cx="2560320"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1" name="TextBox 10"/>
          <p:cNvSpPr txBox="1"/>
          <p:nvPr/>
        </p:nvSpPr>
        <p:spPr>
          <a:xfrm>
            <a:off x="1280160" y="1463040"/>
            <a:ext cx="2103120" cy="457200"/>
          </a:xfrm>
          <a:prstGeom prst="rect">
            <a:avLst/>
          </a:prstGeom>
          <a:noFill/>
        </p:spPr>
        <p:txBody>
          <a:bodyPr wrap="square" anchor="t" lIns="0" rIns="0" tIns="0" bIns="0">
            <a:spAutoFit/>
          </a:bodyPr>
          <a:lstStyle/>
          <a:p>
            <a:pPr algn="l">
              <a:spcAft>
                <a:spcPts val="400"/>
              </a:spcAft>
            </a:pPr>
            <a:r>
              <a:rPr sz="1600">
                <a:solidFill>
                  <a:srgbClr val="5F6670"/>
                </a:solidFill>
                <a:latin typeface="+mj-lt"/>
              </a:rPr>
              <a:t>Managed AI services</a:t>
            </a:r>
          </a:p>
        </p:txBody>
      </p:sp>
      <p:sp>
        <p:nvSpPr>
          <p:cNvPr id="12" name="TextBox 11"/>
          <p:cNvSpPr txBox="1"/>
          <p:nvPr/>
        </p:nvSpPr>
        <p:spPr>
          <a:xfrm>
            <a:off x="1280160" y="2011680"/>
            <a:ext cx="2103120" cy="1280160"/>
          </a:xfrm>
          <a:prstGeom prst="rect">
            <a:avLst/>
          </a:prstGeom>
          <a:noFill/>
        </p:spPr>
        <p:txBody>
          <a:bodyPr wrap="square" anchor="t" lIns="0" rIns="0" tIns="0" bIns="0">
            <a:spAutoFit/>
          </a:bodyPr>
          <a:lstStyle/>
          <a:p>
            <a:pPr algn="l">
              <a:spcAft>
                <a:spcPts val="400"/>
              </a:spcAft>
            </a:pPr>
            <a:r>
              <a:rPr sz="1300">
                <a:solidFill>
                  <a:srgbClr val="5F6670"/>
                </a:solidFill>
              </a:rPr>
              <a:t>Someone runs it for them, on infrastructure they don't control</a:t>
            </a:r>
          </a:p>
        </p:txBody>
      </p:sp>
      <p:sp>
        <p:nvSpPr>
          <p:cNvPr id="13" name="Rounded Rectangle 12"/>
          <p:cNvSpPr/>
          <p:nvPr/>
        </p:nvSpPr>
        <p:spPr>
          <a:xfrm>
            <a:off x="3685031" y="1234440"/>
            <a:ext cx="2560320" cy="2240280"/>
          </a:xfrm>
          <a:prstGeom prst="roundRect">
            <a:avLst>
              <a:gd name="adj" fmla="val 6000"/>
            </a:avLst>
          </a:prstGeom>
          <a:solidFill>
            <a:schemeClr val="accent5"/>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4" name="TextBox 13"/>
          <p:cNvSpPr txBox="1"/>
          <p:nvPr/>
        </p:nvSpPr>
        <p:spPr>
          <a:xfrm>
            <a:off x="3913631" y="1463040"/>
            <a:ext cx="2103120" cy="457200"/>
          </a:xfrm>
          <a:prstGeom prst="rect">
            <a:avLst/>
          </a:prstGeom>
          <a:noFill/>
        </p:spPr>
        <p:txBody>
          <a:bodyPr wrap="square" anchor="t" lIns="0" rIns="0" tIns="0" bIns="0">
            <a:spAutoFit/>
          </a:bodyPr>
          <a:lstStyle/>
          <a:p>
            <a:pPr algn="l">
              <a:spcAft>
                <a:spcPts val="400"/>
              </a:spcAft>
            </a:pPr>
            <a:r>
              <a:rPr sz="2000">
                <a:solidFill>
                  <a:schemeClr val="accent3"/>
                </a:solidFill>
                <a:latin typeface="+mj-lt"/>
              </a:rPr>
              <a:t>RackAI</a:t>
            </a:r>
          </a:p>
        </p:txBody>
      </p:sp>
      <p:sp>
        <p:nvSpPr>
          <p:cNvPr id="15" name="TextBox 14"/>
          <p:cNvSpPr txBox="1"/>
          <p:nvPr/>
        </p:nvSpPr>
        <p:spPr>
          <a:xfrm>
            <a:off x="3913631" y="2011680"/>
            <a:ext cx="2103120" cy="1280160"/>
          </a:xfrm>
          <a:prstGeom prst="rect">
            <a:avLst/>
          </a:prstGeom>
          <a:noFill/>
        </p:spPr>
        <p:txBody>
          <a:bodyPr wrap="square" anchor="t" lIns="0" rIns="0" tIns="0" bIns="0">
            <a:spAutoFit/>
          </a:bodyPr>
          <a:lstStyle/>
          <a:p>
            <a:pPr algn="l">
              <a:spcAft>
                <a:spcPts val="400"/>
              </a:spcAft>
            </a:pPr>
            <a:r>
              <a:rPr sz="1400">
                <a:solidFill>
                  <a:srgbClr val="1F2328"/>
                </a:solidFill>
              </a:rPr>
              <a:t>The private enterprise AI operator: we run it, and it stays theirs</a:t>
            </a:r>
          </a:p>
        </p:txBody>
      </p:sp>
      <p:sp>
        <p:nvSpPr>
          <p:cNvPr id="16" name="Rounded Rectangle 15"/>
          <p:cNvSpPr/>
          <p:nvPr/>
        </p:nvSpPr>
        <p:spPr>
          <a:xfrm>
            <a:off x="1051560" y="3547872"/>
            <a:ext cx="2560320"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7" name="TextBox 16"/>
          <p:cNvSpPr txBox="1"/>
          <p:nvPr/>
        </p:nvSpPr>
        <p:spPr>
          <a:xfrm>
            <a:off x="1280160" y="3776472"/>
            <a:ext cx="2103120" cy="457200"/>
          </a:xfrm>
          <a:prstGeom prst="rect">
            <a:avLst/>
          </a:prstGeom>
          <a:noFill/>
        </p:spPr>
        <p:txBody>
          <a:bodyPr wrap="square" anchor="t" lIns="0" rIns="0" tIns="0" bIns="0">
            <a:spAutoFit/>
          </a:bodyPr>
          <a:lstStyle/>
          <a:p>
            <a:pPr algn="l">
              <a:spcAft>
                <a:spcPts val="400"/>
              </a:spcAft>
            </a:pPr>
            <a:r>
              <a:rPr sz="1600">
                <a:solidFill>
                  <a:srgbClr val="5F6670"/>
                </a:solidFill>
                <a:latin typeface="+mj-lt"/>
              </a:rPr>
              <a:t>Public AI services</a:t>
            </a:r>
          </a:p>
        </p:txBody>
      </p:sp>
      <p:sp>
        <p:nvSpPr>
          <p:cNvPr id="18" name="TextBox 17"/>
          <p:cNvSpPr txBox="1"/>
          <p:nvPr/>
        </p:nvSpPr>
        <p:spPr>
          <a:xfrm>
            <a:off x="1280160" y="4325112"/>
            <a:ext cx="2103120" cy="1280160"/>
          </a:xfrm>
          <a:prstGeom prst="rect">
            <a:avLst/>
          </a:prstGeom>
          <a:noFill/>
        </p:spPr>
        <p:txBody>
          <a:bodyPr wrap="square" anchor="t" lIns="0" rIns="0" tIns="0" bIns="0">
            <a:spAutoFit/>
          </a:bodyPr>
          <a:lstStyle/>
          <a:p>
            <a:pPr algn="l">
              <a:spcAft>
                <a:spcPts val="400"/>
              </a:spcAft>
            </a:pPr>
            <a:r>
              <a:rPr sz="1300">
                <a:solidFill>
                  <a:srgbClr val="5F6670"/>
                </a:solidFill>
              </a:rPr>
              <a:t>Self-serve APIs; neither accountability nor control</a:t>
            </a:r>
          </a:p>
        </p:txBody>
      </p:sp>
      <p:sp>
        <p:nvSpPr>
          <p:cNvPr id="19" name="Rounded Rectangle 18"/>
          <p:cNvSpPr/>
          <p:nvPr/>
        </p:nvSpPr>
        <p:spPr>
          <a:xfrm>
            <a:off x="3685031" y="3547872"/>
            <a:ext cx="2560320"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20" name="TextBox 19"/>
          <p:cNvSpPr txBox="1"/>
          <p:nvPr/>
        </p:nvSpPr>
        <p:spPr>
          <a:xfrm>
            <a:off x="3913631" y="3776472"/>
            <a:ext cx="2103120" cy="457200"/>
          </a:xfrm>
          <a:prstGeom prst="rect">
            <a:avLst/>
          </a:prstGeom>
          <a:noFill/>
        </p:spPr>
        <p:txBody>
          <a:bodyPr wrap="square" anchor="t" lIns="0" rIns="0" tIns="0" bIns="0">
            <a:spAutoFit/>
          </a:bodyPr>
          <a:lstStyle/>
          <a:p>
            <a:pPr algn="l">
              <a:spcAft>
                <a:spcPts val="400"/>
              </a:spcAft>
            </a:pPr>
            <a:r>
              <a:rPr sz="1600">
                <a:solidFill>
                  <a:srgbClr val="5F6670"/>
                </a:solidFill>
                <a:latin typeface="+mj-lt"/>
              </a:rPr>
              <a:t>Private infrastructure</a:t>
            </a:r>
          </a:p>
        </p:txBody>
      </p:sp>
      <p:sp>
        <p:nvSpPr>
          <p:cNvPr id="21" name="TextBox 20"/>
          <p:cNvSpPr txBox="1"/>
          <p:nvPr/>
        </p:nvSpPr>
        <p:spPr>
          <a:xfrm>
            <a:off x="3913631" y="4325112"/>
            <a:ext cx="2103120" cy="1280160"/>
          </a:xfrm>
          <a:prstGeom prst="rect">
            <a:avLst/>
          </a:prstGeom>
          <a:noFill/>
        </p:spPr>
        <p:txBody>
          <a:bodyPr wrap="square" anchor="t" lIns="0" rIns="0" tIns="0" bIns="0">
            <a:spAutoFit/>
          </a:bodyPr>
          <a:lstStyle/>
          <a:p>
            <a:pPr algn="l">
              <a:spcAft>
                <a:spcPts val="400"/>
              </a:spcAft>
            </a:pPr>
            <a:r>
              <a:rPr sz="1300">
                <a:solidFill>
                  <a:srgbClr val="5F6670"/>
                </a:solidFill>
              </a:rPr>
              <a:t>They control it, and they run it themselves</a:t>
            </a:r>
          </a:p>
        </p:txBody>
      </p:sp>
      <p:sp>
        <p:nvSpPr>
          <p:cNvPr id="22" name="TextBox 21"/>
          <p:cNvSpPr txBox="1"/>
          <p:nvPr/>
        </p:nvSpPr>
        <p:spPr>
          <a:xfrm rot="16200000">
            <a:off x="-1572768" y="3291840"/>
            <a:ext cx="4480560" cy="365760"/>
          </a:xfrm>
          <a:prstGeom prst="rect">
            <a:avLst/>
          </a:prstGeom>
          <a:noFill/>
        </p:spPr>
        <p:txBody>
          <a:bodyPr wrap="none" lIns="0" rIns="0" tIns="0" bIns="0">
            <a:spAutoFit/>
          </a:bodyPr>
          <a:lstStyle/>
          <a:p>
            <a:pPr algn="ctr">
              <a:spcAft>
                <a:spcPts val="400"/>
              </a:spcAft>
            </a:pPr>
            <a:r>
              <a:rPr sz="1200">
                <a:solidFill>
                  <a:srgbClr val="1F2328"/>
                </a:solidFill>
                <a:latin typeface="+mj-lt"/>
              </a:rPr>
              <a:t>Needs someone accountable to run it  →</a:t>
            </a:r>
          </a:p>
        </p:txBody>
      </p:sp>
      <p:sp>
        <p:nvSpPr>
          <p:cNvPr id="23" name="TextBox 22"/>
          <p:cNvSpPr txBox="1"/>
          <p:nvPr/>
        </p:nvSpPr>
        <p:spPr>
          <a:xfrm>
            <a:off x="1051560" y="5824728"/>
            <a:ext cx="5193792" cy="274320"/>
          </a:xfrm>
          <a:prstGeom prst="rect">
            <a:avLst/>
          </a:prstGeom>
          <a:noFill/>
        </p:spPr>
        <p:txBody>
          <a:bodyPr wrap="square" anchor="t" lIns="0" rIns="0" tIns="0" bIns="0">
            <a:spAutoFit/>
          </a:bodyPr>
          <a:lstStyle/>
          <a:p>
            <a:pPr algn="ctr">
              <a:spcAft>
                <a:spcPts val="400"/>
              </a:spcAft>
            </a:pPr>
            <a:r>
              <a:rPr sz="1200">
                <a:solidFill>
                  <a:schemeClr val="accent3"/>
                </a:solidFill>
                <a:latin typeface="+mj-lt"/>
              </a:rPr>
              <a:t>Needs control over where it runs  →</a:t>
            </a:r>
          </a:p>
        </p:txBody>
      </p:sp>
      <p:sp>
        <p:nvSpPr>
          <p:cNvPr id="24" name="TextBox 23"/>
          <p:cNvSpPr txBox="1"/>
          <p:nvPr/>
        </p:nvSpPr>
        <p:spPr>
          <a:xfrm>
            <a:off x="365760" y="6263640"/>
            <a:ext cx="10515600" cy="274320"/>
          </a:xfrm>
          <a:prstGeom prst="rect">
            <a:avLst/>
          </a:prstGeom>
          <a:noFill/>
        </p:spPr>
        <p:txBody>
          <a:bodyPr wrap="square" anchor="t" lIns="0" rIns="0" tIns="0" bIns="0">
            <a:spAutoFit/>
          </a:bodyPr>
          <a:lstStyle/>
          <a:p>
            <a:pPr algn="l">
              <a:spcAft>
                <a:spcPts val="400"/>
              </a:spcAft>
            </a:pPr>
            <a:r>
              <a:rPr sz="1100">
                <a:solidFill>
                  <a:srgbClr val="5F6670"/>
                </a:solidFill>
              </a:rPr>
              <a:t>A positioning model: the intersection we deliberately target, not a claim that no one else can be there.</a:t>
            </a:r>
          </a:p>
        </p:txBody>
      </p:sp>
      <p:sp>
        <p:nvSpPr>
          <p:cNvPr id="25" name="Rounded Rectangle 24"/>
          <p:cNvSpPr/>
          <p:nvPr/>
        </p:nvSpPr>
        <p:spPr>
          <a:xfrm>
            <a:off x="6720840" y="1325880"/>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26" name="TextBox 25"/>
          <p:cNvSpPr txBox="1"/>
          <p:nvPr/>
        </p:nvSpPr>
        <p:spPr>
          <a:xfrm>
            <a:off x="6720840" y="1691640"/>
            <a:ext cx="5074920" cy="1188720"/>
          </a:xfrm>
          <a:prstGeom prst="rect">
            <a:avLst/>
          </a:prstGeom>
          <a:noFill/>
        </p:spPr>
        <p:txBody>
          <a:bodyPr wrap="square" anchor="t" lIns="0" rIns="0" tIns="0" bIns="0">
            <a:spAutoFit/>
          </a:bodyPr>
          <a:lstStyle/>
          <a:p>
            <a:pPr algn="l">
              <a:spcAft>
                <a:spcPts val="400"/>
              </a:spcAft>
            </a:pPr>
            <a:r>
              <a:rPr sz="2000">
                <a:solidFill>
                  <a:srgbClr val="1F2328"/>
                </a:solidFill>
                <a:latin typeface="+mj-lt"/>
              </a:rPr>
              <a:t>We take responsibility for running it.</a:t>
            </a:r>
          </a:p>
          <a:p>
            <a:pPr algn="l">
              <a:spcAft>
                <a:spcPts val="400"/>
              </a:spcAft>
            </a:pPr>
            <a:r>
              <a:rPr sz="1400">
                <a:solidFill>
                  <a:srgbClr val="5F6670"/>
                </a:solidFill>
              </a:rPr>
              <a:t>SLOs, incidents, model lifecycle, capacity and cost, accountable to the customer.</a:t>
            </a:r>
          </a:p>
        </p:txBody>
      </p:sp>
      <p:sp>
        <p:nvSpPr>
          <p:cNvPr id="27" name="Rounded Rectangle 26"/>
          <p:cNvSpPr/>
          <p:nvPr/>
        </p:nvSpPr>
        <p:spPr>
          <a:xfrm>
            <a:off x="6720840" y="3063240"/>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28" name="TextBox 27"/>
          <p:cNvSpPr txBox="1"/>
          <p:nvPr/>
        </p:nvSpPr>
        <p:spPr>
          <a:xfrm>
            <a:off x="6720840" y="3429000"/>
            <a:ext cx="5074920" cy="1188720"/>
          </a:xfrm>
          <a:prstGeom prst="rect">
            <a:avLst/>
          </a:prstGeom>
          <a:noFill/>
        </p:spPr>
        <p:txBody>
          <a:bodyPr wrap="square" anchor="t" lIns="0" rIns="0" tIns="0" bIns="0">
            <a:spAutoFit/>
          </a:bodyPr>
          <a:lstStyle/>
          <a:p>
            <a:pPr algn="l">
              <a:spcAft>
                <a:spcPts val="400"/>
              </a:spcAft>
            </a:pPr>
            <a:r>
              <a:rPr sz="2000">
                <a:solidFill>
                  <a:srgbClr val="1F2328"/>
                </a:solidFill>
                <a:latin typeface="+mj-lt"/>
              </a:rPr>
              <a:t>It stays theirs, and they can verify it.</a:t>
            </a:r>
          </a:p>
          <a:p>
            <a:pPr algn="l">
              <a:spcAft>
                <a:spcPts val="400"/>
              </a:spcAft>
            </a:pPr>
            <a:r>
              <a:rPr sz="1400">
                <a:solidFill>
                  <a:srgbClr val="5F6670"/>
                </a:solidFill>
              </a:rPr>
              <a:t>They control where data, models, inference and operations run, inside a boundary we can prove.</a:t>
            </a:r>
          </a:p>
        </p:txBody>
      </p:sp>
      <p:sp>
        <p:nvSpPr>
          <p:cNvPr id="29" name="Rounded Rectangle 28"/>
          <p:cNvSpPr/>
          <p:nvPr/>
        </p:nvSpPr>
        <p:spPr>
          <a:xfrm>
            <a:off x="6720840" y="4846320"/>
            <a:ext cx="5074920" cy="132588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30" name="TextBox 29"/>
          <p:cNvSpPr txBox="1"/>
          <p:nvPr/>
        </p:nvSpPr>
        <p:spPr>
          <a:xfrm>
            <a:off x="6949440" y="4956048"/>
            <a:ext cx="4663440" cy="1143000"/>
          </a:xfrm>
          <a:prstGeom prst="rect">
            <a:avLst/>
          </a:prstGeom>
          <a:noFill/>
        </p:spPr>
        <p:txBody>
          <a:bodyPr wrap="square" anchor="ctr" lIns="0" rIns="0" tIns="0" bIns="0">
            <a:spAutoFit/>
          </a:bodyPr>
          <a:lstStyle/>
          <a:p>
            <a:pPr algn="l">
              <a:spcAft>
                <a:spcPts val="600"/>
              </a:spcAft>
            </a:pPr>
            <a:r>
              <a:rPr sz="1400">
                <a:solidFill>
                  <a:srgbClr val="1F2328"/>
                </a:solidFill>
                <a:latin typeface="+mj-lt"/>
              </a:rPr>
              <a:t>Part 1 · roadmap: </a:t>
            </a:r>
            <a:r>
              <a:rPr sz="1400">
                <a:solidFill>
                  <a:srgbClr val="1F2328"/>
                </a:solidFill>
              </a:rPr>
              <a:t>can customers trust us to operate their AI?</a:t>
            </a:r>
          </a:p>
          <a:p>
            <a:pPr algn="l">
              <a:spcAft>
                <a:spcPts val="400"/>
              </a:spcAft>
            </a:pPr>
            <a:r>
              <a:rPr sz="1400">
                <a:solidFill>
                  <a:srgbClr val="1F2328"/>
                </a:solidFill>
                <a:latin typeface="+mj-lt"/>
              </a:rPr>
              <a:t>Part 2 · MI350P: </a:t>
            </a:r>
            <a:r>
              <a:rPr sz="1400">
                <a:solidFill>
                  <a:srgbClr val="1F2328"/>
                </a:solidFill>
              </a:rPr>
              <a:t>can we prove the performance and boundaries of the capacity it runs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10" name="Picture 9" descr="map.png"/>
          <p:cNvPicPr>
            <a:picLocks noChangeAspect="1"/>
          </p:cNvPicPr>
          <p:nvPr/>
        </p:nvPicPr>
        <p:blipFill>
          <a:blip r:embed="rId2"/>
          <a:stretch>
            <a:fillRect/>
          </a:stretch>
        </p:blipFill>
        <p:spPr>
          <a:xfrm>
            <a:off x="822960" y="1737360"/>
            <a:ext cx="640080" cy="640080"/>
          </a:xfrm>
          <a:prstGeom prst="rect">
            <a:avLst/>
          </a:prstGeom>
        </p:spPr>
      </p:pic>
      <p:sp>
        <p:nvSpPr>
          <p:cNvPr id="11" name="TextBox 10"/>
          <p:cNvSpPr txBox="1"/>
          <p:nvPr/>
        </p:nvSpPr>
        <p:spPr>
          <a:xfrm>
            <a:off x="822960" y="2606040"/>
            <a:ext cx="10058400" cy="365760"/>
          </a:xfrm>
          <a:prstGeom prst="rect">
            <a:avLst/>
          </a:prstGeom>
          <a:noFill/>
        </p:spPr>
        <p:txBody>
          <a:bodyPr wrap="square" anchor="t" lIns="0" rIns="0" tIns="0" bIns="0">
            <a:spAutoFit/>
          </a:bodyPr>
          <a:lstStyle/>
          <a:p>
            <a:pPr algn="l">
              <a:spcAft>
                <a:spcPts val="400"/>
              </a:spcAft>
            </a:pPr>
            <a:r>
              <a:rPr sz="1600">
                <a:solidFill>
                  <a:schemeClr val="accent1"/>
                </a:solidFill>
                <a:latin typeface="+mj-lt"/>
              </a:rPr>
              <a:t>PART 1 · THE OPERATOR</a:t>
            </a:r>
          </a:p>
        </p:txBody>
      </p:sp>
      <p:sp>
        <p:nvSpPr>
          <p:cNvPr id="12" name="TextBox 11"/>
          <p:cNvSpPr txBox="1"/>
          <p:nvPr/>
        </p:nvSpPr>
        <p:spPr>
          <a:xfrm>
            <a:off x="822960" y="3017520"/>
            <a:ext cx="10515600" cy="1463040"/>
          </a:xfrm>
          <a:prstGeom prst="rect">
            <a:avLst/>
          </a:prstGeom>
          <a:noFill/>
        </p:spPr>
        <p:txBody>
          <a:bodyPr wrap="square" anchor="t" lIns="0" rIns="0" tIns="0" bIns="0">
            <a:spAutoFit/>
          </a:bodyPr>
          <a:lstStyle/>
          <a:p>
            <a:pPr algn="l">
              <a:spcAft>
                <a:spcPts val="400"/>
              </a:spcAft>
            </a:pPr>
            <a:r>
              <a:rPr sz="3800">
                <a:solidFill>
                  <a:srgbClr val="1F2328"/>
                </a:solidFill>
                <a:latin typeface="+mj-lt"/>
              </a:rPr>
              <a:t>Can customers trust us to operate their AI?</a:t>
            </a:r>
          </a:p>
        </p:txBody>
      </p:sp>
      <p:sp>
        <p:nvSpPr>
          <p:cNvPr id="13" name="TextBox 12"/>
          <p:cNvSpPr txBox="1"/>
          <p:nvPr/>
        </p:nvSpPr>
        <p:spPr>
          <a:xfrm>
            <a:off x="822960" y="4709160"/>
            <a:ext cx="10515600" cy="548640"/>
          </a:xfrm>
          <a:prstGeom prst="rect">
            <a:avLst/>
          </a:prstGeom>
          <a:noFill/>
        </p:spPr>
        <p:txBody>
          <a:bodyPr wrap="square" anchor="t" lIns="0" rIns="0" tIns="0" bIns="0">
            <a:spAutoFit/>
          </a:bodyPr>
          <a:lstStyle/>
          <a:p>
            <a:pPr algn="l">
              <a:spcAft>
                <a:spcPts val="400"/>
              </a:spcAft>
            </a:pPr>
            <a:r>
              <a:rPr sz="2000">
                <a:solidFill>
                  <a:srgbClr val="5F6670"/>
                </a:solidFill>
              </a:rPr>
              <a:t>The roadmap determines what RackAI must become.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What an </a:t>
            </a:r>
            <a:r>
              <a:rPr sz="3200">
                <a:solidFill>
                  <a:schemeClr val="accent1"/>
                </a:solidFill>
              </a:rPr>
              <a:t>operated estate</a:t>
            </a:r>
            <a:r>
              <a:rPr sz="3200"/>
              <a:t> looks like</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0" name="Rounded Rectangle 9"/>
          <p:cNvSpPr/>
          <p:nvPr/>
        </p:nvSpPr>
        <p:spPr>
          <a:xfrm>
            <a:off x="9464040" y="384048"/>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1" name="Rounded Rectangle 10"/>
          <p:cNvSpPr/>
          <p:nvPr/>
        </p:nvSpPr>
        <p:spPr>
          <a:xfrm>
            <a:off x="10607040" y="384048"/>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2" name="TextBox 11"/>
          <p:cNvSpPr txBox="1"/>
          <p:nvPr/>
        </p:nvSpPr>
        <p:spPr>
          <a:xfrm>
            <a:off x="365760" y="1051560"/>
            <a:ext cx="11430000" cy="411480"/>
          </a:xfrm>
          <a:prstGeom prst="rect">
            <a:avLst/>
          </a:prstGeom>
          <a:noFill/>
        </p:spPr>
        <p:txBody>
          <a:bodyPr wrap="square" anchor="t" lIns="0" rIns="0" tIns="0" bIns="0">
            <a:spAutoFit/>
          </a:bodyPr>
          <a:lstStyle/>
          <a:p>
            <a:pPr algn="l">
              <a:spcAft>
                <a:spcPts val="400"/>
              </a:spcAft>
            </a:pPr>
            <a:r>
              <a:rPr sz="1600">
                <a:solidFill>
                  <a:srgbClr val="5F6670"/>
                </a:solidFill>
              </a:rPr>
              <a:t>The Minimum Operable Estate: the smallest environment where "we operate your AI" is legitimately true.</a:t>
            </a:r>
          </a:p>
        </p:txBody>
      </p:sp>
      <p:sp>
        <p:nvSpPr>
          <p:cNvPr id="13" name="Rounded Rectangle 12"/>
          <p:cNvSpPr/>
          <p:nvPr/>
        </p:nvSpPr>
        <p:spPr>
          <a:xfrm>
            <a:off x="365760" y="1645920"/>
            <a:ext cx="5257800" cy="4572000"/>
          </a:xfrm>
          <a:prstGeom prst="roundRect">
            <a:avLst>
              <a:gd name="adj" fmla="val 5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4" name="TextBox 13"/>
          <p:cNvSpPr txBox="1"/>
          <p:nvPr/>
        </p:nvSpPr>
        <p:spPr>
          <a:xfrm>
            <a:off x="594360" y="1783080"/>
            <a:ext cx="4846320" cy="274320"/>
          </a:xfrm>
          <a:prstGeom prst="rect">
            <a:avLst/>
          </a:prstGeom>
          <a:noFill/>
        </p:spPr>
        <p:txBody>
          <a:bodyPr wrap="square" anchor="t" lIns="0" rIns="0" tIns="0" bIns="0">
            <a:spAutoFit/>
          </a:bodyPr>
          <a:lstStyle/>
          <a:p>
            <a:pPr algn="l">
              <a:spcAft>
                <a:spcPts val="400"/>
              </a:spcAft>
            </a:pPr>
            <a:r>
              <a:rPr sz="1100">
                <a:solidFill>
                  <a:schemeClr val="accent3"/>
                </a:solidFill>
                <a:latin typeface="+mj-lt"/>
              </a:rPr>
              <a:t>SOVEREIGN · THE CUSTOMER'S PRIVATE BOUNDARY</a:t>
            </a:r>
          </a:p>
        </p:txBody>
      </p:sp>
      <p:sp>
        <p:nvSpPr>
          <p:cNvPr id="15" name="Rounded Rectangle 14"/>
          <p:cNvSpPr/>
          <p:nvPr/>
        </p:nvSpPr>
        <p:spPr>
          <a:xfrm>
            <a:off x="594360" y="2148840"/>
            <a:ext cx="4800600" cy="768096"/>
          </a:xfrm>
          <a:prstGeom prst="roundRect">
            <a:avLst>
              <a:gd name="adj" fmla="val 1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6" name="TextBox 15"/>
          <p:cNvSpPr txBox="1"/>
          <p:nvPr/>
        </p:nvSpPr>
        <p:spPr>
          <a:xfrm>
            <a:off x="777240" y="2240280"/>
            <a:ext cx="274320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WORKLOAD</a:t>
            </a:r>
          </a:p>
        </p:txBody>
      </p:sp>
      <p:sp>
        <p:nvSpPr>
          <p:cNvPr id="17" name="Rounded Rectangle 16"/>
          <p:cNvSpPr/>
          <p:nvPr/>
        </p:nvSpPr>
        <p:spPr>
          <a:xfrm>
            <a:off x="777240" y="2496312"/>
            <a:ext cx="2103120" cy="329184"/>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200">
                <a:solidFill>
                  <a:srgbClr val="1F2328"/>
                </a:solidFill>
                <a:latin typeface="+mj-lt"/>
              </a:rPr>
              <a:t>2 models</a:t>
            </a:r>
          </a:p>
        </p:txBody>
      </p:sp>
      <p:sp>
        <p:nvSpPr>
          <p:cNvPr id="18" name="Rounded Rectangle 17"/>
          <p:cNvSpPr/>
          <p:nvPr/>
        </p:nvSpPr>
        <p:spPr>
          <a:xfrm>
            <a:off x="3017520" y="2496312"/>
            <a:ext cx="2103120" cy="329184"/>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200">
                <a:solidFill>
                  <a:srgbClr val="1F2328"/>
                </a:solidFill>
                <a:latin typeface="+mj-lt"/>
              </a:rPr>
              <a:t>Governed harness v1</a:t>
            </a:r>
          </a:p>
        </p:txBody>
      </p:sp>
      <p:sp>
        <p:nvSpPr>
          <p:cNvPr id="19" name="Rounded Rectangle 18"/>
          <p:cNvSpPr/>
          <p:nvPr/>
        </p:nvSpPr>
        <p:spPr>
          <a:xfrm>
            <a:off x="594360" y="3008376"/>
            <a:ext cx="4800600" cy="1572768"/>
          </a:xfrm>
          <a:prstGeom prst="roundRect">
            <a:avLst>
              <a:gd name="adj" fmla="val 1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20" name="TextBox 19"/>
          <p:cNvSpPr txBox="1"/>
          <p:nvPr/>
        </p:nvSpPr>
        <p:spPr>
          <a:xfrm>
            <a:off x="777240" y="3099816"/>
            <a:ext cx="274320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OPERATIONS · THE OPERATOR'S JOB</a:t>
            </a:r>
          </a:p>
        </p:txBody>
      </p:sp>
      <p:sp>
        <p:nvSpPr>
          <p:cNvPr id="21" name="Rounded Rectangle 20"/>
          <p:cNvSpPr/>
          <p:nvPr/>
        </p:nvSpPr>
        <p:spPr>
          <a:xfrm>
            <a:off x="777240" y="3355848"/>
            <a:ext cx="2103120" cy="329184"/>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200">
                <a:solidFill>
                  <a:srgbClr val="1F2328"/>
                </a:solidFill>
                <a:latin typeface="+mj-lt"/>
              </a:rPr>
              <a:t>Metering</a:t>
            </a:r>
          </a:p>
        </p:txBody>
      </p:sp>
      <p:sp>
        <p:nvSpPr>
          <p:cNvPr id="22" name="Rounded Rectangle 21"/>
          <p:cNvSpPr/>
          <p:nvPr/>
        </p:nvSpPr>
        <p:spPr>
          <a:xfrm>
            <a:off x="3017520" y="3355848"/>
            <a:ext cx="2103120" cy="329184"/>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200">
                <a:solidFill>
                  <a:srgbClr val="1F2328"/>
                </a:solidFill>
                <a:latin typeface="+mj-lt"/>
              </a:rPr>
              <a:t>Observability</a:t>
            </a:r>
          </a:p>
        </p:txBody>
      </p:sp>
      <p:sp>
        <p:nvSpPr>
          <p:cNvPr id="23" name="Rounded Rectangle 22"/>
          <p:cNvSpPr/>
          <p:nvPr/>
        </p:nvSpPr>
        <p:spPr>
          <a:xfrm>
            <a:off x="777240" y="3758184"/>
            <a:ext cx="2103120" cy="329184"/>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200">
                <a:solidFill>
                  <a:srgbClr val="1F2328"/>
                </a:solidFill>
                <a:latin typeface="+mj-lt"/>
              </a:rPr>
              <a:t>Audit trail</a:t>
            </a:r>
          </a:p>
        </p:txBody>
      </p:sp>
      <p:sp>
        <p:nvSpPr>
          <p:cNvPr id="24" name="Rounded Rectangle 23"/>
          <p:cNvSpPr/>
          <p:nvPr/>
        </p:nvSpPr>
        <p:spPr>
          <a:xfrm>
            <a:off x="3017520" y="3758184"/>
            <a:ext cx="2103120" cy="329184"/>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200">
                <a:solidFill>
                  <a:srgbClr val="1F2328"/>
                </a:solidFill>
                <a:latin typeface="+mj-lt"/>
              </a:rPr>
              <a:t>Identity &amp; policy</a:t>
            </a:r>
          </a:p>
        </p:txBody>
      </p:sp>
      <p:sp>
        <p:nvSpPr>
          <p:cNvPr id="25" name="Rounded Rectangle 24"/>
          <p:cNvSpPr/>
          <p:nvPr/>
        </p:nvSpPr>
        <p:spPr>
          <a:xfrm>
            <a:off x="777240" y="4160520"/>
            <a:ext cx="2103120" cy="329184"/>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200">
                <a:solidFill>
                  <a:srgbClr val="1F2328"/>
                </a:solidFill>
                <a:latin typeface="+mj-lt"/>
              </a:rPr>
              <a:t>Model lifecycle</a:t>
            </a:r>
          </a:p>
        </p:txBody>
      </p:sp>
      <p:sp>
        <p:nvSpPr>
          <p:cNvPr id="26" name="Rounded Rectangle 25"/>
          <p:cNvSpPr/>
          <p:nvPr/>
        </p:nvSpPr>
        <p:spPr>
          <a:xfrm>
            <a:off x="3017520" y="4160520"/>
            <a:ext cx="2103120" cy="329184"/>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200">
                <a:solidFill>
                  <a:srgbClr val="1F2328"/>
                </a:solidFill>
                <a:latin typeface="+mj-lt"/>
              </a:rPr>
              <a:t>Basic routing</a:t>
            </a:r>
          </a:p>
        </p:txBody>
      </p:sp>
      <p:sp>
        <p:nvSpPr>
          <p:cNvPr id="27" name="Rounded Rectangle 26"/>
          <p:cNvSpPr/>
          <p:nvPr/>
        </p:nvSpPr>
        <p:spPr>
          <a:xfrm>
            <a:off x="594360" y="4672584"/>
            <a:ext cx="4800600" cy="768096"/>
          </a:xfrm>
          <a:prstGeom prst="roundRect">
            <a:avLst>
              <a:gd name="adj" fmla="val 1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28" name="TextBox 27"/>
          <p:cNvSpPr txBox="1"/>
          <p:nvPr/>
        </p:nvSpPr>
        <p:spPr>
          <a:xfrm>
            <a:off x="777240" y="4764024"/>
            <a:ext cx="274320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SUPPLY</a:t>
            </a:r>
          </a:p>
        </p:txBody>
      </p:sp>
      <p:sp>
        <p:nvSpPr>
          <p:cNvPr id="29" name="Rounded Rectangle 28"/>
          <p:cNvSpPr/>
          <p:nvPr/>
        </p:nvSpPr>
        <p:spPr>
          <a:xfrm>
            <a:off x="777240" y="5020056"/>
            <a:ext cx="4434840" cy="329184"/>
          </a:xfrm>
          <a:prstGeom prst="roundRect">
            <a:avLst>
              <a:gd name="adj" fmla="val 5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200">
                <a:solidFill>
                  <a:srgbClr val="1F2328"/>
                </a:solidFill>
                <a:latin typeface="+mj-lt"/>
              </a:rPr>
              <a:t>1 owned GPU source, behind the supply interface</a:t>
            </a:r>
          </a:p>
        </p:txBody>
      </p:sp>
      <p:sp>
        <p:nvSpPr>
          <p:cNvPr id="30" name="TextBox 29"/>
          <p:cNvSpPr txBox="1"/>
          <p:nvPr/>
        </p:nvSpPr>
        <p:spPr>
          <a:xfrm>
            <a:off x="594360" y="5669280"/>
            <a:ext cx="4846320" cy="411480"/>
          </a:xfrm>
          <a:prstGeom prst="rect">
            <a:avLst/>
          </a:prstGeom>
          <a:noFill/>
        </p:spPr>
        <p:txBody>
          <a:bodyPr wrap="square" anchor="t" lIns="0" rIns="0" tIns="0" bIns="0">
            <a:spAutoFit/>
          </a:bodyPr>
          <a:lstStyle/>
          <a:p>
            <a:pPr algn="l">
              <a:spcAft>
                <a:spcPts val="400"/>
              </a:spcAft>
            </a:pPr>
            <a:r>
              <a:rPr sz="1300">
                <a:solidFill>
                  <a:srgbClr val="1F2328"/>
                </a:solidFill>
                <a:latin typeface="+mj-lt"/>
              </a:rPr>
              <a:t>Human-operated </a:t>
            </a:r>
            <a:r>
              <a:rPr sz="1300">
                <a:solidFill>
                  <a:srgbClr val="1F2328"/>
                </a:solidFill>
              </a:rPr>
              <a:t>wherever automation would be speculative.</a:t>
            </a:r>
          </a:p>
        </p:txBody>
      </p:sp>
      <p:sp>
        <p:nvSpPr>
          <p:cNvPr id="31" name="TextBox 30"/>
          <p:cNvSpPr txBox="1"/>
          <p:nvPr/>
        </p:nvSpPr>
        <p:spPr>
          <a:xfrm>
            <a:off x="7452360" y="1691640"/>
            <a:ext cx="201168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MOE-0 · REHEARSAL</a:t>
            </a:r>
          </a:p>
        </p:txBody>
      </p:sp>
      <p:sp>
        <p:nvSpPr>
          <p:cNvPr id="32" name="TextBox 31"/>
          <p:cNvSpPr txBox="1"/>
          <p:nvPr/>
        </p:nvSpPr>
        <p:spPr>
          <a:xfrm>
            <a:off x="9692640" y="1691640"/>
            <a:ext cx="2103120" cy="274320"/>
          </a:xfrm>
          <a:prstGeom prst="rect">
            <a:avLst/>
          </a:prstGeom>
          <a:noFill/>
        </p:spPr>
        <p:txBody>
          <a:bodyPr wrap="square" anchor="t" lIns="0" rIns="0" tIns="0" bIns="0">
            <a:spAutoFit/>
          </a:bodyPr>
          <a:lstStyle/>
          <a:p>
            <a:pPr algn="l">
              <a:spcAft>
                <a:spcPts val="400"/>
              </a:spcAft>
            </a:pPr>
            <a:r>
              <a:rPr sz="1100">
                <a:solidFill>
                  <a:schemeClr val="accent1"/>
                </a:solidFill>
                <a:latin typeface="+mj-lt"/>
              </a:rPr>
              <a:t>MOE-1 · IDENTITY PROOF</a:t>
            </a:r>
          </a:p>
        </p:txBody>
      </p:sp>
      <p:sp>
        <p:nvSpPr>
          <p:cNvPr id="33" name="Rounded Rectangle 32"/>
          <p:cNvSpPr/>
          <p:nvPr/>
        </p:nvSpPr>
        <p:spPr>
          <a:xfrm>
            <a:off x="7315200" y="2011680"/>
            <a:ext cx="2148840" cy="42062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34" name="Rounded Rectangle 33"/>
          <p:cNvSpPr/>
          <p:nvPr/>
        </p:nvSpPr>
        <p:spPr>
          <a:xfrm>
            <a:off x="9601200" y="2011680"/>
            <a:ext cx="2194560" cy="420624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35" name="TextBox 34"/>
          <p:cNvSpPr txBox="1"/>
          <p:nvPr/>
        </p:nvSpPr>
        <p:spPr>
          <a:xfrm>
            <a:off x="5852160" y="2148840"/>
            <a:ext cx="1371600" cy="914400"/>
          </a:xfrm>
          <a:prstGeom prst="rect">
            <a:avLst/>
          </a:prstGeom>
          <a:noFill/>
        </p:spPr>
        <p:txBody>
          <a:bodyPr wrap="square" anchor="t" lIns="0" rIns="0" tIns="0" bIns="0">
            <a:spAutoFit/>
          </a:bodyPr>
          <a:lstStyle/>
          <a:p>
            <a:pPr algn="l">
              <a:spcAft>
                <a:spcPts val="400"/>
              </a:spcAft>
            </a:pPr>
            <a:r>
              <a:rPr sz="1300">
                <a:solidFill>
                  <a:srgbClr val="1F2328"/>
                </a:solidFill>
                <a:latin typeface="+mj-lt"/>
              </a:rPr>
              <a:t>Whose estate</a:t>
            </a:r>
          </a:p>
        </p:txBody>
      </p:sp>
      <p:sp>
        <p:nvSpPr>
          <p:cNvPr id="36" name="TextBox 35"/>
          <p:cNvSpPr txBox="1"/>
          <p:nvPr/>
        </p:nvSpPr>
        <p:spPr>
          <a:xfrm>
            <a:off x="7452360" y="2148840"/>
            <a:ext cx="1920240" cy="914400"/>
          </a:xfrm>
          <a:prstGeom prst="rect">
            <a:avLst/>
          </a:prstGeom>
          <a:noFill/>
        </p:spPr>
        <p:txBody>
          <a:bodyPr wrap="square" anchor="t" lIns="0" rIns="0" tIns="0" bIns="0">
            <a:spAutoFit/>
          </a:bodyPr>
          <a:lstStyle/>
          <a:p>
            <a:pPr algn="l">
              <a:spcAft>
                <a:spcPts val="400"/>
              </a:spcAft>
            </a:pPr>
            <a:r>
              <a:rPr sz="1300">
                <a:solidFill>
                  <a:srgbClr val="5F6670"/>
                </a:solidFill>
              </a:rPr>
              <a:t>Friendly or internal</a:t>
            </a:r>
          </a:p>
        </p:txBody>
      </p:sp>
      <p:sp>
        <p:nvSpPr>
          <p:cNvPr id="37" name="TextBox 36"/>
          <p:cNvSpPr txBox="1"/>
          <p:nvPr/>
        </p:nvSpPr>
        <p:spPr>
          <a:xfrm>
            <a:off x="9738360" y="2148840"/>
            <a:ext cx="1965960" cy="914400"/>
          </a:xfrm>
          <a:prstGeom prst="rect">
            <a:avLst/>
          </a:prstGeom>
          <a:noFill/>
        </p:spPr>
        <p:txBody>
          <a:bodyPr wrap="square" anchor="t" lIns="0" rIns="0" tIns="0" bIns="0">
            <a:spAutoFit/>
          </a:bodyPr>
          <a:lstStyle/>
          <a:p>
            <a:pPr algn="l">
              <a:spcAft>
                <a:spcPts val="400"/>
              </a:spcAft>
            </a:pPr>
            <a:r>
              <a:rPr sz="1300">
                <a:solidFill>
                  <a:srgbClr val="1F2328"/>
                </a:solidFill>
                <a:latin typeface="+mj-lt"/>
              </a:rPr>
              <a:t>External, regulated customer</a:t>
            </a:r>
          </a:p>
        </p:txBody>
      </p:sp>
      <p:sp>
        <p:nvSpPr>
          <p:cNvPr id="38" name="TextBox 37"/>
          <p:cNvSpPr txBox="1"/>
          <p:nvPr/>
        </p:nvSpPr>
        <p:spPr>
          <a:xfrm>
            <a:off x="5852160" y="3154680"/>
            <a:ext cx="1371600" cy="914400"/>
          </a:xfrm>
          <a:prstGeom prst="rect">
            <a:avLst/>
          </a:prstGeom>
          <a:noFill/>
        </p:spPr>
        <p:txBody>
          <a:bodyPr wrap="square" anchor="t" lIns="0" rIns="0" tIns="0" bIns="0">
            <a:spAutoFit/>
          </a:bodyPr>
          <a:lstStyle/>
          <a:p>
            <a:pPr algn="l">
              <a:spcAft>
                <a:spcPts val="400"/>
              </a:spcAft>
            </a:pPr>
            <a:r>
              <a:rPr sz="1300">
                <a:solidFill>
                  <a:srgbClr val="1F2328"/>
                </a:solidFill>
                <a:latin typeface="+mj-lt"/>
              </a:rPr>
              <a:t>Who is accountable</a:t>
            </a:r>
          </a:p>
        </p:txBody>
      </p:sp>
      <p:sp>
        <p:nvSpPr>
          <p:cNvPr id="39" name="TextBox 38"/>
          <p:cNvSpPr txBox="1"/>
          <p:nvPr/>
        </p:nvSpPr>
        <p:spPr>
          <a:xfrm>
            <a:off x="7452360" y="3154680"/>
            <a:ext cx="1920240" cy="914400"/>
          </a:xfrm>
          <a:prstGeom prst="rect">
            <a:avLst/>
          </a:prstGeom>
          <a:noFill/>
        </p:spPr>
        <p:txBody>
          <a:bodyPr wrap="square" anchor="t" lIns="0" rIns="0" tIns="0" bIns="0">
            <a:spAutoFit/>
          </a:bodyPr>
          <a:lstStyle/>
          <a:p>
            <a:pPr algn="l">
              <a:spcAft>
                <a:spcPts val="400"/>
              </a:spcAft>
            </a:pPr>
            <a:r>
              <a:rPr sz="1300">
                <a:solidFill>
                  <a:srgbClr val="5F6670"/>
                </a:solidFill>
              </a:rPr>
              <a:t>Us, as a rehearsal</a:t>
            </a:r>
          </a:p>
        </p:txBody>
      </p:sp>
      <p:sp>
        <p:nvSpPr>
          <p:cNvPr id="40" name="TextBox 39"/>
          <p:cNvSpPr txBox="1"/>
          <p:nvPr/>
        </p:nvSpPr>
        <p:spPr>
          <a:xfrm>
            <a:off x="9738360" y="3154680"/>
            <a:ext cx="1965960" cy="914400"/>
          </a:xfrm>
          <a:prstGeom prst="rect">
            <a:avLst/>
          </a:prstGeom>
          <a:noFill/>
        </p:spPr>
        <p:txBody>
          <a:bodyPr wrap="square" anchor="t" lIns="0" rIns="0" tIns="0" bIns="0">
            <a:spAutoFit/>
          </a:bodyPr>
          <a:lstStyle/>
          <a:p>
            <a:pPr algn="l">
              <a:spcAft>
                <a:spcPts val="400"/>
              </a:spcAft>
            </a:pPr>
            <a:r>
              <a:rPr sz="1300">
                <a:solidFill>
                  <a:srgbClr val="1F2328"/>
                </a:solidFill>
                <a:latin typeface="+mj-lt"/>
              </a:rPr>
              <a:t>Us, by agreement</a:t>
            </a:r>
          </a:p>
        </p:txBody>
      </p:sp>
      <p:sp>
        <p:nvSpPr>
          <p:cNvPr id="41" name="TextBox 40"/>
          <p:cNvSpPr txBox="1"/>
          <p:nvPr/>
        </p:nvSpPr>
        <p:spPr>
          <a:xfrm>
            <a:off x="5852160" y="4160520"/>
            <a:ext cx="1371600" cy="914400"/>
          </a:xfrm>
          <a:prstGeom prst="rect">
            <a:avLst/>
          </a:prstGeom>
          <a:noFill/>
        </p:spPr>
        <p:txBody>
          <a:bodyPr wrap="square" anchor="t" lIns="0" rIns="0" tIns="0" bIns="0">
            <a:spAutoFit/>
          </a:bodyPr>
          <a:lstStyle/>
          <a:p>
            <a:pPr algn="l">
              <a:spcAft>
                <a:spcPts val="400"/>
              </a:spcAft>
            </a:pPr>
            <a:r>
              <a:rPr sz="1300">
                <a:solidFill>
                  <a:srgbClr val="1F2328"/>
                </a:solidFill>
                <a:latin typeface="+mj-lt"/>
              </a:rPr>
              <a:t>Who pays</a:t>
            </a:r>
          </a:p>
        </p:txBody>
      </p:sp>
      <p:sp>
        <p:nvSpPr>
          <p:cNvPr id="42" name="TextBox 41"/>
          <p:cNvSpPr txBox="1"/>
          <p:nvPr/>
        </p:nvSpPr>
        <p:spPr>
          <a:xfrm>
            <a:off x="7452360" y="4160520"/>
            <a:ext cx="1920240" cy="914400"/>
          </a:xfrm>
          <a:prstGeom prst="rect">
            <a:avLst/>
          </a:prstGeom>
          <a:noFill/>
        </p:spPr>
        <p:txBody>
          <a:bodyPr wrap="square" anchor="t" lIns="0" rIns="0" tIns="0" bIns="0">
            <a:spAutoFit/>
          </a:bodyPr>
          <a:lstStyle/>
          <a:p>
            <a:pPr algn="l">
              <a:spcAft>
                <a:spcPts val="400"/>
              </a:spcAft>
            </a:pPr>
            <a:r>
              <a:rPr sz="1300">
                <a:solidFill>
                  <a:srgbClr val="5F6670"/>
                </a:solidFill>
              </a:rPr>
              <a:t>No one</a:t>
            </a:r>
          </a:p>
        </p:txBody>
      </p:sp>
      <p:sp>
        <p:nvSpPr>
          <p:cNvPr id="43" name="TextBox 42"/>
          <p:cNvSpPr txBox="1"/>
          <p:nvPr/>
        </p:nvSpPr>
        <p:spPr>
          <a:xfrm>
            <a:off x="9738360" y="4160520"/>
            <a:ext cx="1965960" cy="914400"/>
          </a:xfrm>
          <a:prstGeom prst="rect">
            <a:avLst/>
          </a:prstGeom>
          <a:noFill/>
        </p:spPr>
        <p:txBody>
          <a:bodyPr wrap="square" anchor="t" lIns="0" rIns="0" tIns="0" bIns="0">
            <a:spAutoFit/>
          </a:bodyPr>
          <a:lstStyle/>
          <a:p>
            <a:pPr algn="l">
              <a:spcAft>
                <a:spcPts val="400"/>
              </a:spcAft>
            </a:pPr>
            <a:r>
              <a:rPr sz="1300">
                <a:solidFill>
                  <a:srgbClr val="1F2328"/>
                </a:solidFill>
                <a:latin typeface="+mj-lt"/>
              </a:rPr>
              <a:t>The customer</a:t>
            </a:r>
          </a:p>
        </p:txBody>
      </p:sp>
      <p:sp>
        <p:nvSpPr>
          <p:cNvPr id="44" name="TextBox 43"/>
          <p:cNvSpPr txBox="1"/>
          <p:nvPr/>
        </p:nvSpPr>
        <p:spPr>
          <a:xfrm>
            <a:off x="5852160" y="5166360"/>
            <a:ext cx="1371600" cy="914400"/>
          </a:xfrm>
          <a:prstGeom prst="rect">
            <a:avLst/>
          </a:prstGeom>
          <a:noFill/>
        </p:spPr>
        <p:txBody>
          <a:bodyPr wrap="square" anchor="t" lIns="0" rIns="0" tIns="0" bIns="0">
            <a:spAutoFit/>
          </a:bodyPr>
          <a:lstStyle/>
          <a:p>
            <a:pPr algn="l">
              <a:spcAft>
                <a:spcPts val="400"/>
              </a:spcAft>
            </a:pPr>
            <a:r>
              <a:rPr sz="1300">
                <a:solidFill>
                  <a:srgbClr val="1F2328"/>
                </a:solidFill>
                <a:latin typeface="+mj-lt"/>
              </a:rPr>
              <a:t>What it proves</a:t>
            </a:r>
          </a:p>
        </p:txBody>
      </p:sp>
      <p:sp>
        <p:nvSpPr>
          <p:cNvPr id="45" name="TextBox 44"/>
          <p:cNvSpPr txBox="1"/>
          <p:nvPr/>
        </p:nvSpPr>
        <p:spPr>
          <a:xfrm>
            <a:off x="7452360" y="5166360"/>
            <a:ext cx="1920240" cy="914400"/>
          </a:xfrm>
          <a:prstGeom prst="rect">
            <a:avLst/>
          </a:prstGeom>
          <a:noFill/>
        </p:spPr>
        <p:txBody>
          <a:bodyPr wrap="square" anchor="t" lIns="0" rIns="0" tIns="0" bIns="0">
            <a:spAutoFit/>
          </a:bodyPr>
          <a:lstStyle/>
          <a:p>
            <a:pPr algn="l">
              <a:spcAft>
                <a:spcPts val="400"/>
              </a:spcAft>
            </a:pPr>
            <a:r>
              <a:rPr sz="1300">
                <a:solidFill>
                  <a:srgbClr val="5F6670"/>
                </a:solidFill>
              </a:rPr>
              <a:t>Our runbooks, SLOs and incident process work</a:t>
            </a:r>
          </a:p>
        </p:txBody>
      </p:sp>
      <p:sp>
        <p:nvSpPr>
          <p:cNvPr id="46" name="TextBox 45"/>
          <p:cNvSpPr txBox="1"/>
          <p:nvPr/>
        </p:nvSpPr>
        <p:spPr>
          <a:xfrm>
            <a:off x="9738360" y="5166360"/>
            <a:ext cx="1965960" cy="914400"/>
          </a:xfrm>
          <a:prstGeom prst="rect">
            <a:avLst/>
          </a:prstGeom>
          <a:noFill/>
        </p:spPr>
        <p:txBody>
          <a:bodyPr wrap="square" anchor="t" lIns="0" rIns="0" tIns="0" bIns="0">
            <a:spAutoFit/>
          </a:bodyPr>
          <a:lstStyle/>
          <a:p>
            <a:pPr algn="l">
              <a:spcAft>
                <a:spcPts val="400"/>
              </a:spcAft>
            </a:pPr>
            <a:r>
              <a:rPr sz="1300">
                <a:solidFill>
                  <a:srgbClr val="1F2328"/>
                </a:solidFill>
                <a:latin typeface="+mj-lt"/>
              </a:rPr>
              <a:t>Customers delegate operations and pay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From supplier </a:t>
            </a:r>
            <a:r>
              <a:rPr sz="3200">
                <a:solidFill>
                  <a:schemeClr val="accent1"/>
                </a:solidFill>
              </a:rPr>
              <a:t>to sovereign operator</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0" name="Rounded Rectangle 9"/>
          <p:cNvSpPr/>
          <p:nvPr/>
        </p:nvSpPr>
        <p:spPr>
          <a:xfrm>
            <a:off x="9464040" y="384048"/>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1" name="Rounded Rectangle 10"/>
          <p:cNvSpPr/>
          <p:nvPr/>
        </p:nvSpPr>
        <p:spPr>
          <a:xfrm>
            <a:off x="10607040" y="384048"/>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2" name="TextBox 11"/>
          <p:cNvSpPr txBox="1"/>
          <p:nvPr/>
        </p:nvSpPr>
        <p:spPr>
          <a:xfrm>
            <a:off x="365760" y="1051560"/>
            <a:ext cx="11430000" cy="411480"/>
          </a:xfrm>
          <a:prstGeom prst="rect">
            <a:avLst/>
          </a:prstGeom>
          <a:noFill/>
        </p:spPr>
        <p:txBody>
          <a:bodyPr wrap="square" anchor="t" lIns="0" rIns="0" tIns="0" bIns="0">
            <a:spAutoFit/>
          </a:bodyPr>
          <a:lstStyle/>
          <a:p>
            <a:pPr algn="l">
              <a:spcAft>
                <a:spcPts val="400"/>
              </a:spcAft>
            </a:pPr>
            <a:r>
              <a:rPr sz="1600">
                <a:solidFill>
                  <a:srgbClr val="5F6670"/>
                </a:solidFill>
              </a:rPr>
              <a:t>MOE-1 changes who is accountable for the outcome, and who controls where it runs.</a:t>
            </a:r>
          </a:p>
        </p:txBody>
      </p:sp>
      <p:sp>
        <p:nvSpPr>
          <p:cNvPr id="13" name="TextBox 12"/>
          <p:cNvSpPr txBox="1"/>
          <p:nvPr/>
        </p:nvSpPr>
        <p:spPr>
          <a:xfrm>
            <a:off x="2148840" y="1600200"/>
            <a:ext cx="365760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SUPPLIER · TODAY</a:t>
            </a:r>
          </a:p>
        </p:txBody>
      </p:sp>
      <p:sp>
        <p:nvSpPr>
          <p:cNvPr id="14" name="TextBox 13"/>
          <p:cNvSpPr txBox="1"/>
          <p:nvPr/>
        </p:nvSpPr>
        <p:spPr>
          <a:xfrm>
            <a:off x="7086600" y="1600200"/>
            <a:ext cx="4572000" cy="274320"/>
          </a:xfrm>
          <a:prstGeom prst="rect">
            <a:avLst/>
          </a:prstGeom>
          <a:noFill/>
        </p:spPr>
        <p:txBody>
          <a:bodyPr wrap="square" anchor="t" lIns="0" rIns="0" tIns="0" bIns="0">
            <a:spAutoFit/>
          </a:bodyPr>
          <a:lstStyle/>
          <a:p>
            <a:pPr algn="l">
              <a:spcAft>
                <a:spcPts val="400"/>
              </a:spcAft>
            </a:pPr>
            <a:r>
              <a:rPr sz="1100">
                <a:solidFill>
                  <a:schemeClr val="accent3"/>
                </a:solidFill>
                <a:latin typeface="+mj-lt"/>
              </a:rPr>
              <a:t>OPERATOR · MOE-1</a:t>
            </a:r>
          </a:p>
        </p:txBody>
      </p:sp>
      <p:sp>
        <p:nvSpPr>
          <p:cNvPr id="15" name="TextBox 14"/>
          <p:cNvSpPr txBox="1"/>
          <p:nvPr/>
        </p:nvSpPr>
        <p:spPr>
          <a:xfrm>
            <a:off x="365760" y="1874519"/>
            <a:ext cx="1737360" cy="457200"/>
          </a:xfrm>
          <a:prstGeom prst="rect">
            <a:avLst/>
          </a:prstGeom>
          <a:noFill/>
        </p:spPr>
        <p:txBody>
          <a:bodyPr wrap="square" anchor="ctr" lIns="0" rIns="0" tIns="0" bIns="0">
            <a:spAutoFit/>
          </a:bodyPr>
          <a:lstStyle/>
          <a:p>
            <a:pPr algn="l">
              <a:spcAft>
                <a:spcPts val="400"/>
              </a:spcAft>
            </a:pPr>
            <a:r>
              <a:rPr sz="1400">
                <a:solidFill>
                  <a:srgbClr val="1F2328"/>
                </a:solidFill>
                <a:latin typeface="+mj-lt"/>
              </a:rPr>
              <a:t>The customer buys</a:t>
            </a:r>
          </a:p>
        </p:txBody>
      </p:sp>
      <p:sp>
        <p:nvSpPr>
          <p:cNvPr id="16" name="TextBox 15"/>
          <p:cNvSpPr txBox="1"/>
          <p:nvPr/>
        </p:nvSpPr>
        <p:spPr>
          <a:xfrm>
            <a:off x="2148840" y="1874519"/>
            <a:ext cx="4297680" cy="457200"/>
          </a:xfrm>
          <a:prstGeom prst="rect">
            <a:avLst/>
          </a:prstGeom>
          <a:noFill/>
        </p:spPr>
        <p:txBody>
          <a:bodyPr wrap="square" anchor="ctr" lIns="0" rIns="0" tIns="0" bIns="0">
            <a:spAutoFit/>
          </a:bodyPr>
          <a:lstStyle/>
          <a:p>
            <a:pPr algn="l">
              <a:spcAft>
                <a:spcPts val="400"/>
              </a:spcAft>
            </a:pPr>
            <a:r>
              <a:rPr sz="1400">
                <a:solidFill>
                  <a:srgbClr val="5F6670"/>
                </a:solidFill>
              </a:rPr>
              <a:t>GPUs, endpoints and tokens</a:t>
            </a:r>
          </a:p>
        </p:txBody>
      </p:sp>
      <p:sp>
        <p:nvSpPr>
          <p:cNvPr id="17" name="Right Arrow 16"/>
          <p:cNvSpPr/>
          <p:nvPr/>
        </p:nvSpPr>
        <p:spPr>
          <a:xfrm>
            <a:off x="6537960" y="1993391"/>
            <a:ext cx="365760" cy="219456"/>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086600" y="1901951"/>
            <a:ext cx="4709160" cy="411480"/>
          </a:xfrm>
          <a:prstGeom prst="roundRect">
            <a:avLst>
              <a:gd name="adj" fmla="val 15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400">
                <a:solidFill>
                  <a:srgbClr val="1F2328"/>
                </a:solidFill>
                <a:latin typeface="+mj-lt"/>
              </a:rPr>
              <a:t>An operated outcome inside their boundary</a:t>
            </a:r>
          </a:p>
        </p:txBody>
      </p:sp>
      <p:sp>
        <p:nvSpPr>
          <p:cNvPr id="19" name="TextBox 18"/>
          <p:cNvSpPr txBox="1"/>
          <p:nvPr/>
        </p:nvSpPr>
        <p:spPr>
          <a:xfrm>
            <a:off x="365760" y="2368296"/>
            <a:ext cx="1737360" cy="457200"/>
          </a:xfrm>
          <a:prstGeom prst="rect">
            <a:avLst/>
          </a:prstGeom>
          <a:noFill/>
        </p:spPr>
        <p:txBody>
          <a:bodyPr wrap="square" anchor="ctr" lIns="0" rIns="0" tIns="0" bIns="0">
            <a:spAutoFit/>
          </a:bodyPr>
          <a:lstStyle/>
          <a:p>
            <a:pPr algn="l">
              <a:spcAft>
                <a:spcPts val="400"/>
              </a:spcAft>
            </a:pPr>
            <a:r>
              <a:rPr sz="1400">
                <a:solidFill>
                  <a:srgbClr val="1F2328"/>
                </a:solidFill>
                <a:latin typeface="+mj-lt"/>
              </a:rPr>
              <a:t>When it breaks</a:t>
            </a:r>
          </a:p>
        </p:txBody>
      </p:sp>
      <p:sp>
        <p:nvSpPr>
          <p:cNvPr id="20" name="TextBox 19"/>
          <p:cNvSpPr txBox="1"/>
          <p:nvPr/>
        </p:nvSpPr>
        <p:spPr>
          <a:xfrm>
            <a:off x="2148840" y="2368296"/>
            <a:ext cx="4297680" cy="457200"/>
          </a:xfrm>
          <a:prstGeom prst="rect">
            <a:avLst/>
          </a:prstGeom>
          <a:noFill/>
        </p:spPr>
        <p:txBody>
          <a:bodyPr wrap="square" anchor="ctr" lIns="0" rIns="0" tIns="0" bIns="0">
            <a:spAutoFit/>
          </a:bodyPr>
          <a:lstStyle/>
          <a:p>
            <a:pPr algn="l">
              <a:spcAft>
                <a:spcPts val="400"/>
              </a:spcAft>
            </a:pPr>
            <a:r>
              <a:rPr sz="1400">
                <a:solidFill>
                  <a:srgbClr val="5F6670"/>
                </a:solidFill>
              </a:rPr>
              <a:t>The customer runs the incident</a:t>
            </a:r>
          </a:p>
        </p:txBody>
      </p:sp>
      <p:sp>
        <p:nvSpPr>
          <p:cNvPr id="21" name="Right Arrow 20"/>
          <p:cNvSpPr/>
          <p:nvPr/>
        </p:nvSpPr>
        <p:spPr>
          <a:xfrm>
            <a:off x="6537960" y="2487168"/>
            <a:ext cx="365760" cy="219456"/>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86600" y="2395727"/>
            <a:ext cx="4709160" cy="411480"/>
          </a:xfrm>
          <a:prstGeom prst="roundRect">
            <a:avLst>
              <a:gd name="adj" fmla="val 15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400">
                <a:solidFill>
                  <a:srgbClr val="1F2328"/>
                </a:solidFill>
                <a:latin typeface="+mj-lt"/>
              </a:rPr>
              <a:t>We do, against agreed SLOs</a:t>
            </a:r>
          </a:p>
        </p:txBody>
      </p:sp>
      <p:sp>
        <p:nvSpPr>
          <p:cNvPr id="23" name="TextBox 22"/>
          <p:cNvSpPr txBox="1"/>
          <p:nvPr/>
        </p:nvSpPr>
        <p:spPr>
          <a:xfrm>
            <a:off x="365760" y="2862072"/>
            <a:ext cx="1737360" cy="457200"/>
          </a:xfrm>
          <a:prstGeom prst="rect">
            <a:avLst/>
          </a:prstGeom>
          <a:noFill/>
        </p:spPr>
        <p:txBody>
          <a:bodyPr wrap="square" anchor="ctr" lIns="0" rIns="0" tIns="0" bIns="0">
            <a:spAutoFit/>
          </a:bodyPr>
          <a:lstStyle/>
          <a:p>
            <a:pPr algn="l">
              <a:spcAft>
                <a:spcPts val="400"/>
              </a:spcAft>
            </a:pPr>
            <a:r>
              <a:rPr sz="1400">
                <a:solidFill>
                  <a:srgbClr val="1F2328"/>
                </a:solidFill>
                <a:latin typeface="+mj-lt"/>
              </a:rPr>
              <a:t>We're measured on</a:t>
            </a:r>
          </a:p>
        </p:txBody>
      </p:sp>
      <p:sp>
        <p:nvSpPr>
          <p:cNvPr id="24" name="TextBox 23"/>
          <p:cNvSpPr txBox="1"/>
          <p:nvPr/>
        </p:nvSpPr>
        <p:spPr>
          <a:xfrm>
            <a:off x="2148840" y="2862072"/>
            <a:ext cx="4297680" cy="457200"/>
          </a:xfrm>
          <a:prstGeom prst="rect">
            <a:avLst/>
          </a:prstGeom>
          <a:noFill/>
        </p:spPr>
        <p:txBody>
          <a:bodyPr wrap="square" anchor="ctr" lIns="0" rIns="0" tIns="0" bIns="0">
            <a:spAutoFit/>
          </a:bodyPr>
          <a:lstStyle/>
          <a:p>
            <a:pPr algn="l">
              <a:spcAft>
                <a:spcPts val="400"/>
              </a:spcAft>
            </a:pPr>
            <a:r>
              <a:rPr sz="1400">
                <a:solidFill>
                  <a:srgbClr val="5F6670"/>
                </a:solidFill>
              </a:rPr>
              <a:t>Our platform's uptime</a:t>
            </a:r>
          </a:p>
        </p:txBody>
      </p:sp>
      <p:sp>
        <p:nvSpPr>
          <p:cNvPr id="25" name="Right Arrow 24"/>
          <p:cNvSpPr/>
          <p:nvPr/>
        </p:nvSpPr>
        <p:spPr>
          <a:xfrm>
            <a:off x="6537960" y="2980944"/>
            <a:ext cx="365760" cy="219456"/>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086600" y="2889503"/>
            <a:ext cx="4709160" cy="411480"/>
          </a:xfrm>
          <a:prstGeom prst="roundRect">
            <a:avLst>
              <a:gd name="adj" fmla="val 15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400">
                <a:solidFill>
                  <a:srgbClr val="1F2328"/>
                </a:solidFill>
                <a:latin typeface="+mj-lt"/>
              </a:rPr>
              <a:t>Their SLOs, cost and audit trail</a:t>
            </a:r>
          </a:p>
        </p:txBody>
      </p:sp>
      <p:sp>
        <p:nvSpPr>
          <p:cNvPr id="27" name="TextBox 26"/>
          <p:cNvSpPr txBox="1"/>
          <p:nvPr/>
        </p:nvSpPr>
        <p:spPr>
          <a:xfrm>
            <a:off x="365760" y="3355848"/>
            <a:ext cx="1737360" cy="457200"/>
          </a:xfrm>
          <a:prstGeom prst="rect">
            <a:avLst/>
          </a:prstGeom>
          <a:noFill/>
        </p:spPr>
        <p:txBody>
          <a:bodyPr wrap="square" anchor="ctr" lIns="0" rIns="0" tIns="0" bIns="0">
            <a:spAutoFit/>
          </a:bodyPr>
          <a:lstStyle/>
          <a:p>
            <a:pPr algn="l">
              <a:spcAft>
                <a:spcPts val="400"/>
              </a:spcAft>
            </a:pPr>
            <a:r>
              <a:rPr sz="1400">
                <a:solidFill>
                  <a:srgbClr val="1F2328"/>
                </a:solidFill>
                <a:latin typeface="+mj-lt"/>
              </a:rPr>
              <a:t>What we learn</a:t>
            </a:r>
          </a:p>
        </p:txBody>
      </p:sp>
      <p:sp>
        <p:nvSpPr>
          <p:cNvPr id="28" name="TextBox 27"/>
          <p:cNvSpPr txBox="1"/>
          <p:nvPr/>
        </p:nvSpPr>
        <p:spPr>
          <a:xfrm>
            <a:off x="2148840" y="3355848"/>
            <a:ext cx="4297680" cy="457200"/>
          </a:xfrm>
          <a:prstGeom prst="rect">
            <a:avLst/>
          </a:prstGeom>
          <a:noFill/>
        </p:spPr>
        <p:txBody>
          <a:bodyPr wrap="square" anchor="ctr" lIns="0" rIns="0" tIns="0" bIns="0">
            <a:spAutoFit/>
          </a:bodyPr>
          <a:lstStyle/>
          <a:p>
            <a:pPr algn="l">
              <a:spcAft>
                <a:spcPts val="400"/>
              </a:spcAft>
            </a:pPr>
            <a:r>
              <a:rPr sz="1400">
                <a:solidFill>
                  <a:srgbClr val="5F6670"/>
                </a:solidFill>
              </a:rPr>
              <a:t>How our own platform behaves</a:t>
            </a:r>
          </a:p>
        </p:txBody>
      </p:sp>
      <p:sp>
        <p:nvSpPr>
          <p:cNvPr id="29" name="Right Arrow 28"/>
          <p:cNvSpPr/>
          <p:nvPr/>
        </p:nvSpPr>
        <p:spPr>
          <a:xfrm>
            <a:off x="6537960" y="3474720"/>
            <a:ext cx="365760" cy="219456"/>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086600" y="3383279"/>
            <a:ext cx="4709160" cy="411480"/>
          </a:xfrm>
          <a:prstGeom prst="roundRect">
            <a:avLst>
              <a:gd name="adj" fmla="val 15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400">
                <a:solidFill>
                  <a:srgbClr val="1F2328"/>
                </a:solidFill>
                <a:latin typeface="+mj-lt"/>
              </a:rPr>
              <a:t>What works across every estate we run</a:t>
            </a:r>
          </a:p>
        </p:txBody>
      </p:sp>
      <p:sp>
        <p:nvSpPr>
          <p:cNvPr id="31" name="TextBox 30"/>
          <p:cNvSpPr txBox="1"/>
          <p:nvPr/>
        </p:nvSpPr>
        <p:spPr>
          <a:xfrm>
            <a:off x="365760" y="3849624"/>
            <a:ext cx="1737360" cy="457200"/>
          </a:xfrm>
          <a:prstGeom prst="rect">
            <a:avLst/>
          </a:prstGeom>
          <a:noFill/>
        </p:spPr>
        <p:txBody>
          <a:bodyPr wrap="square" anchor="ctr" lIns="0" rIns="0" tIns="0" bIns="0">
            <a:spAutoFit/>
          </a:bodyPr>
          <a:lstStyle/>
          <a:p>
            <a:pPr algn="l">
              <a:spcAft>
                <a:spcPts val="400"/>
              </a:spcAft>
            </a:pPr>
            <a:r>
              <a:rPr sz="1400">
                <a:solidFill>
                  <a:srgbClr val="1F2328"/>
                </a:solidFill>
                <a:latin typeface="+mj-lt"/>
              </a:rPr>
              <a:t>Who controls it</a:t>
            </a:r>
          </a:p>
        </p:txBody>
      </p:sp>
      <p:sp>
        <p:nvSpPr>
          <p:cNvPr id="32" name="TextBox 31"/>
          <p:cNvSpPr txBox="1"/>
          <p:nvPr/>
        </p:nvSpPr>
        <p:spPr>
          <a:xfrm>
            <a:off x="2148840" y="3849624"/>
            <a:ext cx="4297680" cy="457200"/>
          </a:xfrm>
          <a:prstGeom prst="rect">
            <a:avLst/>
          </a:prstGeom>
          <a:noFill/>
        </p:spPr>
        <p:txBody>
          <a:bodyPr wrap="square" anchor="ctr" lIns="0" rIns="0" tIns="0" bIns="0">
            <a:spAutoFit/>
          </a:bodyPr>
          <a:lstStyle/>
          <a:p>
            <a:pPr algn="l">
              <a:spcAft>
                <a:spcPts val="400"/>
              </a:spcAft>
            </a:pPr>
            <a:r>
              <a:rPr sz="1400">
                <a:solidFill>
                  <a:srgbClr val="5F6670"/>
                </a:solidFill>
              </a:rPr>
              <a:t>Shared with the provider</a:t>
            </a:r>
          </a:p>
        </p:txBody>
      </p:sp>
      <p:sp>
        <p:nvSpPr>
          <p:cNvPr id="33" name="Right Arrow 32"/>
          <p:cNvSpPr/>
          <p:nvPr/>
        </p:nvSpPr>
        <p:spPr>
          <a:xfrm>
            <a:off x="6537960" y="3968496"/>
            <a:ext cx="365760" cy="219456"/>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086600" y="3877056"/>
            <a:ext cx="4709160" cy="411480"/>
          </a:xfrm>
          <a:prstGeom prst="roundRect">
            <a:avLst>
              <a:gd name="adj" fmla="val 15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400">
                <a:solidFill>
                  <a:srgbClr val="1F2328"/>
                </a:solidFill>
                <a:latin typeface="+mj-lt"/>
              </a:rPr>
              <a:t>The customer, and they can verify it</a:t>
            </a:r>
          </a:p>
        </p:txBody>
      </p:sp>
      <p:sp>
        <p:nvSpPr>
          <p:cNvPr id="35" name="TextBox 34"/>
          <p:cNvSpPr txBox="1"/>
          <p:nvPr/>
        </p:nvSpPr>
        <p:spPr>
          <a:xfrm>
            <a:off x="365760" y="4434840"/>
            <a:ext cx="731520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HOW MOE-1 MATERIALIZES · WHAT YOU COULD POINT AT</a:t>
            </a:r>
          </a:p>
        </p:txBody>
      </p:sp>
      <p:sp>
        <p:nvSpPr>
          <p:cNvPr id="36" name="Rounded Rectangle 35"/>
          <p:cNvSpPr/>
          <p:nvPr/>
        </p:nvSpPr>
        <p:spPr>
          <a:xfrm>
            <a:off x="365760" y="4754880"/>
            <a:ext cx="2148840"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37" name="Oval 36"/>
          <p:cNvSpPr/>
          <p:nvPr/>
        </p:nvSpPr>
        <p:spPr>
          <a:xfrm>
            <a:off x="548640" y="4892040"/>
            <a:ext cx="365760" cy="365760"/>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400"/>
              </a:spcAft>
            </a:pPr>
            <a:r>
              <a:rPr sz="1300">
                <a:solidFill>
                  <a:schemeClr val="bg1"/>
                </a:solidFill>
                <a:latin typeface="+mj-lt"/>
              </a:rPr>
              <a:t>1</a:t>
            </a:r>
          </a:p>
        </p:txBody>
      </p:sp>
      <p:sp>
        <p:nvSpPr>
          <p:cNvPr id="38" name="TextBox 37"/>
          <p:cNvSpPr txBox="1"/>
          <p:nvPr/>
        </p:nvSpPr>
        <p:spPr>
          <a:xfrm>
            <a:off x="548640" y="5321808"/>
            <a:ext cx="1810512" cy="868680"/>
          </a:xfrm>
          <a:prstGeom prst="rect">
            <a:avLst/>
          </a:prstGeom>
          <a:noFill/>
        </p:spPr>
        <p:txBody>
          <a:bodyPr wrap="square" anchor="t" lIns="0" rIns="0" tIns="0" bIns="0">
            <a:spAutoFit/>
          </a:bodyPr>
          <a:lstStyle/>
          <a:p>
            <a:pPr algn="l">
              <a:spcAft>
                <a:spcPts val="400"/>
              </a:spcAft>
            </a:pPr>
            <a:r>
              <a:rPr sz="1300">
                <a:solidFill>
                  <a:srgbClr val="1F2328"/>
                </a:solidFill>
                <a:latin typeface="+mj-lt"/>
              </a:rPr>
              <a:t>A signed scope of delegated responsibility</a:t>
            </a:r>
          </a:p>
        </p:txBody>
      </p:sp>
      <p:sp>
        <p:nvSpPr>
          <p:cNvPr id="39" name="Rounded Rectangle 38"/>
          <p:cNvSpPr/>
          <p:nvPr/>
        </p:nvSpPr>
        <p:spPr>
          <a:xfrm>
            <a:off x="2670048" y="4754880"/>
            <a:ext cx="2148840"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40" name="Oval 39"/>
          <p:cNvSpPr/>
          <p:nvPr/>
        </p:nvSpPr>
        <p:spPr>
          <a:xfrm>
            <a:off x="2852928" y="4892040"/>
            <a:ext cx="365760" cy="365760"/>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400"/>
              </a:spcAft>
            </a:pPr>
            <a:r>
              <a:rPr sz="1300">
                <a:solidFill>
                  <a:schemeClr val="bg1"/>
                </a:solidFill>
                <a:latin typeface="+mj-lt"/>
              </a:rPr>
              <a:t>2</a:t>
            </a:r>
          </a:p>
        </p:txBody>
      </p:sp>
      <p:sp>
        <p:nvSpPr>
          <p:cNvPr id="41" name="TextBox 40"/>
          <p:cNvSpPr txBox="1"/>
          <p:nvPr/>
        </p:nvSpPr>
        <p:spPr>
          <a:xfrm>
            <a:off x="2852928" y="5321808"/>
            <a:ext cx="1810512" cy="868680"/>
          </a:xfrm>
          <a:prstGeom prst="rect">
            <a:avLst/>
          </a:prstGeom>
          <a:noFill/>
        </p:spPr>
        <p:txBody>
          <a:bodyPr wrap="square" anchor="t" lIns="0" rIns="0" tIns="0" bIns="0">
            <a:spAutoFit/>
          </a:bodyPr>
          <a:lstStyle/>
          <a:p>
            <a:pPr algn="l">
              <a:spcAft>
                <a:spcPts val="400"/>
              </a:spcAft>
            </a:pPr>
            <a:r>
              <a:rPr sz="1300">
                <a:solidFill>
                  <a:srgbClr val="1F2328"/>
                </a:solidFill>
                <a:latin typeface="+mj-lt"/>
              </a:rPr>
              <a:t>Agreed SLOs and an incident path the customer can see</a:t>
            </a:r>
          </a:p>
        </p:txBody>
      </p:sp>
      <p:sp>
        <p:nvSpPr>
          <p:cNvPr id="42" name="Rounded Rectangle 41"/>
          <p:cNvSpPr/>
          <p:nvPr/>
        </p:nvSpPr>
        <p:spPr>
          <a:xfrm>
            <a:off x="4974336" y="4754880"/>
            <a:ext cx="2148840"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43" name="Oval 42"/>
          <p:cNvSpPr/>
          <p:nvPr/>
        </p:nvSpPr>
        <p:spPr>
          <a:xfrm>
            <a:off x="5157216" y="4892040"/>
            <a:ext cx="365760" cy="365760"/>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400"/>
              </a:spcAft>
            </a:pPr>
            <a:r>
              <a:rPr sz="1300">
                <a:solidFill>
                  <a:schemeClr val="bg1"/>
                </a:solidFill>
                <a:latin typeface="+mj-lt"/>
              </a:rPr>
              <a:t>3</a:t>
            </a:r>
          </a:p>
        </p:txBody>
      </p:sp>
      <p:sp>
        <p:nvSpPr>
          <p:cNvPr id="44" name="TextBox 43"/>
          <p:cNvSpPr txBox="1"/>
          <p:nvPr/>
        </p:nvSpPr>
        <p:spPr>
          <a:xfrm>
            <a:off x="5157216" y="5321808"/>
            <a:ext cx="1810512" cy="868680"/>
          </a:xfrm>
          <a:prstGeom prst="rect">
            <a:avLst/>
          </a:prstGeom>
          <a:noFill/>
        </p:spPr>
        <p:txBody>
          <a:bodyPr wrap="square" anchor="t" lIns="0" rIns="0" tIns="0" bIns="0">
            <a:spAutoFit/>
          </a:bodyPr>
          <a:lstStyle/>
          <a:p>
            <a:pPr algn="l">
              <a:spcAft>
                <a:spcPts val="400"/>
              </a:spcAft>
            </a:pPr>
            <a:r>
              <a:rPr sz="1300">
                <a:solidFill>
                  <a:srgbClr val="1F2328"/>
                </a:solidFill>
                <a:latin typeface="+mj-lt"/>
              </a:rPr>
              <a:t>Running inside their boundary, with an audit trail they can inspect</a:t>
            </a:r>
          </a:p>
        </p:txBody>
      </p:sp>
      <p:sp>
        <p:nvSpPr>
          <p:cNvPr id="45" name="Rounded Rectangle 44"/>
          <p:cNvSpPr/>
          <p:nvPr/>
        </p:nvSpPr>
        <p:spPr>
          <a:xfrm>
            <a:off x="7278624" y="4754880"/>
            <a:ext cx="2148840"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46" name="Oval 45"/>
          <p:cNvSpPr/>
          <p:nvPr/>
        </p:nvSpPr>
        <p:spPr>
          <a:xfrm>
            <a:off x="7461504" y="4892040"/>
            <a:ext cx="365760" cy="365760"/>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400"/>
              </a:spcAft>
            </a:pPr>
            <a:r>
              <a:rPr sz="1300">
                <a:solidFill>
                  <a:schemeClr val="bg1"/>
                </a:solidFill>
                <a:latin typeface="+mj-lt"/>
              </a:rPr>
              <a:t>4</a:t>
            </a:r>
          </a:p>
        </p:txBody>
      </p:sp>
      <p:sp>
        <p:nvSpPr>
          <p:cNvPr id="47" name="TextBox 46"/>
          <p:cNvSpPr txBox="1"/>
          <p:nvPr/>
        </p:nvSpPr>
        <p:spPr>
          <a:xfrm>
            <a:off x="7461504" y="5321808"/>
            <a:ext cx="1810512" cy="868680"/>
          </a:xfrm>
          <a:prstGeom prst="rect">
            <a:avLst/>
          </a:prstGeom>
          <a:noFill/>
        </p:spPr>
        <p:txBody>
          <a:bodyPr wrap="square" anchor="t" lIns="0" rIns="0" tIns="0" bIns="0">
            <a:spAutoFit/>
          </a:bodyPr>
          <a:lstStyle/>
          <a:p>
            <a:pPr algn="l">
              <a:spcAft>
                <a:spcPts val="400"/>
              </a:spcAft>
            </a:pPr>
            <a:r>
              <a:rPr sz="1300">
                <a:solidFill>
                  <a:srgbClr val="1F2328"/>
                </a:solidFill>
                <a:latin typeface="+mj-lt"/>
              </a:rPr>
              <a:t>A recurring evidence report on cost, performance and incidents</a:t>
            </a:r>
          </a:p>
        </p:txBody>
      </p:sp>
      <p:sp>
        <p:nvSpPr>
          <p:cNvPr id="48" name="Rounded Rectangle 47"/>
          <p:cNvSpPr/>
          <p:nvPr/>
        </p:nvSpPr>
        <p:spPr>
          <a:xfrm>
            <a:off x="9582912" y="4754880"/>
            <a:ext cx="2148840" cy="1463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49" name="Oval 48"/>
          <p:cNvSpPr/>
          <p:nvPr/>
        </p:nvSpPr>
        <p:spPr>
          <a:xfrm>
            <a:off x="9765792" y="4892040"/>
            <a:ext cx="365760" cy="365760"/>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400"/>
              </a:spcAft>
            </a:pPr>
            <a:r>
              <a:rPr sz="1300">
                <a:solidFill>
                  <a:schemeClr val="bg1"/>
                </a:solidFill>
                <a:latin typeface="+mj-lt"/>
              </a:rPr>
              <a:t>5</a:t>
            </a:r>
          </a:p>
        </p:txBody>
      </p:sp>
      <p:sp>
        <p:nvSpPr>
          <p:cNvPr id="50" name="TextBox 49"/>
          <p:cNvSpPr txBox="1"/>
          <p:nvPr/>
        </p:nvSpPr>
        <p:spPr>
          <a:xfrm>
            <a:off x="9765792" y="5321808"/>
            <a:ext cx="1810512" cy="868680"/>
          </a:xfrm>
          <a:prstGeom prst="rect">
            <a:avLst/>
          </a:prstGeom>
          <a:noFill/>
        </p:spPr>
        <p:txBody>
          <a:bodyPr wrap="square" anchor="t" lIns="0" rIns="0" tIns="0" bIns="0">
            <a:spAutoFit/>
          </a:bodyPr>
          <a:lstStyle/>
          <a:p>
            <a:pPr algn="l">
              <a:spcAft>
                <a:spcPts val="400"/>
              </a:spcAft>
            </a:pPr>
            <a:r>
              <a:rPr sz="1300">
                <a:solidFill>
                  <a:srgbClr val="1F2328"/>
                </a:solidFill>
                <a:latin typeface="+mj-lt"/>
              </a:rPr>
              <a:t>An invoice for operating, not just for capacity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pPr algn="l">
              <a:spcAft>
                <a:spcPts val="400"/>
              </a:spcAft>
            </a:pPr>
            <a:r>
              <a:rPr sz="1600"/>
              <a:t>If the answer is "both": which one wins when they compete for the same engineers?</a:t>
            </a:r>
          </a:p>
        </p:txBody>
      </p:sp>
      <p:sp>
        <p:nvSpPr>
          <p:cNvPr id="4" name="Title 3"/>
          <p:cNvSpPr>
            <a:spLocks noGrp="1"/>
          </p:cNvSpPr>
          <p:nvPr>
            <p:ph type="title"/>
          </p:nvPr>
        </p:nvSpPr>
        <p:spPr/>
        <p:txBody>
          <a:bodyPr/>
          <a:lstStyle/>
          <a:p>
            <a:r>
              <a:rPr sz="3600"/>
              <a:t>Decision zero</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4" name="Rounded Rectangle 13"/>
          <p:cNvSpPr/>
          <p:nvPr/>
        </p:nvSpPr>
        <p:spPr>
          <a:xfrm>
            <a:off x="365760" y="6217920"/>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5" name="TextBox 14"/>
          <p:cNvSpPr txBox="1"/>
          <p:nvPr/>
        </p:nvSpPr>
        <p:spPr>
          <a:xfrm>
            <a:off x="3611880" y="502920"/>
            <a:ext cx="8183879" cy="1188720"/>
          </a:xfrm>
          <a:prstGeom prst="rect">
            <a:avLst/>
          </a:prstGeom>
          <a:noFill/>
        </p:spPr>
        <p:txBody>
          <a:bodyPr wrap="square" anchor="t" lIns="0" rIns="0" tIns="0" bIns="0">
            <a:spAutoFit/>
          </a:bodyPr>
          <a:lstStyle/>
          <a:p>
            <a:pPr algn="l">
              <a:spcAft>
                <a:spcPts val="400"/>
              </a:spcAft>
            </a:pPr>
            <a:r>
              <a:rPr sz="2800">
                <a:solidFill>
                  <a:srgbClr val="1F2328"/>
                </a:solidFill>
                <a:latin typeface="+mj-lt"/>
              </a:rPr>
              <a:t>Do we manage RackAI toward a dated customer proof, or toward finishing a backlog?</a:t>
            </a:r>
          </a:p>
        </p:txBody>
      </p:sp>
      <p:sp>
        <p:nvSpPr>
          <p:cNvPr id="16" name="Rounded Rectangle 15"/>
          <p:cNvSpPr/>
          <p:nvPr/>
        </p:nvSpPr>
        <p:spPr>
          <a:xfrm>
            <a:off x="3611880" y="2331720"/>
            <a:ext cx="2834640" cy="26060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7" name="TextBox 16"/>
          <p:cNvSpPr txBox="1"/>
          <p:nvPr/>
        </p:nvSpPr>
        <p:spPr>
          <a:xfrm>
            <a:off x="3840480" y="2560320"/>
            <a:ext cx="228600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MOE-0</a:t>
            </a:r>
          </a:p>
        </p:txBody>
      </p:sp>
      <p:sp>
        <p:nvSpPr>
          <p:cNvPr id="18" name="TextBox 17"/>
          <p:cNvSpPr txBox="1"/>
          <p:nvPr/>
        </p:nvSpPr>
        <p:spPr>
          <a:xfrm>
            <a:off x="3840480" y="2926080"/>
            <a:ext cx="2377440" cy="411480"/>
          </a:xfrm>
          <a:prstGeom prst="rect">
            <a:avLst/>
          </a:prstGeom>
          <a:noFill/>
        </p:spPr>
        <p:txBody>
          <a:bodyPr wrap="square" anchor="t" lIns="0" rIns="0" tIns="0" bIns="0">
            <a:spAutoFit/>
          </a:bodyPr>
          <a:lstStyle/>
          <a:p>
            <a:pPr algn="l">
              <a:spcAft>
                <a:spcPts val="400"/>
              </a:spcAft>
            </a:pPr>
            <a:r>
              <a:rPr sz="1800">
                <a:solidFill>
                  <a:srgbClr val="1F2328"/>
                </a:solidFill>
                <a:latin typeface="+mj-lt"/>
              </a:rPr>
              <a:t>Rehearsal</a:t>
            </a:r>
          </a:p>
        </p:txBody>
      </p:sp>
      <p:sp>
        <p:nvSpPr>
          <p:cNvPr id="19" name="TextBox 18"/>
          <p:cNvSpPr txBox="1"/>
          <p:nvPr/>
        </p:nvSpPr>
        <p:spPr>
          <a:xfrm>
            <a:off x="3840480" y="3429000"/>
            <a:ext cx="2377440" cy="1371600"/>
          </a:xfrm>
          <a:prstGeom prst="rect">
            <a:avLst/>
          </a:prstGeom>
          <a:noFill/>
        </p:spPr>
        <p:txBody>
          <a:bodyPr wrap="square" anchor="t" lIns="0" rIns="0" tIns="0" bIns="0">
            <a:spAutoFit/>
          </a:bodyPr>
          <a:lstStyle/>
          <a:p>
            <a:pPr algn="l">
              <a:spcAft>
                <a:spcPts val="400"/>
              </a:spcAft>
            </a:pPr>
            <a:r>
              <a:rPr sz="1300">
                <a:solidFill>
                  <a:srgbClr val="5F6670"/>
                </a:solidFill>
              </a:rPr>
              <a:t>A friendly estate. Builds runbooks, SLOs and acceptance criteria. Proves nothing to the market.</a:t>
            </a:r>
          </a:p>
        </p:txBody>
      </p:sp>
      <p:sp>
        <p:nvSpPr>
          <p:cNvPr id="20" name="Right Arrow 19"/>
          <p:cNvSpPr/>
          <p:nvPr/>
        </p:nvSpPr>
        <p:spPr>
          <a:xfrm>
            <a:off x="6583680" y="3429000"/>
            <a:ext cx="457200" cy="411480"/>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178040" y="1920240"/>
            <a:ext cx="4617720" cy="342900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22" name="TextBox 21"/>
          <p:cNvSpPr txBox="1"/>
          <p:nvPr/>
        </p:nvSpPr>
        <p:spPr>
          <a:xfrm>
            <a:off x="7452360" y="2176272"/>
            <a:ext cx="3657600" cy="274320"/>
          </a:xfrm>
          <a:prstGeom prst="rect">
            <a:avLst/>
          </a:prstGeom>
          <a:noFill/>
        </p:spPr>
        <p:txBody>
          <a:bodyPr wrap="square" anchor="t" lIns="0" rIns="0" tIns="0" bIns="0">
            <a:spAutoFit/>
          </a:bodyPr>
          <a:lstStyle/>
          <a:p>
            <a:pPr algn="l">
              <a:spcAft>
                <a:spcPts val="400"/>
              </a:spcAft>
            </a:pPr>
            <a:r>
              <a:rPr sz="1200">
                <a:solidFill>
                  <a:schemeClr val="accent1"/>
                </a:solidFill>
                <a:latin typeface="+mj-lt"/>
              </a:rPr>
              <a:t>MOE-1 · THE DESTINATION</a:t>
            </a:r>
          </a:p>
        </p:txBody>
      </p:sp>
      <p:sp>
        <p:nvSpPr>
          <p:cNvPr id="23" name="TextBox 22"/>
          <p:cNvSpPr txBox="1"/>
          <p:nvPr/>
        </p:nvSpPr>
        <p:spPr>
          <a:xfrm>
            <a:off x="7452360" y="2606040"/>
            <a:ext cx="4114800" cy="548640"/>
          </a:xfrm>
          <a:prstGeom prst="rect">
            <a:avLst/>
          </a:prstGeom>
          <a:noFill/>
        </p:spPr>
        <p:txBody>
          <a:bodyPr wrap="square" anchor="t" lIns="0" rIns="0" tIns="0" bIns="0">
            <a:spAutoFit/>
          </a:bodyPr>
          <a:lstStyle/>
          <a:p>
            <a:pPr algn="l">
              <a:spcAft>
                <a:spcPts val="400"/>
              </a:spcAft>
            </a:pPr>
            <a:r>
              <a:rPr sz="2800">
                <a:solidFill>
                  <a:srgbClr val="1F2328"/>
                </a:solidFill>
                <a:latin typeface="+mj-lt"/>
              </a:rPr>
              <a:t>Identity proof</a:t>
            </a:r>
          </a:p>
        </p:txBody>
      </p:sp>
      <p:sp>
        <p:nvSpPr>
          <p:cNvPr id="24" name="TextBox 23"/>
          <p:cNvSpPr txBox="1"/>
          <p:nvPr/>
        </p:nvSpPr>
        <p:spPr>
          <a:xfrm>
            <a:off x="7452360" y="3291840"/>
            <a:ext cx="4069080" cy="1920240"/>
          </a:xfrm>
          <a:prstGeom prst="rect">
            <a:avLst/>
          </a:prstGeom>
          <a:noFill/>
        </p:spPr>
        <p:txBody>
          <a:bodyPr wrap="square" anchor="t" lIns="0" rIns="0" tIns="0" bIns="0">
            <a:spAutoFit/>
          </a:bodyPr>
          <a:lstStyle/>
          <a:p>
            <a:pPr algn="l">
              <a:spcAft>
                <a:spcPts val="800"/>
              </a:spcAft>
            </a:pPr>
            <a:r>
              <a:rPr sz="1700">
                <a:solidFill>
                  <a:srgbClr val="1F2328"/>
                </a:solidFill>
              </a:rPr>
              <a:t>An external, regulated customer hands us operational responsibility and pays for it.</a:t>
            </a:r>
          </a:p>
          <a:p>
            <a:pPr algn="l">
              <a:spcAft>
                <a:spcPts val="400"/>
              </a:spcAft>
            </a:pPr>
            <a:r>
              <a:rPr sz="1700">
                <a:solidFill>
                  <a:srgbClr val="1F2328"/>
                </a:solidFill>
                <a:latin typeface="+mj-lt"/>
              </a:rPr>
              <a:t>The first validation of the operating model we want to scale.</a:t>
            </a:r>
          </a:p>
        </p:txBody>
      </p:sp>
      <p:sp>
        <p:nvSpPr>
          <p:cNvPr id="25" name="TextBox 24"/>
          <p:cNvSpPr txBox="1"/>
          <p:nvPr/>
        </p:nvSpPr>
        <p:spPr>
          <a:xfrm>
            <a:off x="3611880" y="5623560"/>
            <a:ext cx="8183879" cy="640080"/>
          </a:xfrm>
          <a:prstGeom prst="rect">
            <a:avLst/>
          </a:prstGeom>
          <a:noFill/>
        </p:spPr>
        <p:txBody>
          <a:bodyPr wrap="square" anchor="t" lIns="0" rIns="0" tIns="0" bIns="0">
            <a:spAutoFit/>
          </a:bodyPr>
          <a:lstStyle/>
          <a:p>
            <a:pPr algn="l">
              <a:spcAft>
                <a:spcPts val="400"/>
              </a:spcAft>
            </a:pPr>
            <a:r>
              <a:rPr sz="1500">
                <a:solidFill>
                  <a:srgbClr val="1F2328"/>
                </a:solidFill>
                <a:latin typeface="+mj-lt"/>
              </a:rPr>
              <a:t>MOE-1 becomes our primary prioritization test, </a:t>
            </a:r>
            <a:r>
              <a:rPr sz="1500">
                <a:solidFill>
                  <a:srgbClr val="1F2328"/>
                </a:solidFill>
              </a:rPr>
              <a:t>alongside existing customer commitments, security obligations and operational reliability.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Four claims we </a:t>
            </a:r>
            <a:r>
              <a:rPr sz="3200">
                <a:solidFill>
                  <a:schemeClr val="accent1"/>
                </a:solidFill>
              </a:rPr>
              <a:t>have to earn</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0" name="Rounded Rectangle 9"/>
          <p:cNvSpPr/>
          <p:nvPr/>
        </p:nvSpPr>
        <p:spPr>
          <a:xfrm>
            <a:off x="10744200" y="384048"/>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1" name="TextBox 10"/>
          <p:cNvSpPr txBox="1"/>
          <p:nvPr/>
        </p:nvSpPr>
        <p:spPr>
          <a:xfrm>
            <a:off x="8595360" y="1051560"/>
            <a:ext cx="3200400" cy="320040"/>
          </a:xfrm>
          <a:prstGeom prst="rect">
            <a:avLst/>
          </a:prstGeom>
          <a:noFill/>
        </p:spPr>
        <p:txBody>
          <a:bodyPr wrap="square" anchor="t" lIns="0" rIns="0" tIns="0" bIns="0">
            <a:spAutoFit/>
          </a:bodyPr>
          <a:lstStyle/>
          <a:p>
            <a:pPr algn="r">
              <a:spcAft>
                <a:spcPts val="400"/>
              </a:spcAft>
            </a:pPr>
            <a:r>
              <a:rPr sz="1200">
                <a:solidFill>
                  <a:srgbClr val="5F6670"/>
                </a:solidFill>
                <a:latin typeface="+mj-lt"/>
              </a:rPr>
              <a:t>Evidence required rises  →</a:t>
            </a:r>
          </a:p>
        </p:txBody>
      </p:sp>
      <p:sp>
        <p:nvSpPr>
          <p:cNvPr id="12" name="Rounded Rectangle 11"/>
          <p:cNvSpPr/>
          <p:nvPr/>
        </p:nvSpPr>
        <p:spPr>
          <a:xfrm>
            <a:off x="365760" y="3017520"/>
            <a:ext cx="2743200" cy="301752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3" name="TextBox 12"/>
          <p:cNvSpPr txBox="1"/>
          <p:nvPr/>
        </p:nvSpPr>
        <p:spPr>
          <a:xfrm>
            <a:off x="594360" y="3200400"/>
            <a:ext cx="2286000" cy="457200"/>
          </a:xfrm>
          <a:prstGeom prst="rect">
            <a:avLst/>
          </a:prstGeom>
          <a:noFill/>
        </p:spPr>
        <p:txBody>
          <a:bodyPr wrap="square" anchor="t" lIns="0" rIns="0" tIns="0" bIns="0">
            <a:spAutoFit/>
          </a:bodyPr>
          <a:lstStyle/>
          <a:p>
            <a:pPr algn="l">
              <a:spcAft>
                <a:spcPts val="400"/>
              </a:spcAft>
            </a:pPr>
            <a:r>
              <a:rPr sz="2800">
                <a:solidFill>
                  <a:srgbClr val="1F2328"/>
                </a:solidFill>
                <a:latin typeface="+mj-lt"/>
              </a:rPr>
              <a:t>P1</a:t>
            </a:r>
          </a:p>
        </p:txBody>
      </p:sp>
      <p:sp>
        <p:nvSpPr>
          <p:cNvPr id="14" name="TextBox 13"/>
          <p:cNvSpPr txBox="1"/>
          <p:nvPr/>
        </p:nvSpPr>
        <p:spPr>
          <a:xfrm>
            <a:off x="594360" y="3675887"/>
            <a:ext cx="2331720" cy="320040"/>
          </a:xfrm>
          <a:prstGeom prst="rect">
            <a:avLst/>
          </a:prstGeom>
          <a:noFill/>
        </p:spPr>
        <p:txBody>
          <a:bodyPr wrap="square" anchor="t" lIns="0" rIns="0" tIns="0" bIns="0">
            <a:spAutoFit/>
          </a:bodyPr>
          <a:lstStyle/>
          <a:p>
            <a:pPr algn="l">
              <a:spcAft>
                <a:spcPts val="400"/>
              </a:spcAft>
            </a:pPr>
            <a:r>
              <a:rPr sz="1700">
                <a:solidFill>
                  <a:srgbClr val="1F2328"/>
                </a:solidFill>
                <a:latin typeface="+mj-lt"/>
              </a:rPr>
              <a:t>Observe</a:t>
            </a:r>
          </a:p>
        </p:txBody>
      </p:sp>
      <p:sp>
        <p:nvSpPr>
          <p:cNvPr id="15" name="TextBox 14"/>
          <p:cNvSpPr txBox="1"/>
          <p:nvPr/>
        </p:nvSpPr>
        <p:spPr>
          <a:xfrm>
            <a:off x="594360" y="4069079"/>
            <a:ext cx="2331720" cy="731520"/>
          </a:xfrm>
          <a:prstGeom prst="rect">
            <a:avLst/>
          </a:prstGeom>
          <a:noFill/>
        </p:spPr>
        <p:txBody>
          <a:bodyPr wrap="square" anchor="t" lIns="0" rIns="0" tIns="0" bIns="0">
            <a:spAutoFit/>
          </a:bodyPr>
          <a:lstStyle/>
          <a:p>
            <a:pPr algn="l">
              <a:spcAft>
                <a:spcPts val="400"/>
              </a:spcAft>
            </a:pPr>
            <a:r>
              <a:rPr sz="1400">
                <a:solidFill>
                  <a:srgbClr val="1F2328"/>
                </a:solidFill>
              </a:rPr>
              <a:t>We understand what's happening and what it costs.</a:t>
            </a:r>
          </a:p>
        </p:txBody>
      </p:sp>
      <p:sp>
        <p:nvSpPr>
          <p:cNvPr id="16" name="TextBox 15"/>
          <p:cNvSpPr txBox="1"/>
          <p:nvPr/>
        </p:nvSpPr>
        <p:spPr>
          <a:xfrm>
            <a:off x="594360" y="4846320"/>
            <a:ext cx="2331720" cy="822960"/>
          </a:xfrm>
          <a:prstGeom prst="rect">
            <a:avLst/>
          </a:prstGeom>
          <a:noFill/>
        </p:spPr>
        <p:txBody>
          <a:bodyPr wrap="square" anchor="t" lIns="0" rIns="0" tIns="0" bIns="0">
            <a:spAutoFit/>
          </a:bodyPr>
          <a:lstStyle/>
          <a:p>
            <a:pPr algn="l">
              <a:spcAft>
                <a:spcPts val="400"/>
              </a:spcAft>
            </a:pPr>
            <a:r>
              <a:rPr sz="1200">
                <a:solidFill>
                  <a:srgbClr val="5F6670"/>
                </a:solidFill>
                <a:latin typeface="+mj-lt"/>
              </a:rPr>
              <a:t>Passes when: </a:t>
            </a:r>
            <a:r>
              <a:rPr sz="1200">
                <a:solidFill>
                  <a:srgbClr val="5F6670"/>
                </a:solidFill>
              </a:rPr>
              <a:t>Accurate cost, performance, utilization and reliability for a representative workload</a:t>
            </a:r>
          </a:p>
        </p:txBody>
      </p:sp>
      <p:sp>
        <p:nvSpPr>
          <p:cNvPr id="17" name="Rounded Rectangle 16"/>
          <p:cNvSpPr/>
          <p:nvPr/>
        </p:nvSpPr>
        <p:spPr>
          <a:xfrm>
            <a:off x="594360" y="5532120"/>
            <a:ext cx="1828800" cy="292608"/>
          </a:xfrm>
          <a:prstGeom prst="roundRect">
            <a:avLst>
              <a:gd name="adj" fmla="val 50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100">
                <a:solidFill>
                  <a:schemeClr val="accent3"/>
                </a:solidFill>
                <a:latin typeface="+mj-lt"/>
              </a:rPr>
              <a:t>In progress</a:t>
            </a:r>
          </a:p>
        </p:txBody>
      </p:sp>
      <p:sp>
        <p:nvSpPr>
          <p:cNvPr id="18" name="Rounded Rectangle 17"/>
          <p:cNvSpPr/>
          <p:nvPr/>
        </p:nvSpPr>
        <p:spPr>
          <a:xfrm>
            <a:off x="3264408" y="2514600"/>
            <a:ext cx="2743200" cy="3520439"/>
          </a:xfrm>
          <a:prstGeom prst="roundRect">
            <a:avLst>
              <a:gd name="adj" fmla="val 6000"/>
            </a:avLst>
          </a:prstGeom>
          <a:solidFill>
            <a:srgbClr val="ECEE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9" name="TextBox 18"/>
          <p:cNvSpPr txBox="1"/>
          <p:nvPr/>
        </p:nvSpPr>
        <p:spPr>
          <a:xfrm>
            <a:off x="3493008" y="2697480"/>
            <a:ext cx="2286000" cy="457200"/>
          </a:xfrm>
          <a:prstGeom prst="rect">
            <a:avLst/>
          </a:prstGeom>
          <a:noFill/>
        </p:spPr>
        <p:txBody>
          <a:bodyPr wrap="square" anchor="t" lIns="0" rIns="0" tIns="0" bIns="0">
            <a:spAutoFit/>
          </a:bodyPr>
          <a:lstStyle/>
          <a:p>
            <a:pPr algn="l">
              <a:spcAft>
                <a:spcPts val="400"/>
              </a:spcAft>
            </a:pPr>
            <a:r>
              <a:rPr sz="2800">
                <a:solidFill>
                  <a:srgbClr val="1F2328"/>
                </a:solidFill>
                <a:latin typeface="+mj-lt"/>
              </a:rPr>
              <a:t>P2</a:t>
            </a:r>
          </a:p>
        </p:txBody>
      </p:sp>
      <p:sp>
        <p:nvSpPr>
          <p:cNvPr id="20" name="TextBox 19"/>
          <p:cNvSpPr txBox="1"/>
          <p:nvPr/>
        </p:nvSpPr>
        <p:spPr>
          <a:xfrm>
            <a:off x="3493008" y="3172968"/>
            <a:ext cx="2331720" cy="320040"/>
          </a:xfrm>
          <a:prstGeom prst="rect">
            <a:avLst/>
          </a:prstGeom>
          <a:noFill/>
        </p:spPr>
        <p:txBody>
          <a:bodyPr wrap="square" anchor="t" lIns="0" rIns="0" tIns="0" bIns="0">
            <a:spAutoFit/>
          </a:bodyPr>
          <a:lstStyle/>
          <a:p>
            <a:pPr algn="l">
              <a:spcAft>
                <a:spcPts val="400"/>
              </a:spcAft>
            </a:pPr>
            <a:r>
              <a:rPr sz="1700">
                <a:solidFill>
                  <a:srgbClr val="1F2328"/>
                </a:solidFill>
                <a:latin typeface="+mj-lt"/>
              </a:rPr>
              <a:t>Decide</a:t>
            </a:r>
          </a:p>
        </p:txBody>
      </p:sp>
      <p:sp>
        <p:nvSpPr>
          <p:cNvPr id="21" name="TextBox 20"/>
          <p:cNvSpPr txBox="1"/>
          <p:nvPr/>
        </p:nvSpPr>
        <p:spPr>
          <a:xfrm>
            <a:off x="3493008" y="3566160"/>
            <a:ext cx="2331720" cy="731520"/>
          </a:xfrm>
          <a:prstGeom prst="rect">
            <a:avLst/>
          </a:prstGeom>
          <a:noFill/>
        </p:spPr>
        <p:txBody>
          <a:bodyPr wrap="square" anchor="t" lIns="0" rIns="0" tIns="0" bIns="0">
            <a:spAutoFit/>
          </a:bodyPr>
          <a:lstStyle/>
          <a:p>
            <a:pPr algn="l">
              <a:spcAft>
                <a:spcPts val="400"/>
              </a:spcAft>
            </a:pPr>
            <a:r>
              <a:rPr sz="1400">
                <a:solidFill>
                  <a:srgbClr val="1F2328"/>
                </a:solidFill>
              </a:rPr>
              <a:t>Our accumulated knowledge improves decisions.</a:t>
            </a:r>
          </a:p>
        </p:txBody>
      </p:sp>
      <p:sp>
        <p:nvSpPr>
          <p:cNvPr id="22" name="TextBox 21"/>
          <p:cNvSpPr txBox="1"/>
          <p:nvPr/>
        </p:nvSpPr>
        <p:spPr>
          <a:xfrm>
            <a:off x="3493008" y="4343400"/>
            <a:ext cx="2331720" cy="822960"/>
          </a:xfrm>
          <a:prstGeom prst="rect">
            <a:avLst/>
          </a:prstGeom>
          <a:noFill/>
        </p:spPr>
        <p:txBody>
          <a:bodyPr wrap="square" anchor="t" lIns="0" rIns="0" tIns="0" bIns="0">
            <a:spAutoFit/>
          </a:bodyPr>
          <a:lstStyle/>
          <a:p>
            <a:pPr algn="l">
              <a:spcAft>
                <a:spcPts val="400"/>
              </a:spcAft>
            </a:pPr>
            <a:r>
              <a:rPr sz="1200">
                <a:solidFill>
                  <a:srgbClr val="5F6670"/>
                </a:solidFill>
                <a:latin typeface="+mj-lt"/>
              </a:rPr>
              <a:t>Passes when: </a:t>
            </a:r>
            <a:r>
              <a:rPr sz="1200">
                <a:solidFill>
                  <a:srgbClr val="5F6670"/>
                </a:solidFill>
              </a:rPr>
              <a:t>One evidence-informed decision beats a default baseline on an agreed KPI</a:t>
            </a:r>
          </a:p>
        </p:txBody>
      </p:sp>
      <p:sp>
        <p:nvSpPr>
          <p:cNvPr id="23" name="Rounded Rectangle 22"/>
          <p:cNvSpPr/>
          <p:nvPr/>
        </p:nvSpPr>
        <p:spPr>
          <a:xfrm>
            <a:off x="3493008" y="5532120"/>
            <a:ext cx="1188720" cy="292608"/>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100">
                <a:solidFill>
                  <a:schemeClr val="accent1"/>
                </a:solidFill>
                <a:latin typeface="+mj-lt"/>
              </a:rPr>
              <a:t>Gap</a:t>
            </a:r>
          </a:p>
        </p:txBody>
      </p:sp>
      <p:sp>
        <p:nvSpPr>
          <p:cNvPr id="24" name="Rounded Rectangle 23"/>
          <p:cNvSpPr/>
          <p:nvPr/>
        </p:nvSpPr>
        <p:spPr>
          <a:xfrm>
            <a:off x="6163056" y="2011679"/>
            <a:ext cx="2743200" cy="4023360"/>
          </a:xfrm>
          <a:prstGeom prst="roundRect">
            <a:avLst>
              <a:gd name="adj" fmla="val 6000"/>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25" name="TextBox 24"/>
          <p:cNvSpPr txBox="1"/>
          <p:nvPr/>
        </p:nvSpPr>
        <p:spPr>
          <a:xfrm>
            <a:off x="6391656" y="2194560"/>
            <a:ext cx="2286000" cy="457200"/>
          </a:xfrm>
          <a:prstGeom prst="rect">
            <a:avLst/>
          </a:prstGeom>
          <a:noFill/>
        </p:spPr>
        <p:txBody>
          <a:bodyPr wrap="square" anchor="t" lIns="0" rIns="0" tIns="0" bIns="0">
            <a:spAutoFit/>
          </a:bodyPr>
          <a:lstStyle/>
          <a:p>
            <a:pPr algn="l">
              <a:spcAft>
                <a:spcPts val="400"/>
              </a:spcAft>
            </a:pPr>
            <a:r>
              <a:rPr sz="2800">
                <a:solidFill>
                  <a:srgbClr val="1F2328"/>
                </a:solidFill>
                <a:latin typeface="+mj-lt"/>
              </a:rPr>
              <a:t>P3</a:t>
            </a:r>
          </a:p>
        </p:txBody>
      </p:sp>
      <p:sp>
        <p:nvSpPr>
          <p:cNvPr id="26" name="TextBox 25"/>
          <p:cNvSpPr txBox="1"/>
          <p:nvPr/>
        </p:nvSpPr>
        <p:spPr>
          <a:xfrm>
            <a:off x="6391656" y="2670048"/>
            <a:ext cx="2331720" cy="320040"/>
          </a:xfrm>
          <a:prstGeom prst="rect">
            <a:avLst/>
          </a:prstGeom>
          <a:noFill/>
        </p:spPr>
        <p:txBody>
          <a:bodyPr wrap="square" anchor="t" lIns="0" rIns="0" tIns="0" bIns="0">
            <a:spAutoFit/>
          </a:bodyPr>
          <a:lstStyle/>
          <a:p>
            <a:pPr algn="l">
              <a:spcAft>
                <a:spcPts val="400"/>
              </a:spcAft>
            </a:pPr>
            <a:r>
              <a:rPr sz="1700">
                <a:solidFill>
                  <a:srgbClr val="1F2328"/>
                </a:solidFill>
                <a:latin typeface="+mj-lt"/>
              </a:rPr>
              <a:t>Assume responsibility</a:t>
            </a:r>
          </a:p>
        </p:txBody>
      </p:sp>
      <p:sp>
        <p:nvSpPr>
          <p:cNvPr id="27" name="TextBox 26"/>
          <p:cNvSpPr txBox="1"/>
          <p:nvPr/>
        </p:nvSpPr>
        <p:spPr>
          <a:xfrm>
            <a:off x="6391656" y="3063239"/>
            <a:ext cx="2331720" cy="731520"/>
          </a:xfrm>
          <a:prstGeom prst="rect">
            <a:avLst/>
          </a:prstGeom>
          <a:noFill/>
        </p:spPr>
        <p:txBody>
          <a:bodyPr wrap="square" anchor="t" lIns="0" rIns="0" tIns="0" bIns="0">
            <a:spAutoFit/>
          </a:bodyPr>
          <a:lstStyle/>
          <a:p>
            <a:pPr algn="l">
              <a:spcAft>
                <a:spcPts val="400"/>
              </a:spcAft>
            </a:pPr>
            <a:r>
              <a:rPr sz="1400">
                <a:solidFill>
                  <a:srgbClr val="1F2328"/>
                </a:solidFill>
              </a:rPr>
              <a:t>We can safely take over a real customer's AI estate.</a:t>
            </a:r>
          </a:p>
        </p:txBody>
      </p:sp>
      <p:sp>
        <p:nvSpPr>
          <p:cNvPr id="28" name="TextBox 27"/>
          <p:cNvSpPr txBox="1"/>
          <p:nvPr/>
        </p:nvSpPr>
        <p:spPr>
          <a:xfrm>
            <a:off x="6391656" y="3840479"/>
            <a:ext cx="2331720" cy="822960"/>
          </a:xfrm>
          <a:prstGeom prst="rect">
            <a:avLst/>
          </a:prstGeom>
          <a:noFill/>
        </p:spPr>
        <p:txBody>
          <a:bodyPr wrap="square" anchor="t" lIns="0" rIns="0" tIns="0" bIns="0">
            <a:spAutoFit/>
          </a:bodyPr>
          <a:lstStyle/>
          <a:p>
            <a:pPr algn="l">
              <a:spcAft>
                <a:spcPts val="400"/>
              </a:spcAft>
            </a:pPr>
            <a:r>
              <a:rPr sz="1200">
                <a:solidFill>
                  <a:srgbClr val="5F6670"/>
                </a:solidFill>
                <a:latin typeface="+mj-lt"/>
              </a:rPr>
              <a:t>Passes when: </a:t>
            </a:r>
            <a:r>
              <a:rPr sz="1200">
                <a:solidFill>
                  <a:srgbClr val="5F6670"/>
                </a:solidFill>
              </a:rPr>
              <a:t>MOE-1: an external, regulated customer delegates operations and pays</a:t>
            </a:r>
          </a:p>
        </p:txBody>
      </p:sp>
      <p:sp>
        <p:nvSpPr>
          <p:cNvPr id="29" name="Rounded Rectangle 28"/>
          <p:cNvSpPr/>
          <p:nvPr/>
        </p:nvSpPr>
        <p:spPr>
          <a:xfrm>
            <a:off x="6391656" y="5532120"/>
            <a:ext cx="1188720" cy="292608"/>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100">
                <a:solidFill>
                  <a:schemeClr val="accent1"/>
                </a:solidFill>
                <a:latin typeface="+mj-lt"/>
              </a:rPr>
              <a:t>Gap</a:t>
            </a:r>
          </a:p>
        </p:txBody>
      </p:sp>
      <p:sp>
        <p:nvSpPr>
          <p:cNvPr id="30" name="Rounded Rectangle 29"/>
          <p:cNvSpPr/>
          <p:nvPr/>
        </p:nvSpPr>
        <p:spPr>
          <a:xfrm>
            <a:off x="9061704" y="1508759"/>
            <a:ext cx="2743200" cy="4526280"/>
          </a:xfrm>
          <a:prstGeom prst="roundRect">
            <a:avLst>
              <a:gd name="adj" fmla="val 6000"/>
            </a:avLst>
          </a:prstGeom>
          <a:solidFill>
            <a:srgbClr val="DAD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31" name="TextBox 30"/>
          <p:cNvSpPr txBox="1"/>
          <p:nvPr/>
        </p:nvSpPr>
        <p:spPr>
          <a:xfrm>
            <a:off x="9290304" y="1691639"/>
            <a:ext cx="2286000" cy="457200"/>
          </a:xfrm>
          <a:prstGeom prst="rect">
            <a:avLst/>
          </a:prstGeom>
          <a:noFill/>
        </p:spPr>
        <p:txBody>
          <a:bodyPr wrap="square" anchor="t" lIns="0" rIns="0" tIns="0" bIns="0">
            <a:spAutoFit/>
          </a:bodyPr>
          <a:lstStyle/>
          <a:p>
            <a:pPr algn="l">
              <a:spcAft>
                <a:spcPts val="400"/>
              </a:spcAft>
            </a:pPr>
            <a:r>
              <a:rPr sz="2800">
                <a:solidFill>
                  <a:srgbClr val="1F2328"/>
                </a:solidFill>
                <a:latin typeface="+mj-lt"/>
              </a:rPr>
              <a:t>P4</a:t>
            </a:r>
          </a:p>
        </p:txBody>
      </p:sp>
      <p:sp>
        <p:nvSpPr>
          <p:cNvPr id="32" name="TextBox 31"/>
          <p:cNvSpPr txBox="1"/>
          <p:nvPr/>
        </p:nvSpPr>
        <p:spPr>
          <a:xfrm>
            <a:off x="9290304" y="2167127"/>
            <a:ext cx="2331720" cy="320040"/>
          </a:xfrm>
          <a:prstGeom prst="rect">
            <a:avLst/>
          </a:prstGeom>
          <a:noFill/>
        </p:spPr>
        <p:txBody>
          <a:bodyPr wrap="square" anchor="t" lIns="0" rIns="0" tIns="0" bIns="0">
            <a:spAutoFit/>
          </a:bodyPr>
          <a:lstStyle/>
          <a:p>
            <a:pPr algn="l">
              <a:spcAft>
                <a:spcPts val="400"/>
              </a:spcAft>
            </a:pPr>
            <a:r>
              <a:rPr sz="1700">
                <a:solidFill>
                  <a:srgbClr val="1F2328"/>
                </a:solidFill>
                <a:latin typeface="+mj-lt"/>
              </a:rPr>
              <a:t>Operate</a:t>
            </a:r>
          </a:p>
        </p:txBody>
      </p:sp>
      <p:sp>
        <p:nvSpPr>
          <p:cNvPr id="33" name="TextBox 32"/>
          <p:cNvSpPr txBox="1"/>
          <p:nvPr/>
        </p:nvSpPr>
        <p:spPr>
          <a:xfrm>
            <a:off x="9290304" y="2560320"/>
            <a:ext cx="2331720" cy="731520"/>
          </a:xfrm>
          <a:prstGeom prst="rect">
            <a:avLst/>
          </a:prstGeom>
          <a:noFill/>
        </p:spPr>
        <p:txBody>
          <a:bodyPr wrap="square" anchor="t" lIns="0" rIns="0" tIns="0" bIns="0">
            <a:spAutoFit/>
          </a:bodyPr>
          <a:lstStyle/>
          <a:p>
            <a:pPr algn="l">
              <a:spcAft>
                <a:spcPts val="400"/>
              </a:spcAft>
            </a:pPr>
            <a:r>
              <a:rPr sz="1400">
                <a:solidFill>
                  <a:srgbClr val="1F2328"/>
                </a:solidFill>
              </a:rPr>
              <a:t>We can do it repeatably and profitably.</a:t>
            </a:r>
          </a:p>
        </p:txBody>
      </p:sp>
      <p:sp>
        <p:nvSpPr>
          <p:cNvPr id="34" name="TextBox 33"/>
          <p:cNvSpPr txBox="1"/>
          <p:nvPr/>
        </p:nvSpPr>
        <p:spPr>
          <a:xfrm>
            <a:off x="9290304" y="3337559"/>
            <a:ext cx="2331720" cy="822960"/>
          </a:xfrm>
          <a:prstGeom prst="rect">
            <a:avLst/>
          </a:prstGeom>
          <a:noFill/>
        </p:spPr>
        <p:txBody>
          <a:bodyPr wrap="square" anchor="t" lIns="0" rIns="0" tIns="0" bIns="0">
            <a:spAutoFit/>
          </a:bodyPr>
          <a:lstStyle/>
          <a:p>
            <a:pPr algn="l">
              <a:spcAft>
                <a:spcPts val="400"/>
              </a:spcAft>
            </a:pPr>
            <a:r>
              <a:rPr sz="1200">
                <a:solidFill>
                  <a:srgbClr val="5F6670"/>
                </a:solidFill>
                <a:latin typeface="+mj-lt"/>
              </a:rPr>
              <a:t>Passes when: </a:t>
            </a:r>
            <a:r>
              <a:rPr sz="1200">
                <a:solidFill>
                  <a:srgbClr val="5F6670"/>
                </a:solidFill>
              </a:rPr>
              <a:t>More estates without labor or cost scaling linearly</a:t>
            </a:r>
          </a:p>
        </p:txBody>
      </p:sp>
      <p:sp>
        <p:nvSpPr>
          <p:cNvPr id="35" name="Rounded Rectangle 34"/>
          <p:cNvSpPr/>
          <p:nvPr/>
        </p:nvSpPr>
        <p:spPr>
          <a:xfrm>
            <a:off x="9290304" y="5532120"/>
            <a:ext cx="1828800" cy="292608"/>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100">
                <a:solidFill>
                  <a:srgbClr val="5F6670"/>
                </a:solidFill>
                <a:latin typeface="+mj-lt"/>
              </a:rPr>
              <a:t>Deliberately later</a:t>
            </a:r>
          </a:p>
        </p:txBody>
      </p:sp>
      <p:sp>
        <p:nvSpPr>
          <p:cNvPr id="36" name="TextBox 35"/>
          <p:cNvSpPr txBox="1"/>
          <p:nvPr/>
        </p:nvSpPr>
        <p:spPr>
          <a:xfrm>
            <a:off x="365760" y="6199632"/>
            <a:ext cx="11430000" cy="365760"/>
          </a:xfrm>
          <a:prstGeom prst="rect">
            <a:avLst/>
          </a:prstGeom>
          <a:noFill/>
        </p:spPr>
        <p:txBody>
          <a:bodyPr wrap="square" anchor="t" lIns="0" rIns="0" tIns="0" bIns="0">
            <a:spAutoFit/>
          </a:bodyPr>
          <a:lstStyle/>
          <a:p>
            <a:pPr algn="l">
              <a:spcAft>
                <a:spcPts val="400"/>
              </a:spcAft>
            </a:pPr>
            <a:r>
              <a:rPr sz="1300">
                <a:solidFill>
                  <a:srgbClr val="5F6670"/>
                </a:solidFill>
                <a:latin typeface="+mj-lt"/>
              </a:rPr>
              <a:t>Claims, not a delivery sequence. </a:t>
            </a:r>
            <a:r>
              <a:rPr sz="1300">
                <a:solidFill>
                  <a:srgbClr val="5F6670"/>
                </a:solidFill>
              </a:rPr>
              <a:t>Work on all four starts early; we just can't claim a proof until its test passes.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The Empirical Map: </a:t>
            </a:r>
            <a:r>
              <a:rPr sz="3200">
                <a:solidFill>
                  <a:schemeClr val="accent1"/>
                </a:solidFill>
              </a:rPr>
              <a:t>why it's load-bearing</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0" name="Rounded Rectangle 9"/>
          <p:cNvSpPr/>
          <p:nvPr/>
        </p:nvSpPr>
        <p:spPr>
          <a:xfrm>
            <a:off x="9464040" y="384048"/>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1" name="Rounded Rectangle 10"/>
          <p:cNvSpPr/>
          <p:nvPr/>
        </p:nvSpPr>
        <p:spPr>
          <a:xfrm>
            <a:off x="10607040" y="384048"/>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2" name="Oval 11"/>
          <p:cNvSpPr/>
          <p:nvPr/>
        </p:nvSpPr>
        <p:spPr>
          <a:xfrm>
            <a:off x="1600200" y="2011680"/>
            <a:ext cx="3657600" cy="3657600"/>
          </a:xfrm>
          <a:prstGeom prst="ellipse">
            <a:avLst/>
          </a:prstGeom>
          <a:noFill/>
          <a:ln w="31750">
            <a:solidFill>
              <a:srgbClr val="C4C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8100000">
            <a:off x="4594140" y="2437595"/>
            <a:ext cx="256032" cy="219456"/>
          </a:xfrm>
          <a:prstGeom prst="triangle">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13500000">
            <a:off x="4594140" y="5023908"/>
            <a:ext cx="256032" cy="219456"/>
          </a:xfrm>
          <a:prstGeom prst="triangle">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8900000">
            <a:off x="2007827" y="5023908"/>
            <a:ext cx="256032" cy="219456"/>
          </a:xfrm>
          <a:prstGeom prst="triangle">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2700000">
            <a:off x="2007827" y="2437595"/>
            <a:ext cx="256032" cy="219456"/>
          </a:xfrm>
          <a:prstGeom prst="triangle">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377440" y="1531620"/>
            <a:ext cx="2103120" cy="960120"/>
          </a:xfrm>
          <a:prstGeom prst="roundRect">
            <a:avLst>
              <a:gd name="adj" fmla="val 20000"/>
            </a:avLst>
          </a:prstGeom>
          <a:solidFill>
            <a:schemeClr val="bg1"/>
          </a:solidFill>
          <a:ln w="12700">
            <a:solidFill>
              <a:srgbClr val="C4C9D0"/>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8" name="Oval 17"/>
          <p:cNvSpPr/>
          <p:nvPr/>
        </p:nvSpPr>
        <p:spPr>
          <a:xfrm>
            <a:off x="2487168" y="1856232"/>
            <a:ext cx="310896" cy="310896"/>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400"/>
              </a:spcAft>
            </a:pPr>
            <a:r>
              <a:rPr sz="1200">
                <a:solidFill>
                  <a:schemeClr val="bg1"/>
                </a:solidFill>
                <a:latin typeface="+mj-lt"/>
              </a:rPr>
              <a:t>1</a:t>
            </a:r>
          </a:p>
        </p:txBody>
      </p:sp>
      <p:sp>
        <p:nvSpPr>
          <p:cNvPr id="19" name="TextBox 18"/>
          <p:cNvSpPr txBox="1"/>
          <p:nvPr/>
        </p:nvSpPr>
        <p:spPr>
          <a:xfrm>
            <a:off x="2880360" y="1604772"/>
            <a:ext cx="1508760" cy="320040"/>
          </a:xfrm>
          <a:prstGeom prst="rect">
            <a:avLst/>
          </a:prstGeom>
          <a:noFill/>
        </p:spPr>
        <p:txBody>
          <a:bodyPr wrap="square" anchor="t" lIns="0" rIns="0" tIns="0" bIns="0">
            <a:spAutoFit/>
          </a:bodyPr>
          <a:lstStyle/>
          <a:p>
            <a:pPr algn="l">
              <a:spcAft>
                <a:spcPts val="400"/>
              </a:spcAft>
            </a:pPr>
            <a:r>
              <a:rPr sz="1700">
                <a:solidFill>
                  <a:srgbClr val="1F2328"/>
                </a:solidFill>
                <a:latin typeface="+mj-lt"/>
              </a:rPr>
              <a:t>Observe</a:t>
            </a:r>
          </a:p>
        </p:txBody>
      </p:sp>
      <p:sp>
        <p:nvSpPr>
          <p:cNvPr id="20" name="TextBox 19"/>
          <p:cNvSpPr txBox="1"/>
          <p:nvPr/>
        </p:nvSpPr>
        <p:spPr>
          <a:xfrm>
            <a:off x="2880360" y="1924812"/>
            <a:ext cx="1508760" cy="530352"/>
          </a:xfrm>
          <a:prstGeom prst="rect">
            <a:avLst/>
          </a:prstGeom>
          <a:noFill/>
        </p:spPr>
        <p:txBody>
          <a:bodyPr wrap="square" anchor="t" lIns="0" rIns="0" tIns="0" bIns="0">
            <a:spAutoFit/>
          </a:bodyPr>
          <a:lstStyle/>
          <a:p>
            <a:pPr algn="l">
              <a:spcAft>
                <a:spcPts val="400"/>
              </a:spcAft>
            </a:pPr>
            <a:r>
              <a:rPr sz="1100">
                <a:solidFill>
                  <a:srgbClr val="5F6670"/>
                </a:solidFill>
              </a:rPr>
              <a:t>workload, configuration, performance, cost</a:t>
            </a:r>
          </a:p>
        </p:txBody>
      </p:sp>
      <p:sp>
        <p:nvSpPr>
          <p:cNvPr id="21" name="Rounded Rectangle 20"/>
          <p:cNvSpPr/>
          <p:nvPr/>
        </p:nvSpPr>
        <p:spPr>
          <a:xfrm>
            <a:off x="4206240" y="3360420"/>
            <a:ext cx="2103120" cy="960120"/>
          </a:xfrm>
          <a:prstGeom prst="roundRect">
            <a:avLst>
              <a:gd name="adj" fmla="val 20000"/>
            </a:avLst>
          </a:prstGeom>
          <a:solidFill>
            <a:schemeClr val="bg1"/>
          </a:solidFill>
          <a:ln w="12700">
            <a:solidFill>
              <a:srgbClr val="C4C9D0"/>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22" name="Oval 21"/>
          <p:cNvSpPr/>
          <p:nvPr/>
        </p:nvSpPr>
        <p:spPr>
          <a:xfrm>
            <a:off x="4315968" y="3685032"/>
            <a:ext cx="310896" cy="310896"/>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400"/>
              </a:spcAft>
            </a:pPr>
            <a:r>
              <a:rPr sz="1200">
                <a:solidFill>
                  <a:schemeClr val="bg1"/>
                </a:solidFill>
                <a:latin typeface="+mj-lt"/>
              </a:rPr>
              <a:t>2</a:t>
            </a:r>
          </a:p>
        </p:txBody>
      </p:sp>
      <p:sp>
        <p:nvSpPr>
          <p:cNvPr id="23" name="TextBox 22"/>
          <p:cNvSpPr txBox="1"/>
          <p:nvPr/>
        </p:nvSpPr>
        <p:spPr>
          <a:xfrm>
            <a:off x="4709159" y="3433572"/>
            <a:ext cx="1508760" cy="320040"/>
          </a:xfrm>
          <a:prstGeom prst="rect">
            <a:avLst/>
          </a:prstGeom>
          <a:noFill/>
        </p:spPr>
        <p:txBody>
          <a:bodyPr wrap="square" anchor="t" lIns="0" rIns="0" tIns="0" bIns="0">
            <a:spAutoFit/>
          </a:bodyPr>
          <a:lstStyle/>
          <a:p>
            <a:pPr algn="l">
              <a:spcAft>
                <a:spcPts val="400"/>
              </a:spcAft>
            </a:pPr>
            <a:r>
              <a:rPr sz="1700">
                <a:solidFill>
                  <a:srgbClr val="1F2328"/>
                </a:solidFill>
                <a:latin typeface="+mj-lt"/>
              </a:rPr>
              <a:t>Learn</a:t>
            </a:r>
          </a:p>
        </p:txBody>
      </p:sp>
      <p:sp>
        <p:nvSpPr>
          <p:cNvPr id="24" name="TextBox 23"/>
          <p:cNvSpPr txBox="1"/>
          <p:nvPr/>
        </p:nvSpPr>
        <p:spPr>
          <a:xfrm>
            <a:off x="4709159" y="3753612"/>
            <a:ext cx="1508760" cy="530352"/>
          </a:xfrm>
          <a:prstGeom prst="rect">
            <a:avLst/>
          </a:prstGeom>
          <a:noFill/>
        </p:spPr>
        <p:txBody>
          <a:bodyPr wrap="square" anchor="t" lIns="0" rIns="0" tIns="0" bIns="0">
            <a:spAutoFit/>
          </a:bodyPr>
          <a:lstStyle/>
          <a:p>
            <a:pPr algn="l">
              <a:spcAft>
                <a:spcPts val="400"/>
              </a:spcAft>
            </a:pPr>
            <a:r>
              <a:rPr sz="1100">
                <a:solidFill>
                  <a:srgbClr val="5F6670"/>
                </a:solidFill>
              </a:rPr>
              <a:t>which configurations produce which outcomes</a:t>
            </a:r>
          </a:p>
        </p:txBody>
      </p:sp>
      <p:sp>
        <p:nvSpPr>
          <p:cNvPr id="25" name="Rounded Rectangle 24"/>
          <p:cNvSpPr/>
          <p:nvPr/>
        </p:nvSpPr>
        <p:spPr>
          <a:xfrm>
            <a:off x="2377440" y="5189220"/>
            <a:ext cx="2103120" cy="960120"/>
          </a:xfrm>
          <a:prstGeom prst="roundRect">
            <a:avLst>
              <a:gd name="adj" fmla="val 20000"/>
            </a:avLst>
          </a:prstGeom>
          <a:solidFill>
            <a:schemeClr val="bg1"/>
          </a:solidFill>
          <a:ln w="12700">
            <a:solidFill>
              <a:srgbClr val="C4C9D0"/>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26" name="Oval 25"/>
          <p:cNvSpPr/>
          <p:nvPr/>
        </p:nvSpPr>
        <p:spPr>
          <a:xfrm>
            <a:off x="2487168" y="5513832"/>
            <a:ext cx="310896" cy="310896"/>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400"/>
              </a:spcAft>
            </a:pPr>
            <a:r>
              <a:rPr sz="1200">
                <a:solidFill>
                  <a:schemeClr val="bg1"/>
                </a:solidFill>
                <a:latin typeface="+mj-lt"/>
              </a:rPr>
              <a:t>3</a:t>
            </a:r>
          </a:p>
        </p:txBody>
      </p:sp>
      <p:sp>
        <p:nvSpPr>
          <p:cNvPr id="27" name="TextBox 26"/>
          <p:cNvSpPr txBox="1"/>
          <p:nvPr/>
        </p:nvSpPr>
        <p:spPr>
          <a:xfrm>
            <a:off x="2880360" y="5262372"/>
            <a:ext cx="1508760" cy="320040"/>
          </a:xfrm>
          <a:prstGeom prst="rect">
            <a:avLst/>
          </a:prstGeom>
          <a:noFill/>
        </p:spPr>
        <p:txBody>
          <a:bodyPr wrap="square" anchor="t" lIns="0" rIns="0" tIns="0" bIns="0">
            <a:spAutoFit/>
          </a:bodyPr>
          <a:lstStyle/>
          <a:p>
            <a:pPr algn="l">
              <a:spcAft>
                <a:spcPts val="400"/>
              </a:spcAft>
            </a:pPr>
            <a:r>
              <a:rPr sz="1700">
                <a:solidFill>
                  <a:srgbClr val="1F2328"/>
                </a:solidFill>
                <a:latin typeface="+mj-lt"/>
              </a:rPr>
              <a:t>Decide</a:t>
            </a:r>
          </a:p>
        </p:txBody>
      </p:sp>
      <p:sp>
        <p:nvSpPr>
          <p:cNvPr id="28" name="TextBox 27"/>
          <p:cNvSpPr txBox="1"/>
          <p:nvPr/>
        </p:nvSpPr>
        <p:spPr>
          <a:xfrm>
            <a:off x="2880360" y="5582412"/>
            <a:ext cx="1508760" cy="530352"/>
          </a:xfrm>
          <a:prstGeom prst="rect">
            <a:avLst/>
          </a:prstGeom>
          <a:noFill/>
        </p:spPr>
        <p:txBody>
          <a:bodyPr wrap="square" anchor="t" lIns="0" rIns="0" tIns="0" bIns="0">
            <a:spAutoFit/>
          </a:bodyPr>
          <a:lstStyle/>
          <a:p>
            <a:pPr algn="l">
              <a:spcAft>
                <a:spcPts val="400"/>
              </a:spcAft>
            </a:pPr>
            <a:r>
              <a:rPr sz="1100">
                <a:solidFill>
                  <a:srgbClr val="5F6670"/>
                </a:solidFill>
              </a:rPr>
              <a:t>a better model, runtime, hardware or config</a:t>
            </a:r>
          </a:p>
        </p:txBody>
      </p:sp>
      <p:sp>
        <p:nvSpPr>
          <p:cNvPr id="29" name="Rounded Rectangle 28"/>
          <p:cNvSpPr/>
          <p:nvPr/>
        </p:nvSpPr>
        <p:spPr>
          <a:xfrm>
            <a:off x="548640" y="3360420"/>
            <a:ext cx="2103120" cy="960120"/>
          </a:xfrm>
          <a:prstGeom prst="roundRect">
            <a:avLst>
              <a:gd name="adj" fmla="val 20000"/>
            </a:avLst>
          </a:prstGeom>
          <a:solidFill>
            <a:schemeClr val="bg1"/>
          </a:solidFill>
          <a:ln w="12700">
            <a:solidFill>
              <a:srgbClr val="C4C9D0"/>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30" name="Oval 29"/>
          <p:cNvSpPr/>
          <p:nvPr/>
        </p:nvSpPr>
        <p:spPr>
          <a:xfrm>
            <a:off x="658368" y="3685032"/>
            <a:ext cx="310896" cy="310896"/>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400"/>
              </a:spcAft>
            </a:pPr>
            <a:r>
              <a:rPr sz="1200">
                <a:solidFill>
                  <a:schemeClr val="bg1"/>
                </a:solidFill>
                <a:latin typeface="+mj-lt"/>
              </a:rPr>
              <a:t>4</a:t>
            </a:r>
          </a:p>
        </p:txBody>
      </p:sp>
      <p:sp>
        <p:nvSpPr>
          <p:cNvPr id="31" name="TextBox 30"/>
          <p:cNvSpPr txBox="1"/>
          <p:nvPr/>
        </p:nvSpPr>
        <p:spPr>
          <a:xfrm>
            <a:off x="1051560" y="3433572"/>
            <a:ext cx="1508760" cy="320040"/>
          </a:xfrm>
          <a:prstGeom prst="rect">
            <a:avLst/>
          </a:prstGeom>
          <a:noFill/>
        </p:spPr>
        <p:txBody>
          <a:bodyPr wrap="square" anchor="t" lIns="0" rIns="0" tIns="0" bIns="0">
            <a:spAutoFit/>
          </a:bodyPr>
          <a:lstStyle/>
          <a:p>
            <a:pPr algn="l">
              <a:spcAft>
                <a:spcPts val="400"/>
              </a:spcAft>
            </a:pPr>
            <a:r>
              <a:rPr sz="1700">
                <a:solidFill>
                  <a:srgbClr val="1F2328"/>
                </a:solidFill>
                <a:latin typeface="+mj-lt"/>
              </a:rPr>
              <a:t>Validate</a:t>
            </a:r>
          </a:p>
        </p:txBody>
      </p:sp>
      <p:sp>
        <p:nvSpPr>
          <p:cNvPr id="32" name="TextBox 31"/>
          <p:cNvSpPr txBox="1"/>
          <p:nvPr/>
        </p:nvSpPr>
        <p:spPr>
          <a:xfrm>
            <a:off x="1051560" y="3753612"/>
            <a:ext cx="1508760" cy="530352"/>
          </a:xfrm>
          <a:prstGeom prst="rect">
            <a:avLst/>
          </a:prstGeom>
          <a:noFill/>
        </p:spPr>
        <p:txBody>
          <a:bodyPr wrap="square" anchor="t" lIns="0" rIns="0" tIns="0" bIns="0">
            <a:spAutoFit/>
          </a:bodyPr>
          <a:lstStyle/>
          <a:p>
            <a:pPr algn="l">
              <a:spcAft>
                <a:spcPts val="400"/>
              </a:spcAft>
            </a:pPr>
            <a:r>
              <a:rPr sz="1100">
                <a:solidFill>
                  <a:srgbClr val="5F6670"/>
                </a:solidFill>
              </a:rPr>
              <a:t>measure the real outcome, feed it back</a:t>
            </a:r>
          </a:p>
        </p:txBody>
      </p:sp>
      <p:sp>
        <p:nvSpPr>
          <p:cNvPr id="33" name="TextBox 32"/>
          <p:cNvSpPr txBox="1"/>
          <p:nvPr/>
        </p:nvSpPr>
        <p:spPr>
          <a:xfrm>
            <a:off x="2715768" y="3246120"/>
            <a:ext cx="1426464" cy="1188720"/>
          </a:xfrm>
          <a:prstGeom prst="rect">
            <a:avLst/>
          </a:prstGeom>
          <a:noFill/>
        </p:spPr>
        <p:txBody>
          <a:bodyPr wrap="square" anchor="ctr" lIns="0" rIns="0" tIns="0" bIns="0">
            <a:spAutoFit/>
          </a:bodyPr>
          <a:lstStyle/>
          <a:p>
            <a:pPr algn="ctr">
              <a:spcAft>
                <a:spcPts val="400"/>
              </a:spcAft>
            </a:pPr>
            <a:r>
              <a:rPr sz="1400">
                <a:solidFill>
                  <a:srgbClr val="1F2328"/>
                </a:solidFill>
                <a:latin typeface="+mj-lt"/>
              </a:rPr>
              <a:t>Each estate makes the next decision better</a:t>
            </a:r>
          </a:p>
        </p:txBody>
      </p:sp>
      <p:sp>
        <p:nvSpPr>
          <p:cNvPr id="34" name="TextBox 33"/>
          <p:cNvSpPr txBox="1"/>
          <p:nvPr/>
        </p:nvSpPr>
        <p:spPr>
          <a:xfrm>
            <a:off x="6400800" y="1280160"/>
            <a:ext cx="5394960" cy="1280160"/>
          </a:xfrm>
          <a:prstGeom prst="rect">
            <a:avLst/>
          </a:prstGeom>
          <a:noFill/>
        </p:spPr>
        <p:txBody>
          <a:bodyPr wrap="square" anchor="t" lIns="0" rIns="0" tIns="0" bIns="0">
            <a:spAutoFit/>
          </a:bodyPr>
          <a:lstStyle/>
          <a:p>
            <a:pPr algn="l">
              <a:spcAft>
                <a:spcPts val="600"/>
              </a:spcAft>
            </a:pPr>
            <a:r>
              <a:rPr sz="2200">
                <a:solidFill>
                  <a:srgbClr val="1F2328"/>
                </a:solidFill>
                <a:latin typeface="+mj-lt"/>
              </a:rPr>
              <a:t>That compounding is the operator advantage.</a:t>
            </a:r>
          </a:p>
          <a:p>
            <a:pPr algn="l">
              <a:spcAft>
                <a:spcPts val="400"/>
              </a:spcAft>
            </a:pPr>
            <a:r>
              <a:rPr sz="1500">
                <a:solidFill>
                  <a:srgbClr val="5F6670"/>
                </a:solidFill>
              </a:rPr>
              <a:t>K2 tests early that it's real: what we learn on one workload must improve another.</a:t>
            </a:r>
          </a:p>
        </p:txBody>
      </p:sp>
      <p:sp>
        <p:nvSpPr>
          <p:cNvPr id="35" name="TextBox 34"/>
          <p:cNvSpPr txBox="1"/>
          <p:nvPr/>
        </p:nvSpPr>
        <p:spPr>
          <a:xfrm>
            <a:off x="6400800" y="2788920"/>
            <a:ext cx="539496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THE SOVEREIGNTY BOUNDARY</a:t>
            </a:r>
          </a:p>
        </p:txBody>
      </p:sp>
      <p:sp>
        <p:nvSpPr>
          <p:cNvPr id="36" name="Rounded Rectangle 35"/>
          <p:cNvSpPr/>
          <p:nvPr/>
        </p:nvSpPr>
        <p:spPr>
          <a:xfrm>
            <a:off x="6400800" y="3108960"/>
            <a:ext cx="5394960" cy="1417320"/>
          </a:xfrm>
          <a:prstGeom prst="roundRect">
            <a:avLst>
              <a:gd name="adj" fmla="val 10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37" name="TextBox 36"/>
          <p:cNvSpPr txBox="1"/>
          <p:nvPr/>
        </p:nvSpPr>
        <p:spPr>
          <a:xfrm>
            <a:off x="6675120" y="3246120"/>
            <a:ext cx="4846320" cy="1188720"/>
          </a:xfrm>
          <a:prstGeom prst="rect">
            <a:avLst/>
          </a:prstGeom>
          <a:noFill/>
        </p:spPr>
        <p:txBody>
          <a:bodyPr wrap="square" anchor="t" lIns="0" rIns="0" tIns="0" bIns="0">
            <a:spAutoFit/>
          </a:bodyPr>
          <a:lstStyle/>
          <a:p>
            <a:pPr algn="l">
              <a:spcAft>
                <a:spcPts val="400"/>
              </a:spcAft>
            </a:pPr>
            <a:r>
              <a:rPr sz="1500">
                <a:solidFill>
                  <a:schemeClr val="accent3"/>
                </a:solidFill>
                <a:latin typeface="+mj-lt"/>
              </a:rPr>
              <a:t>Can transfer across estates</a:t>
            </a:r>
          </a:p>
          <a:p>
            <a:pPr algn="l">
              <a:spcAft>
                <a:spcPts val="400"/>
              </a:spcAft>
            </a:pPr>
            <a:r>
              <a:rPr sz="1300">
                <a:solidFill>
                  <a:srgbClr val="1F2328"/>
                </a:solidFill>
              </a:rPr>
              <a:t>Only explicitly approved, privacy-preserving operating insights, such as configuration-to-outcome patterns and aggregated evidence</a:t>
            </a:r>
          </a:p>
        </p:txBody>
      </p:sp>
      <p:sp>
        <p:nvSpPr>
          <p:cNvPr id="38" name="Rounded Rectangle 37"/>
          <p:cNvSpPr/>
          <p:nvPr/>
        </p:nvSpPr>
        <p:spPr>
          <a:xfrm>
            <a:off x="6400800" y="4663440"/>
            <a:ext cx="5394960" cy="1417320"/>
          </a:xfrm>
          <a:prstGeom prst="roundRect">
            <a:avLst>
              <a:gd name="adj" fmla="val 1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39" name="TextBox 38"/>
          <p:cNvSpPr txBox="1"/>
          <p:nvPr/>
        </p:nvSpPr>
        <p:spPr>
          <a:xfrm>
            <a:off x="6675120" y="4800600"/>
            <a:ext cx="4846320" cy="1188720"/>
          </a:xfrm>
          <a:prstGeom prst="rect">
            <a:avLst/>
          </a:prstGeom>
          <a:noFill/>
        </p:spPr>
        <p:txBody>
          <a:bodyPr wrap="square" anchor="t" lIns="0" rIns="0" tIns="0" bIns="0">
            <a:spAutoFit/>
          </a:bodyPr>
          <a:lstStyle/>
          <a:p>
            <a:pPr algn="l">
              <a:spcAft>
                <a:spcPts val="400"/>
              </a:spcAft>
            </a:pPr>
            <a:r>
              <a:rPr sz="1500">
                <a:solidFill>
                  <a:srgbClr val="1F2328"/>
                </a:solidFill>
                <a:latin typeface="+mj-lt"/>
              </a:rPr>
              <a:t>Stays within its authorized boundary</a:t>
            </a:r>
          </a:p>
          <a:p>
            <a:pPr algn="l">
              <a:spcAft>
                <a:spcPts val="400"/>
              </a:spcAft>
            </a:pPr>
            <a:r>
              <a:rPr sz="1300">
                <a:solidFill>
                  <a:srgbClr val="1F2328"/>
                </a:solidFill>
              </a:rPr>
              <a:t>Raw customer data, prompts and outputs, and tenant-private telemetry. Sovereignty is not traded for learning.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p:txBody>
      </p:sp>
      <p:sp>
        <p:nvSpPr>
          <p:cNvPr id="3" name="Title 2"/>
          <p:cNvSpPr>
            <a:spLocks noGrp="1"/>
          </p:cNvSpPr>
          <p:nvPr>
            <p:ph type="title"/>
          </p:nvPr>
        </p:nvSpPr>
        <p:spPr/>
        <p:txBody>
          <a:bodyPr/>
          <a:lstStyle/>
          <a:p>
            <a:r>
              <a:rPr sz="3200"/>
              <a:t>Strong on measurement, </a:t>
            </a:r>
            <a:r>
              <a:rPr sz="3200">
                <a:solidFill>
                  <a:schemeClr val="accent1"/>
                </a:solidFill>
              </a:rPr>
              <a:t>thin on identity</a:t>
            </a:r>
          </a:p>
        </p:txBody>
      </p:sp>
      <p:sp>
        <p:nvSpPr>
          <p:cNvPr id="4" name="Text Placeholder 3"/>
          <p:cNvSpPr>
            <a:spLocks noGrp="1"/>
          </p:cNvSpPr>
          <p:nvPr>
            <p:ph type="body" idx="13" sz="quarter"/>
          </p:nvPr>
        </p:nvSpPr>
        <p:spPr/>
        <p:txBody>
          <a:bodyPr/>
          <a:lstStyle/>
          <a:p>
            <a:pPr algn="l">
              <a:spcAft>
                <a:spcPts val="400"/>
              </a:spcAft>
            </a:pPr>
            <a:r>
              <a:rPr sz="1600"/>
              <a:t>Each line is a checkable baseline from the roadmap, not an assertion.</a:t>
            </a:r>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1" name="Rounded Rectangle 10"/>
          <p:cNvSpPr/>
          <p:nvPr/>
        </p:nvSpPr>
        <p:spPr>
          <a:xfrm>
            <a:off x="9464040" y="384048"/>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2" name="Rounded Rectangle 11"/>
          <p:cNvSpPr/>
          <p:nvPr/>
        </p:nvSpPr>
        <p:spPr>
          <a:xfrm>
            <a:off x="10607040" y="384048"/>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3" name="Rounded Rectangle 12"/>
          <p:cNvSpPr/>
          <p:nvPr/>
        </p:nvSpPr>
        <p:spPr>
          <a:xfrm>
            <a:off x="365760" y="1828800"/>
            <a:ext cx="4206240" cy="13441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4" name="TextBox 13"/>
          <p:cNvSpPr txBox="1"/>
          <p:nvPr/>
        </p:nvSpPr>
        <p:spPr>
          <a:xfrm>
            <a:off x="594360" y="2011680"/>
            <a:ext cx="731520" cy="914400"/>
          </a:xfrm>
          <a:prstGeom prst="rect">
            <a:avLst/>
          </a:prstGeom>
          <a:noFill/>
        </p:spPr>
        <p:txBody>
          <a:bodyPr wrap="square" anchor="t" lIns="0" rIns="0" tIns="0" bIns="0">
            <a:spAutoFit/>
          </a:bodyPr>
          <a:lstStyle/>
          <a:p>
            <a:pPr algn="l">
              <a:spcAft>
                <a:spcPts val="400"/>
              </a:spcAft>
            </a:pPr>
            <a:r>
              <a:rPr sz="4000">
                <a:solidFill>
                  <a:srgbClr val="1F2328"/>
                </a:solidFill>
                <a:latin typeface="+mj-lt"/>
              </a:rPr>
              <a:t>2</a:t>
            </a:r>
          </a:p>
        </p:txBody>
      </p:sp>
      <p:sp>
        <p:nvSpPr>
          <p:cNvPr id="15" name="TextBox 14"/>
          <p:cNvSpPr txBox="1"/>
          <p:nvPr/>
        </p:nvSpPr>
        <p:spPr>
          <a:xfrm>
            <a:off x="1371600" y="2057400"/>
            <a:ext cx="3063240" cy="365760"/>
          </a:xfrm>
          <a:prstGeom prst="rect">
            <a:avLst/>
          </a:prstGeom>
          <a:noFill/>
        </p:spPr>
        <p:txBody>
          <a:bodyPr wrap="square" anchor="t" lIns="0" rIns="0" tIns="0" bIns="0">
            <a:spAutoFit/>
          </a:bodyPr>
          <a:lstStyle/>
          <a:p>
            <a:pPr algn="l">
              <a:spcAft>
                <a:spcPts val="400"/>
              </a:spcAft>
            </a:pPr>
            <a:r>
              <a:rPr sz="1600">
                <a:solidFill>
                  <a:srgbClr val="1F2328"/>
                </a:solidFill>
                <a:latin typeface="+mj-lt"/>
              </a:rPr>
              <a:t>Complete</a:t>
            </a:r>
          </a:p>
        </p:txBody>
      </p:sp>
      <p:sp>
        <p:nvSpPr>
          <p:cNvPr id="16" name="TextBox 15"/>
          <p:cNvSpPr txBox="1"/>
          <p:nvPr/>
        </p:nvSpPr>
        <p:spPr>
          <a:xfrm>
            <a:off x="1371600" y="2468880"/>
            <a:ext cx="3063240" cy="640080"/>
          </a:xfrm>
          <a:prstGeom prst="rect">
            <a:avLst/>
          </a:prstGeom>
          <a:noFill/>
        </p:spPr>
        <p:txBody>
          <a:bodyPr wrap="square" anchor="t" lIns="0" rIns="0" tIns="0" bIns="0">
            <a:spAutoFit/>
          </a:bodyPr>
          <a:lstStyle/>
          <a:p>
            <a:pPr algn="l">
              <a:spcAft>
                <a:spcPts val="400"/>
              </a:spcAft>
            </a:pPr>
            <a:r>
              <a:rPr sz="1300">
                <a:solidFill>
                  <a:srgbClr val="5F6670"/>
                </a:solidFill>
              </a:rPr>
              <a:t>Identity, auth, RBAC · Auditability</a:t>
            </a:r>
          </a:p>
        </p:txBody>
      </p:sp>
      <p:sp>
        <p:nvSpPr>
          <p:cNvPr id="17" name="Rounded Rectangle 16"/>
          <p:cNvSpPr/>
          <p:nvPr/>
        </p:nvSpPr>
        <p:spPr>
          <a:xfrm>
            <a:off x="365760" y="3310128"/>
            <a:ext cx="4206240" cy="13441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8" name="TextBox 17"/>
          <p:cNvSpPr txBox="1"/>
          <p:nvPr/>
        </p:nvSpPr>
        <p:spPr>
          <a:xfrm>
            <a:off x="594360" y="3493008"/>
            <a:ext cx="731520" cy="914400"/>
          </a:xfrm>
          <a:prstGeom prst="rect">
            <a:avLst/>
          </a:prstGeom>
          <a:noFill/>
        </p:spPr>
        <p:txBody>
          <a:bodyPr wrap="square" anchor="t" lIns="0" rIns="0" tIns="0" bIns="0">
            <a:spAutoFit/>
          </a:bodyPr>
          <a:lstStyle/>
          <a:p>
            <a:pPr algn="l">
              <a:spcAft>
                <a:spcPts val="400"/>
              </a:spcAft>
            </a:pPr>
            <a:r>
              <a:rPr sz="4000">
                <a:solidFill>
                  <a:srgbClr val="1F2328"/>
                </a:solidFill>
                <a:latin typeface="+mj-lt"/>
              </a:rPr>
              <a:t>2</a:t>
            </a:r>
          </a:p>
        </p:txBody>
      </p:sp>
      <p:sp>
        <p:nvSpPr>
          <p:cNvPr id="19" name="TextBox 18"/>
          <p:cNvSpPr txBox="1"/>
          <p:nvPr/>
        </p:nvSpPr>
        <p:spPr>
          <a:xfrm>
            <a:off x="1371600" y="3538728"/>
            <a:ext cx="3063240" cy="365760"/>
          </a:xfrm>
          <a:prstGeom prst="rect">
            <a:avLst/>
          </a:prstGeom>
          <a:noFill/>
        </p:spPr>
        <p:txBody>
          <a:bodyPr wrap="square" anchor="t" lIns="0" rIns="0" tIns="0" bIns="0">
            <a:spAutoFit/>
          </a:bodyPr>
          <a:lstStyle/>
          <a:p>
            <a:pPr algn="l">
              <a:spcAft>
                <a:spcPts val="400"/>
              </a:spcAft>
            </a:pPr>
            <a:r>
              <a:rPr sz="1600">
                <a:solidFill>
                  <a:srgbClr val="1F2328"/>
                </a:solidFill>
                <a:latin typeface="+mj-lt"/>
              </a:rPr>
              <a:t>In progress</a:t>
            </a:r>
          </a:p>
        </p:txBody>
      </p:sp>
      <p:sp>
        <p:nvSpPr>
          <p:cNvPr id="20" name="TextBox 19"/>
          <p:cNvSpPr txBox="1"/>
          <p:nvPr/>
        </p:nvSpPr>
        <p:spPr>
          <a:xfrm>
            <a:off x="1371600" y="3950208"/>
            <a:ext cx="3063240" cy="640080"/>
          </a:xfrm>
          <a:prstGeom prst="rect">
            <a:avLst/>
          </a:prstGeom>
          <a:noFill/>
        </p:spPr>
        <p:txBody>
          <a:bodyPr wrap="square" anchor="t" lIns="0" rIns="0" tIns="0" bIns="0">
            <a:spAutoFit/>
          </a:bodyPr>
          <a:lstStyle/>
          <a:p>
            <a:pPr algn="l">
              <a:spcAft>
                <a:spcPts val="400"/>
              </a:spcAft>
            </a:pPr>
            <a:r>
              <a:rPr sz="1300">
                <a:solidFill>
                  <a:srgbClr val="5F6670"/>
                </a:solidFill>
              </a:rPr>
              <a:t>GPU and tenant telemetry · Usage and metering</a:t>
            </a:r>
          </a:p>
        </p:txBody>
      </p:sp>
      <p:sp>
        <p:nvSpPr>
          <p:cNvPr id="21" name="Rounded Rectangle 20"/>
          <p:cNvSpPr/>
          <p:nvPr/>
        </p:nvSpPr>
        <p:spPr>
          <a:xfrm>
            <a:off x="365760" y="4791456"/>
            <a:ext cx="4206240" cy="134416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22" name="TextBox 21"/>
          <p:cNvSpPr txBox="1"/>
          <p:nvPr/>
        </p:nvSpPr>
        <p:spPr>
          <a:xfrm>
            <a:off x="594360" y="4974336"/>
            <a:ext cx="731520" cy="914400"/>
          </a:xfrm>
          <a:prstGeom prst="rect">
            <a:avLst/>
          </a:prstGeom>
          <a:noFill/>
        </p:spPr>
        <p:txBody>
          <a:bodyPr wrap="square" anchor="t" lIns="0" rIns="0" tIns="0" bIns="0">
            <a:spAutoFit/>
          </a:bodyPr>
          <a:lstStyle/>
          <a:p>
            <a:pPr algn="l">
              <a:spcAft>
                <a:spcPts val="400"/>
              </a:spcAft>
            </a:pPr>
            <a:r>
              <a:rPr sz="4000">
                <a:solidFill>
                  <a:srgbClr val="1F2328"/>
                </a:solidFill>
                <a:latin typeface="+mj-lt"/>
              </a:rPr>
              <a:t>1</a:t>
            </a:r>
          </a:p>
        </p:txBody>
      </p:sp>
      <p:sp>
        <p:nvSpPr>
          <p:cNvPr id="23" name="TextBox 22"/>
          <p:cNvSpPr txBox="1"/>
          <p:nvPr/>
        </p:nvSpPr>
        <p:spPr>
          <a:xfrm>
            <a:off x="1371600" y="5020056"/>
            <a:ext cx="3063240" cy="365760"/>
          </a:xfrm>
          <a:prstGeom prst="rect">
            <a:avLst/>
          </a:prstGeom>
          <a:noFill/>
        </p:spPr>
        <p:txBody>
          <a:bodyPr wrap="square" anchor="t" lIns="0" rIns="0" tIns="0" bIns="0">
            <a:spAutoFit/>
          </a:bodyPr>
          <a:lstStyle/>
          <a:p>
            <a:pPr algn="l">
              <a:spcAft>
                <a:spcPts val="400"/>
              </a:spcAft>
            </a:pPr>
            <a:r>
              <a:rPr sz="1600">
                <a:solidFill>
                  <a:srgbClr val="1F2328"/>
                </a:solidFill>
                <a:latin typeface="+mj-lt"/>
              </a:rPr>
              <a:t>Not started</a:t>
            </a:r>
          </a:p>
        </p:txBody>
      </p:sp>
      <p:sp>
        <p:nvSpPr>
          <p:cNvPr id="24" name="TextBox 23"/>
          <p:cNvSpPr txBox="1"/>
          <p:nvPr/>
        </p:nvSpPr>
        <p:spPr>
          <a:xfrm>
            <a:off x="1371600" y="5431536"/>
            <a:ext cx="3063240" cy="640080"/>
          </a:xfrm>
          <a:prstGeom prst="rect">
            <a:avLst/>
          </a:prstGeom>
          <a:noFill/>
        </p:spPr>
        <p:txBody>
          <a:bodyPr wrap="square" anchor="t" lIns="0" rIns="0" tIns="0" bIns="0">
            <a:spAutoFit/>
          </a:bodyPr>
          <a:lstStyle/>
          <a:p>
            <a:pPr algn="l">
              <a:spcAft>
                <a:spcPts val="400"/>
              </a:spcAft>
            </a:pPr>
            <a:r>
              <a:rPr sz="1300">
                <a:solidFill>
                  <a:srgbClr val="5F6670"/>
                </a:solidFill>
              </a:rPr>
              <a:t>Benchmarked performance</a:t>
            </a:r>
          </a:p>
        </p:txBody>
      </p:sp>
      <p:sp>
        <p:nvSpPr>
          <p:cNvPr id="25" name="Rounded Rectangle 24"/>
          <p:cNvSpPr/>
          <p:nvPr/>
        </p:nvSpPr>
        <p:spPr>
          <a:xfrm>
            <a:off x="4800600" y="1828800"/>
            <a:ext cx="6995160" cy="4306824"/>
          </a:xfrm>
          <a:prstGeom prst="roundRect">
            <a:avLst>
              <a:gd name="adj" fmla="val 6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26" name="TextBox 25"/>
          <p:cNvSpPr txBox="1"/>
          <p:nvPr/>
        </p:nvSpPr>
        <p:spPr>
          <a:xfrm>
            <a:off x="5120640" y="2011680"/>
            <a:ext cx="1463040" cy="1280160"/>
          </a:xfrm>
          <a:prstGeom prst="rect">
            <a:avLst/>
          </a:prstGeom>
          <a:noFill/>
        </p:spPr>
        <p:txBody>
          <a:bodyPr wrap="square" anchor="t" lIns="0" rIns="0" tIns="0" bIns="0">
            <a:spAutoFit/>
          </a:bodyPr>
          <a:lstStyle/>
          <a:p>
            <a:pPr algn="l">
              <a:spcAft>
                <a:spcPts val="400"/>
              </a:spcAft>
            </a:pPr>
            <a:r>
              <a:rPr sz="8800">
                <a:solidFill>
                  <a:schemeClr val="accent1"/>
                </a:solidFill>
                <a:latin typeface="+mj-lt"/>
              </a:rPr>
              <a:t>5</a:t>
            </a:r>
          </a:p>
        </p:txBody>
      </p:sp>
      <p:sp>
        <p:nvSpPr>
          <p:cNvPr id="27" name="TextBox 26"/>
          <p:cNvSpPr txBox="1"/>
          <p:nvPr/>
        </p:nvSpPr>
        <p:spPr>
          <a:xfrm>
            <a:off x="6537960" y="2240280"/>
            <a:ext cx="5029200" cy="914400"/>
          </a:xfrm>
          <a:prstGeom prst="rect">
            <a:avLst/>
          </a:prstGeom>
          <a:noFill/>
        </p:spPr>
        <p:txBody>
          <a:bodyPr wrap="square" anchor="t" lIns="0" rIns="0" tIns="0" bIns="0">
            <a:spAutoFit/>
          </a:bodyPr>
          <a:lstStyle/>
          <a:p>
            <a:pPr algn="l">
              <a:spcAft>
                <a:spcPts val="400"/>
              </a:spcAft>
            </a:pPr>
            <a:r>
              <a:rPr sz="2200">
                <a:solidFill>
                  <a:srgbClr val="1F2328"/>
                </a:solidFill>
                <a:latin typeface="+mj-lt"/>
              </a:rPr>
              <a:t>Gaps with no delivery milestone</a:t>
            </a:r>
          </a:p>
          <a:p>
            <a:pPr algn="l">
              <a:spcAft>
                <a:spcPts val="400"/>
              </a:spcAft>
            </a:pPr>
            <a:r>
              <a:rPr sz="1400">
                <a:solidFill>
                  <a:srgbClr val="5F6670"/>
                </a:solidFill>
              </a:rPr>
              <a:t>Exactly where the operator identity has to be proven</a:t>
            </a:r>
          </a:p>
        </p:txBody>
      </p:sp>
      <p:sp>
        <p:nvSpPr>
          <p:cNvPr id="28" name="Oval 27"/>
          <p:cNvSpPr/>
          <p:nvPr/>
        </p:nvSpPr>
        <p:spPr>
          <a:xfrm>
            <a:off x="5166360" y="3630168"/>
            <a:ext cx="128016" cy="128016"/>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0" y="3520440"/>
            <a:ext cx="6035040" cy="365760"/>
          </a:xfrm>
          <a:prstGeom prst="rect">
            <a:avLst/>
          </a:prstGeom>
          <a:noFill/>
        </p:spPr>
        <p:txBody>
          <a:bodyPr wrap="square" anchor="ctr" lIns="0" rIns="0" tIns="0" bIns="0">
            <a:spAutoFit/>
          </a:bodyPr>
          <a:lstStyle/>
          <a:p>
            <a:pPr algn="l">
              <a:spcAft>
                <a:spcPts val="400"/>
              </a:spcAft>
            </a:pPr>
            <a:r>
              <a:rPr sz="1800">
                <a:solidFill>
                  <a:srgbClr val="1F2328"/>
                </a:solidFill>
              </a:rPr>
              <a:t>Cost per GPU-hour</a:t>
            </a:r>
          </a:p>
        </p:txBody>
      </p:sp>
      <p:sp>
        <p:nvSpPr>
          <p:cNvPr id="30" name="Oval 29"/>
          <p:cNvSpPr/>
          <p:nvPr/>
        </p:nvSpPr>
        <p:spPr>
          <a:xfrm>
            <a:off x="5166360" y="4133088"/>
            <a:ext cx="128016" cy="128016"/>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0" y="4023360"/>
            <a:ext cx="6035040" cy="365760"/>
          </a:xfrm>
          <a:prstGeom prst="rect">
            <a:avLst/>
          </a:prstGeom>
          <a:noFill/>
        </p:spPr>
        <p:txBody>
          <a:bodyPr wrap="square" anchor="ctr" lIns="0" rIns="0" tIns="0" bIns="0">
            <a:spAutoFit/>
          </a:bodyPr>
          <a:lstStyle/>
          <a:p>
            <a:pPr algn="l">
              <a:spcAft>
                <a:spcPts val="400"/>
              </a:spcAft>
            </a:pPr>
            <a:r>
              <a:rPr sz="1800">
                <a:solidFill>
                  <a:srgbClr val="1F2328"/>
                </a:solidFill>
              </a:rPr>
              <a:t>Evidence-informed decisions</a:t>
            </a:r>
          </a:p>
        </p:txBody>
      </p:sp>
      <p:sp>
        <p:nvSpPr>
          <p:cNvPr id="32" name="Oval 31"/>
          <p:cNvSpPr/>
          <p:nvPr/>
        </p:nvSpPr>
        <p:spPr>
          <a:xfrm>
            <a:off x="5166360" y="4636008"/>
            <a:ext cx="128016" cy="128016"/>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0" y="4526280"/>
            <a:ext cx="6035040" cy="365760"/>
          </a:xfrm>
          <a:prstGeom prst="rect">
            <a:avLst/>
          </a:prstGeom>
          <a:noFill/>
        </p:spPr>
        <p:txBody>
          <a:bodyPr wrap="square" anchor="ctr" lIns="0" rIns="0" tIns="0" bIns="0">
            <a:spAutoFit/>
          </a:bodyPr>
          <a:lstStyle/>
          <a:p>
            <a:pPr algn="l">
              <a:spcAft>
                <a:spcPts val="400"/>
              </a:spcAft>
            </a:pPr>
            <a:r>
              <a:rPr sz="1800">
                <a:solidFill>
                  <a:srgbClr val="1F2328"/>
                </a:solidFill>
              </a:rPr>
              <a:t>Compliance attestation</a:t>
            </a:r>
          </a:p>
        </p:txBody>
      </p:sp>
      <p:sp>
        <p:nvSpPr>
          <p:cNvPr id="34" name="Oval 33"/>
          <p:cNvSpPr/>
          <p:nvPr/>
        </p:nvSpPr>
        <p:spPr>
          <a:xfrm>
            <a:off x="5166360" y="5138928"/>
            <a:ext cx="128016" cy="128016"/>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0" y="5029200"/>
            <a:ext cx="6035040" cy="365760"/>
          </a:xfrm>
          <a:prstGeom prst="rect">
            <a:avLst/>
          </a:prstGeom>
          <a:noFill/>
        </p:spPr>
        <p:txBody>
          <a:bodyPr wrap="square" anchor="ctr" lIns="0" rIns="0" tIns="0" bIns="0">
            <a:spAutoFit/>
          </a:bodyPr>
          <a:lstStyle/>
          <a:p>
            <a:pPr algn="l">
              <a:spcAft>
                <a:spcPts val="400"/>
              </a:spcAft>
            </a:pPr>
            <a:r>
              <a:rPr sz="1800">
                <a:solidFill>
                  <a:srgbClr val="1F2328"/>
                </a:solidFill>
              </a:rPr>
              <a:t>Estates under management</a:t>
            </a:r>
          </a:p>
        </p:txBody>
      </p:sp>
      <p:sp>
        <p:nvSpPr>
          <p:cNvPr id="36" name="Oval 35"/>
          <p:cNvSpPr/>
          <p:nvPr/>
        </p:nvSpPr>
        <p:spPr>
          <a:xfrm>
            <a:off x="5166360" y="5641848"/>
            <a:ext cx="128016" cy="128016"/>
          </a:xfrm>
          <a:prstGeom prst="ellipse">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0" y="5532120"/>
            <a:ext cx="6035040" cy="365760"/>
          </a:xfrm>
          <a:prstGeom prst="rect">
            <a:avLst/>
          </a:prstGeom>
          <a:noFill/>
        </p:spPr>
        <p:txBody>
          <a:bodyPr wrap="square" anchor="ctr" lIns="0" rIns="0" tIns="0" bIns="0">
            <a:spAutoFit/>
          </a:bodyPr>
          <a:lstStyle/>
          <a:p>
            <a:pPr algn="l">
              <a:spcAft>
                <a:spcPts val="400"/>
              </a:spcAft>
            </a:pPr>
            <a:r>
              <a:rPr sz="1800">
                <a:solidFill>
                  <a:srgbClr val="1F2328"/>
                </a:solidFill>
              </a:rPr>
              <a:t>Contribution margin per estate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Plan for six months, </a:t>
            </a:r>
            <a:r>
              <a:rPr sz="3200">
                <a:solidFill>
                  <a:schemeClr val="accent1"/>
                </a:solidFill>
              </a:rPr>
              <a:t>protect what lasts</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0" name="Rounded Rectangle 9"/>
          <p:cNvSpPr/>
          <p:nvPr/>
        </p:nvSpPr>
        <p:spPr>
          <a:xfrm>
            <a:off x="9464040" y="384048"/>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1" name="Rounded Rectangle 10"/>
          <p:cNvSpPr/>
          <p:nvPr/>
        </p:nvSpPr>
        <p:spPr>
          <a:xfrm>
            <a:off x="10607040" y="384048"/>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2" name="TextBox 11"/>
          <p:cNvSpPr txBox="1"/>
          <p:nvPr/>
        </p:nvSpPr>
        <p:spPr>
          <a:xfrm>
            <a:off x="365760" y="1051560"/>
            <a:ext cx="11430000" cy="411480"/>
          </a:xfrm>
          <a:prstGeom prst="rect">
            <a:avLst/>
          </a:prstGeom>
          <a:noFill/>
        </p:spPr>
        <p:txBody>
          <a:bodyPr wrap="square" anchor="t" lIns="0" rIns="0" tIns="0" bIns="0">
            <a:spAutoFit/>
          </a:bodyPr>
          <a:lstStyle/>
          <a:p>
            <a:pPr algn="l">
              <a:spcAft>
                <a:spcPts val="400"/>
              </a:spcAft>
            </a:pPr>
            <a:r>
              <a:rPr sz="1600">
                <a:solidFill>
                  <a:srgbClr val="5F6670"/>
                </a:solidFill>
              </a:rPr>
              <a:t>No demand data yet, and AI co-development has cut the cost of code. We sequence for learning speed.</a:t>
            </a:r>
          </a:p>
        </p:txBody>
      </p:sp>
      <p:sp>
        <p:nvSpPr>
          <p:cNvPr id="13" name="Rounded Rectangle 12"/>
          <p:cNvSpPr/>
          <p:nvPr/>
        </p:nvSpPr>
        <p:spPr>
          <a:xfrm>
            <a:off x="365760" y="1554480"/>
            <a:ext cx="3703320" cy="3703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14" name="Picture 13" descr="zap_k.png"/>
          <p:cNvPicPr>
            <a:picLocks noChangeAspect="1"/>
          </p:cNvPicPr>
          <p:nvPr/>
        </p:nvPicPr>
        <p:blipFill>
          <a:blip r:embed="rId2"/>
          <a:stretch>
            <a:fillRect/>
          </a:stretch>
        </p:blipFill>
        <p:spPr>
          <a:xfrm>
            <a:off x="640080" y="1783080"/>
            <a:ext cx="457200" cy="457200"/>
          </a:xfrm>
          <a:prstGeom prst="rect">
            <a:avLst/>
          </a:prstGeom>
        </p:spPr>
      </p:pic>
      <p:sp>
        <p:nvSpPr>
          <p:cNvPr id="15" name="TextBox 14"/>
          <p:cNvSpPr txBox="1"/>
          <p:nvPr/>
        </p:nvSpPr>
        <p:spPr>
          <a:xfrm>
            <a:off x="640080" y="2377440"/>
            <a:ext cx="3154680" cy="777240"/>
          </a:xfrm>
          <a:prstGeom prst="rect">
            <a:avLst/>
          </a:prstGeom>
          <a:noFill/>
        </p:spPr>
        <p:txBody>
          <a:bodyPr wrap="square" anchor="t" lIns="0" rIns="0" tIns="0" bIns="0">
            <a:spAutoFit/>
          </a:bodyPr>
          <a:lstStyle/>
          <a:p>
            <a:pPr algn="l">
              <a:spcAft>
                <a:spcPts val="400"/>
              </a:spcAft>
            </a:pPr>
            <a:r>
              <a:rPr sz="2100">
                <a:solidFill>
                  <a:srgbClr val="1F2328"/>
                </a:solidFill>
                <a:latin typeface="+mj-lt"/>
              </a:rPr>
              <a:t>Build for the next six months</a:t>
            </a:r>
          </a:p>
        </p:txBody>
      </p:sp>
      <p:sp>
        <p:nvSpPr>
          <p:cNvPr id="16" name="TextBox 15"/>
          <p:cNvSpPr txBox="1"/>
          <p:nvPr/>
        </p:nvSpPr>
        <p:spPr>
          <a:xfrm>
            <a:off x="640080" y="3154680"/>
            <a:ext cx="3154680" cy="1234440"/>
          </a:xfrm>
          <a:prstGeom prst="rect">
            <a:avLst/>
          </a:prstGeom>
          <a:noFill/>
        </p:spPr>
        <p:txBody>
          <a:bodyPr wrap="square" anchor="t" lIns="0" rIns="0" tIns="0" bIns="0">
            <a:spAutoFit/>
          </a:bodyPr>
          <a:lstStyle/>
          <a:p>
            <a:pPr algn="l">
              <a:spcAft>
                <a:spcPts val="400"/>
              </a:spcAft>
            </a:pPr>
            <a:r>
              <a:rPr sz="1400">
                <a:solidFill>
                  <a:srgbClr val="5F6670"/>
                </a:solidFill>
              </a:rPr>
              <a:t>Optimize for the path to success over the next six months, and expect the product to evolve a lot in the six after.</a:t>
            </a:r>
          </a:p>
        </p:txBody>
      </p:sp>
      <p:sp>
        <p:nvSpPr>
          <p:cNvPr id="17" name="Rounded Rectangle 16"/>
          <p:cNvSpPr/>
          <p:nvPr/>
        </p:nvSpPr>
        <p:spPr>
          <a:xfrm>
            <a:off x="640080" y="4462272"/>
            <a:ext cx="3154680" cy="640080"/>
          </a:xfrm>
          <a:prstGeom prst="roundRect">
            <a:avLst>
              <a:gd name="adj" fmla="val 12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400">
                <a:solidFill>
                  <a:srgbClr val="1F2328"/>
                </a:solidFill>
                <a:latin typeface="+mj-lt"/>
              </a:rPr>
              <a:t>We accept: </a:t>
            </a:r>
            <a:r>
              <a:rPr sz="1400">
                <a:solidFill>
                  <a:srgbClr val="1F2328"/>
                </a:solidFill>
              </a:rPr>
              <a:t>Rebuilding parts of what we ship as we learn</a:t>
            </a:r>
          </a:p>
        </p:txBody>
      </p:sp>
      <p:sp>
        <p:nvSpPr>
          <p:cNvPr id="18" name="Rounded Rectangle 17"/>
          <p:cNvSpPr/>
          <p:nvPr/>
        </p:nvSpPr>
        <p:spPr>
          <a:xfrm>
            <a:off x="4233672" y="1554480"/>
            <a:ext cx="3703320" cy="3703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19" name="Picture 18" descr="lock_k.png"/>
          <p:cNvPicPr>
            <a:picLocks noChangeAspect="1"/>
          </p:cNvPicPr>
          <p:nvPr/>
        </p:nvPicPr>
        <p:blipFill>
          <a:blip r:embed="rId3"/>
          <a:stretch>
            <a:fillRect/>
          </a:stretch>
        </p:blipFill>
        <p:spPr>
          <a:xfrm>
            <a:off x="4507992" y="1783080"/>
            <a:ext cx="457200" cy="457200"/>
          </a:xfrm>
          <a:prstGeom prst="rect">
            <a:avLst/>
          </a:prstGeom>
        </p:spPr>
      </p:pic>
      <p:sp>
        <p:nvSpPr>
          <p:cNvPr id="20" name="TextBox 19"/>
          <p:cNvSpPr txBox="1"/>
          <p:nvPr/>
        </p:nvSpPr>
        <p:spPr>
          <a:xfrm>
            <a:off x="4507992" y="2377440"/>
            <a:ext cx="3154680" cy="777240"/>
          </a:xfrm>
          <a:prstGeom prst="rect">
            <a:avLst/>
          </a:prstGeom>
          <a:noFill/>
        </p:spPr>
        <p:txBody>
          <a:bodyPr wrap="square" anchor="t" lIns="0" rIns="0" tIns="0" bIns="0">
            <a:spAutoFit/>
          </a:bodyPr>
          <a:lstStyle/>
          <a:p>
            <a:pPr algn="l">
              <a:spcAft>
                <a:spcPts val="400"/>
              </a:spcAft>
            </a:pPr>
            <a:r>
              <a:rPr sz="2100">
                <a:solidFill>
                  <a:srgbClr val="1F2328"/>
                </a:solidFill>
                <a:latin typeface="+mj-lt"/>
              </a:rPr>
              <a:t>Protect what code can't regenerate</a:t>
            </a:r>
          </a:p>
        </p:txBody>
      </p:sp>
      <p:sp>
        <p:nvSpPr>
          <p:cNvPr id="21" name="TextBox 20"/>
          <p:cNvSpPr txBox="1"/>
          <p:nvPr/>
        </p:nvSpPr>
        <p:spPr>
          <a:xfrm>
            <a:off x="4507992" y="3154680"/>
            <a:ext cx="3154680" cy="1234440"/>
          </a:xfrm>
          <a:prstGeom prst="rect">
            <a:avLst/>
          </a:prstGeom>
          <a:noFill/>
        </p:spPr>
        <p:txBody>
          <a:bodyPr wrap="square" anchor="t" lIns="0" rIns="0" tIns="0" bIns="0">
            <a:spAutoFit/>
          </a:bodyPr>
          <a:lstStyle/>
          <a:p>
            <a:pPr algn="l">
              <a:spcAft>
                <a:spcPts val="400"/>
              </a:spcAft>
            </a:pPr>
            <a:r>
              <a:rPr sz="1400">
                <a:solidFill>
                  <a:srgbClr val="5F6670"/>
                </a:solidFill>
              </a:rPr>
              <a:t>Operating evidence, metering history, customer trust, isolation boundaries, compliance lead times. Capture and guard these from day one.</a:t>
            </a:r>
          </a:p>
        </p:txBody>
      </p:sp>
      <p:sp>
        <p:nvSpPr>
          <p:cNvPr id="22" name="Rounded Rectangle 21"/>
          <p:cNvSpPr/>
          <p:nvPr/>
        </p:nvSpPr>
        <p:spPr>
          <a:xfrm>
            <a:off x="4507992" y="4462272"/>
            <a:ext cx="3154680" cy="640080"/>
          </a:xfrm>
          <a:prstGeom prst="roundRect">
            <a:avLst>
              <a:gd name="adj" fmla="val 12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400">
                <a:solidFill>
                  <a:srgbClr val="1F2328"/>
                </a:solidFill>
                <a:latin typeface="+mj-lt"/>
              </a:rPr>
              <a:t>We accept: </a:t>
            </a:r>
            <a:r>
              <a:rPr sz="1400">
                <a:solidFill>
                  <a:srgbClr val="1F2328"/>
                </a:solidFill>
              </a:rPr>
              <a:t>Investing in data capture and governance early</a:t>
            </a:r>
          </a:p>
        </p:txBody>
      </p:sp>
      <p:sp>
        <p:nvSpPr>
          <p:cNvPr id="23" name="Rounded Rectangle 22"/>
          <p:cNvSpPr/>
          <p:nvPr/>
        </p:nvSpPr>
        <p:spPr>
          <a:xfrm>
            <a:off x="8101584" y="1554480"/>
            <a:ext cx="3703320" cy="3703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24" name="Picture 23" descr="search_k.png"/>
          <p:cNvPicPr>
            <a:picLocks noChangeAspect="1"/>
          </p:cNvPicPr>
          <p:nvPr/>
        </p:nvPicPr>
        <p:blipFill>
          <a:blip r:embed="rId4"/>
          <a:stretch>
            <a:fillRect/>
          </a:stretch>
        </p:blipFill>
        <p:spPr>
          <a:xfrm>
            <a:off x="8375904" y="1783080"/>
            <a:ext cx="457200" cy="457200"/>
          </a:xfrm>
          <a:prstGeom prst="rect">
            <a:avLst/>
          </a:prstGeom>
        </p:spPr>
      </p:pic>
      <p:sp>
        <p:nvSpPr>
          <p:cNvPr id="25" name="TextBox 24"/>
          <p:cNvSpPr txBox="1"/>
          <p:nvPr/>
        </p:nvSpPr>
        <p:spPr>
          <a:xfrm>
            <a:off x="8375904" y="2377440"/>
            <a:ext cx="3154680" cy="777240"/>
          </a:xfrm>
          <a:prstGeom prst="rect">
            <a:avLst/>
          </a:prstGeom>
          <a:noFill/>
        </p:spPr>
        <p:txBody>
          <a:bodyPr wrap="square" anchor="t" lIns="0" rIns="0" tIns="0" bIns="0">
            <a:spAutoFit/>
          </a:bodyPr>
          <a:lstStyle/>
          <a:p>
            <a:pPr algn="l">
              <a:spcAft>
                <a:spcPts val="400"/>
              </a:spcAft>
            </a:pPr>
            <a:r>
              <a:rPr sz="2100">
                <a:solidFill>
                  <a:srgbClr val="1F2328"/>
                </a:solidFill>
                <a:latin typeface="+mj-lt"/>
              </a:rPr>
              <a:t>Run the most informative experiment first</a:t>
            </a:r>
          </a:p>
        </p:txBody>
      </p:sp>
      <p:sp>
        <p:nvSpPr>
          <p:cNvPr id="26" name="TextBox 25"/>
          <p:cNvSpPr txBox="1"/>
          <p:nvPr/>
        </p:nvSpPr>
        <p:spPr>
          <a:xfrm>
            <a:off x="8375904" y="3154680"/>
            <a:ext cx="3154680" cy="1234440"/>
          </a:xfrm>
          <a:prstGeom prst="rect">
            <a:avLst/>
          </a:prstGeom>
          <a:noFill/>
        </p:spPr>
        <p:txBody>
          <a:bodyPr wrap="square" anchor="t" lIns="0" rIns="0" tIns="0" bIns="0">
            <a:spAutoFit/>
          </a:bodyPr>
          <a:lstStyle/>
          <a:p>
            <a:pPr algn="l">
              <a:spcAft>
                <a:spcPts val="400"/>
              </a:spcAft>
            </a:pPr>
            <a:r>
              <a:rPr sz="1400">
                <a:solidFill>
                  <a:srgbClr val="5F6670"/>
                </a:solidFill>
              </a:rPr>
              <a:t>Empirical Map v1 and MOE-1. Each answer can reorder the next six months.</a:t>
            </a:r>
          </a:p>
        </p:txBody>
      </p:sp>
      <p:sp>
        <p:nvSpPr>
          <p:cNvPr id="27" name="Rounded Rectangle 26"/>
          <p:cNvSpPr/>
          <p:nvPr/>
        </p:nvSpPr>
        <p:spPr>
          <a:xfrm>
            <a:off x="8375904" y="4462272"/>
            <a:ext cx="3154680" cy="640080"/>
          </a:xfrm>
          <a:prstGeom prst="roundRect">
            <a:avLst>
              <a:gd name="adj" fmla="val 12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400">
                <a:solidFill>
                  <a:srgbClr val="1F2328"/>
                </a:solidFill>
                <a:latin typeface="+mj-lt"/>
              </a:rPr>
              <a:t>We accept: </a:t>
            </a:r>
            <a:r>
              <a:rPr sz="1400">
                <a:solidFill>
                  <a:srgbClr val="1F2328"/>
                </a:solidFill>
              </a:rPr>
              <a:t>A plan that changes every cycle</a:t>
            </a:r>
          </a:p>
        </p:txBody>
      </p:sp>
      <p:sp>
        <p:nvSpPr>
          <p:cNvPr id="28" name="Rounded Rectangle 27"/>
          <p:cNvSpPr/>
          <p:nvPr/>
        </p:nvSpPr>
        <p:spPr>
          <a:xfrm>
            <a:off x="365760" y="5468112"/>
            <a:ext cx="11430000" cy="731520"/>
          </a:xfrm>
          <a:prstGeom prst="roundRect">
            <a:avLst>
              <a:gd name="adj" fmla="val 6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400"/>
              </a:spcAft>
            </a:pPr>
            <a:r>
              <a:rPr sz="1800">
                <a:solidFill>
                  <a:srgbClr val="1F2328"/>
                </a:solidFill>
                <a:latin typeface="+mj-lt"/>
              </a:rPr>
              <a:t>We still operate before we automate: </a:t>
            </a:r>
            <a:r>
              <a:rPr sz="1800">
                <a:solidFill>
                  <a:srgbClr val="1F2328"/>
                </a:solidFill>
              </a:rPr>
              <a:t>cheap code makes building fast, not guessing right.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p:txBody>
      </p:sp>
      <p:sp>
        <p:nvSpPr>
          <p:cNvPr id="3" name="Title 2"/>
          <p:cNvSpPr>
            <a:spLocks noGrp="1"/>
          </p:cNvSpPr>
          <p:nvPr>
            <p:ph type="title"/>
          </p:nvPr>
        </p:nvSpPr>
        <p:spPr/>
        <p:txBody>
          <a:bodyPr/>
          <a:lstStyle/>
          <a:p>
            <a:r>
              <a:rPr sz="3200"/>
              <a:t>What would </a:t>
            </a:r>
            <a:r>
              <a:rPr sz="3200">
                <a:solidFill>
                  <a:schemeClr val="accent1"/>
                </a:solidFill>
              </a:rPr>
              <a:t>change our minds</a:t>
            </a:r>
          </a:p>
        </p:txBody>
      </p:sp>
      <p:sp>
        <p:nvSpPr>
          <p:cNvPr id="4" name="Text Placeholder 3"/>
          <p:cNvSpPr>
            <a:spLocks noGrp="1"/>
          </p:cNvSpPr>
          <p:nvPr>
            <p:ph type="body" idx="13" sz="quarter"/>
          </p:nvPr>
        </p:nvSpPr>
        <p:spPr/>
        <p:txBody>
          <a:bodyPr/>
          <a:lstStyle/>
          <a:p>
            <a:pPr algn="l">
              <a:spcAft>
                <a:spcPts val="400"/>
              </a:spcAft>
            </a:pPr>
            <a:r>
              <a:rPr sz="1600"/>
              <a:t>A strategy that names what would make it wrong is easier to trust.</a:t>
            </a:r>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1" name="Rounded Rectangle 10"/>
          <p:cNvSpPr/>
          <p:nvPr/>
        </p:nvSpPr>
        <p:spPr>
          <a:xfrm>
            <a:off x="9464040" y="384048"/>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2" name="Rounded Rectangle 11"/>
          <p:cNvSpPr/>
          <p:nvPr/>
        </p:nvSpPr>
        <p:spPr>
          <a:xfrm>
            <a:off x="10607040" y="384048"/>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3" name="Rounded Rectangle 12"/>
          <p:cNvSpPr/>
          <p:nvPr/>
        </p:nvSpPr>
        <p:spPr>
          <a:xfrm>
            <a:off x="365760" y="1783080"/>
            <a:ext cx="4251960" cy="44348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4" name="TextBox 13"/>
          <p:cNvSpPr txBox="1"/>
          <p:nvPr/>
        </p:nvSpPr>
        <p:spPr>
          <a:xfrm>
            <a:off x="640080" y="1965960"/>
            <a:ext cx="1828800" cy="731520"/>
          </a:xfrm>
          <a:prstGeom prst="rect">
            <a:avLst/>
          </a:prstGeom>
          <a:noFill/>
        </p:spPr>
        <p:txBody>
          <a:bodyPr wrap="square" anchor="t" lIns="0" rIns="0" tIns="0" bIns="0">
            <a:spAutoFit/>
          </a:bodyPr>
          <a:lstStyle/>
          <a:p>
            <a:pPr algn="l">
              <a:spcAft>
                <a:spcPts val="400"/>
              </a:spcAft>
            </a:pPr>
            <a:r>
              <a:rPr sz="4800">
                <a:solidFill>
                  <a:srgbClr val="1F2328"/>
                </a:solidFill>
                <a:latin typeface="+mj-lt"/>
              </a:rPr>
              <a:t>K1</a:t>
            </a:r>
          </a:p>
        </p:txBody>
      </p:sp>
      <p:sp>
        <p:nvSpPr>
          <p:cNvPr id="15" name="Rounded Rectangle 14"/>
          <p:cNvSpPr/>
          <p:nvPr/>
        </p:nvSpPr>
        <p:spPr>
          <a:xfrm>
            <a:off x="2468879" y="2194560"/>
            <a:ext cx="1920240" cy="292608"/>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accent1"/>
                </a:solidFill>
                <a:latin typeface="+mj-lt"/>
              </a:rPr>
              <a:t>Changes where money goes</a:t>
            </a:r>
          </a:p>
        </p:txBody>
      </p:sp>
      <p:sp>
        <p:nvSpPr>
          <p:cNvPr id="16" name="TextBox 15"/>
          <p:cNvSpPr txBox="1"/>
          <p:nvPr/>
        </p:nvSpPr>
        <p:spPr>
          <a:xfrm>
            <a:off x="640080" y="2834640"/>
            <a:ext cx="3703320" cy="731520"/>
          </a:xfrm>
          <a:prstGeom prst="rect">
            <a:avLst/>
          </a:prstGeom>
          <a:noFill/>
        </p:spPr>
        <p:txBody>
          <a:bodyPr wrap="square" anchor="t" lIns="0" rIns="0" tIns="0" bIns="0">
            <a:spAutoFit/>
          </a:bodyPr>
          <a:lstStyle/>
          <a:p>
            <a:pPr algn="l">
              <a:spcAft>
                <a:spcPts val="400"/>
              </a:spcAft>
            </a:pPr>
            <a:r>
              <a:rPr sz="2200">
                <a:solidFill>
                  <a:srgbClr val="1F2328"/>
                </a:solidFill>
                <a:latin typeface="+mj-lt"/>
              </a:rPr>
              <a:t>Customers will delegate operations</a:t>
            </a:r>
          </a:p>
        </p:txBody>
      </p:sp>
      <p:sp>
        <p:nvSpPr>
          <p:cNvPr id="17" name="TextBox 16"/>
          <p:cNvSpPr txBox="1"/>
          <p:nvPr/>
        </p:nvSpPr>
        <p:spPr>
          <a:xfrm>
            <a:off x="640080" y="3611880"/>
            <a:ext cx="3703320" cy="320040"/>
          </a:xfrm>
          <a:prstGeom prst="rect">
            <a:avLst/>
          </a:prstGeom>
          <a:noFill/>
        </p:spPr>
        <p:txBody>
          <a:bodyPr wrap="square" anchor="t" lIns="0" rIns="0" tIns="0" bIns="0">
            <a:spAutoFit/>
          </a:bodyPr>
          <a:lstStyle/>
          <a:p>
            <a:pPr algn="l">
              <a:spcAft>
                <a:spcPts val="400"/>
              </a:spcAft>
            </a:pPr>
            <a:r>
              <a:rPr sz="1300">
                <a:solidFill>
                  <a:srgbClr val="5F6670"/>
                </a:solidFill>
                <a:latin typeface="+mj-lt"/>
              </a:rPr>
              <a:t>Tested by: </a:t>
            </a:r>
            <a:r>
              <a:rPr sz="1300">
                <a:solidFill>
                  <a:srgbClr val="5F6670"/>
                </a:solidFill>
              </a:rPr>
              <a:t>MOE-1</a:t>
            </a:r>
          </a:p>
        </p:txBody>
      </p:sp>
      <p:sp>
        <p:nvSpPr>
          <p:cNvPr id="18" name="TextBox 17"/>
          <p:cNvSpPr txBox="1"/>
          <p:nvPr/>
        </p:nvSpPr>
        <p:spPr>
          <a:xfrm>
            <a:off x="640080" y="4114800"/>
            <a:ext cx="3703320" cy="2011680"/>
          </a:xfrm>
          <a:prstGeom prst="rect">
            <a:avLst/>
          </a:prstGeom>
          <a:noFill/>
        </p:spPr>
        <p:txBody>
          <a:bodyPr wrap="square" anchor="t" lIns="0" rIns="0" tIns="0" bIns="0">
            <a:spAutoFit/>
          </a:bodyPr>
          <a:lstStyle/>
          <a:p>
            <a:pPr algn="l">
              <a:spcAft>
                <a:spcPts val="400"/>
              </a:spcAft>
            </a:pPr>
            <a:r>
              <a:rPr sz="1500">
                <a:solidFill>
                  <a:srgbClr val="1F2328"/>
                </a:solidFill>
              </a:rPr>
              <a:t>If customers want private inference but won't hand us operations or pay for it, we're closer to an infrastructure platform than an operator.</a:t>
            </a:r>
          </a:p>
        </p:txBody>
      </p:sp>
      <p:sp>
        <p:nvSpPr>
          <p:cNvPr id="19" name="Rounded Rectangle 18"/>
          <p:cNvSpPr/>
          <p:nvPr/>
        </p:nvSpPr>
        <p:spPr>
          <a:xfrm>
            <a:off x="4800600" y="1783080"/>
            <a:ext cx="4251960" cy="443484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20" name="TextBox 19"/>
          <p:cNvSpPr txBox="1"/>
          <p:nvPr/>
        </p:nvSpPr>
        <p:spPr>
          <a:xfrm>
            <a:off x="5074920" y="1965960"/>
            <a:ext cx="1828800" cy="731520"/>
          </a:xfrm>
          <a:prstGeom prst="rect">
            <a:avLst/>
          </a:prstGeom>
          <a:noFill/>
        </p:spPr>
        <p:txBody>
          <a:bodyPr wrap="square" anchor="t" lIns="0" rIns="0" tIns="0" bIns="0">
            <a:spAutoFit/>
          </a:bodyPr>
          <a:lstStyle/>
          <a:p>
            <a:pPr algn="l">
              <a:spcAft>
                <a:spcPts val="400"/>
              </a:spcAft>
            </a:pPr>
            <a:r>
              <a:rPr sz="4800">
                <a:solidFill>
                  <a:srgbClr val="1F2328"/>
                </a:solidFill>
                <a:latin typeface="+mj-lt"/>
              </a:rPr>
              <a:t>K2</a:t>
            </a:r>
          </a:p>
        </p:txBody>
      </p:sp>
      <p:sp>
        <p:nvSpPr>
          <p:cNvPr id="21" name="Rounded Rectangle 20"/>
          <p:cNvSpPr/>
          <p:nvPr/>
        </p:nvSpPr>
        <p:spPr>
          <a:xfrm>
            <a:off x="6903720" y="2194560"/>
            <a:ext cx="1920240" cy="292608"/>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accent1"/>
                </a:solidFill>
                <a:latin typeface="+mj-lt"/>
              </a:rPr>
              <a:t>Changes where money goes</a:t>
            </a:r>
          </a:p>
        </p:txBody>
      </p:sp>
      <p:sp>
        <p:nvSpPr>
          <p:cNvPr id="22" name="TextBox 21"/>
          <p:cNvSpPr txBox="1"/>
          <p:nvPr/>
        </p:nvSpPr>
        <p:spPr>
          <a:xfrm>
            <a:off x="5074920" y="2834640"/>
            <a:ext cx="3703320" cy="731520"/>
          </a:xfrm>
          <a:prstGeom prst="rect">
            <a:avLst/>
          </a:prstGeom>
          <a:noFill/>
        </p:spPr>
        <p:txBody>
          <a:bodyPr wrap="square" anchor="t" lIns="0" rIns="0" tIns="0" bIns="0">
            <a:spAutoFit/>
          </a:bodyPr>
          <a:lstStyle/>
          <a:p>
            <a:pPr algn="l">
              <a:spcAft>
                <a:spcPts val="400"/>
              </a:spcAft>
            </a:pPr>
            <a:r>
              <a:rPr sz="2200">
                <a:solidFill>
                  <a:srgbClr val="1F2328"/>
                </a:solidFill>
                <a:latin typeface="+mj-lt"/>
              </a:rPr>
              <a:t>The Empirical Map is a real moat</a:t>
            </a:r>
          </a:p>
        </p:txBody>
      </p:sp>
      <p:sp>
        <p:nvSpPr>
          <p:cNvPr id="23" name="TextBox 22"/>
          <p:cNvSpPr txBox="1"/>
          <p:nvPr/>
        </p:nvSpPr>
        <p:spPr>
          <a:xfrm>
            <a:off x="5074920" y="3611880"/>
            <a:ext cx="3703320" cy="320040"/>
          </a:xfrm>
          <a:prstGeom prst="rect">
            <a:avLst/>
          </a:prstGeom>
          <a:noFill/>
        </p:spPr>
        <p:txBody>
          <a:bodyPr wrap="square" anchor="t" lIns="0" rIns="0" tIns="0" bIns="0">
            <a:spAutoFit/>
          </a:bodyPr>
          <a:lstStyle/>
          <a:p>
            <a:pPr algn="l">
              <a:spcAft>
                <a:spcPts val="400"/>
              </a:spcAft>
            </a:pPr>
            <a:r>
              <a:rPr sz="1300">
                <a:solidFill>
                  <a:srgbClr val="5F6670"/>
                </a:solidFill>
                <a:latin typeface="+mj-lt"/>
              </a:rPr>
              <a:t>Tested by: </a:t>
            </a:r>
            <a:r>
              <a:rPr sz="1300">
                <a:solidFill>
                  <a:srgbClr val="5F6670"/>
                </a:solidFill>
              </a:rPr>
              <a:t>Map v1 on 2–3 estates</a:t>
            </a:r>
          </a:p>
        </p:txBody>
      </p:sp>
      <p:sp>
        <p:nvSpPr>
          <p:cNvPr id="24" name="TextBox 23"/>
          <p:cNvSpPr txBox="1"/>
          <p:nvPr/>
        </p:nvSpPr>
        <p:spPr>
          <a:xfrm>
            <a:off x="5074920" y="4114800"/>
            <a:ext cx="3703320" cy="2011680"/>
          </a:xfrm>
          <a:prstGeom prst="rect">
            <a:avLst/>
          </a:prstGeom>
          <a:noFill/>
        </p:spPr>
        <p:txBody>
          <a:bodyPr wrap="square" anchor="t" lIns="0" rIns="0" tIns="0" bIns="0">
            <a:spAutoFit/>
          </a:bodyPr>
          <a:lstStyle/>
          <a:p>
            <a:pPr algn="l">
              <a:spcAft>
                <a:spcPts val="400"/>
              </a:spcAft>
            </a:pPr>
            <a:r>
              <a:rPr sz="1500">
                <a:solidFill>
                  <a:srgbClr val="1F2328"/>
                </a:solidFill>
              </a:rPr>
              <a:t>If what we learn on one workload doesn't transfer to another within isolation rules, the Map doesn't deserve outsized investment.</a:t>
            </a:r>
          </a:p>
        </p:txBody>
      </p:sp>
      <p:sp>
        <p:nvSpPr>
          <p:cNvPr id="25" name="Rounded Rectangle 24"/>
          <p:cNvSpPr/>
          <p:nvPr/>
        </p:nvSpPr>
        <p:spPr>
          <a:xfrm>
            <a:off x="9235440" y="1783080"/>
            <a:ext cx="2560320" cy="4434840"/>
          </a:xfrm>
          <a:prstGeom prst="roundRect">
            <a:avLst>
              <a:gd name="adj" fmla="val 6000"/>
            </a:avLst>
          </a:prstGeom>
          <a:solidFill>
            <a:schemeClr val="bg1"/>
          </a:solidFill>
          <a:ln w="12700">
            <a:solidFill>
              <a:srgbClr val="C4C9D0"/>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26" name="TextBox 25"/>
          <p:cNvSpPr txBox="1"/>
          <p:nvPr/>
        </p:nvSpPr>
        <p:spPr>
          <a:xfrm>
            <a:off x="9464040" y="1965960"/>
            <a:ext cx="2103120" cy="640080"/>
          </a:xfrm>
          <a:prstGeom prst="rect">
            <a:avLst/>
          </a:prstGeom>
          <a:noFill/>
        </p:spPr>
        <p:txBody>
          <a:bodyPr wrap="square" anchor="t" lIns="0" rIns="0" tIns="0" bIns="0">
            <a:spAutoFit/>
          </a:bodyPr>
          <a:lstStyle/>
          <a:p>
            <a:pPr algn="l">
              <a:spcAft>
                <a:spcPts val="400"/>
              </a:spcAft>
            </a:pPr>
            <a:r>
              <a:rPr sz="3200">
                <a:solidFill>
                  <a:srgbClr val="5F6670"/>
                </a:solidFill>
                <a:latin typeface="+mj-lt"/>
              </a:rPr>
              <a:t>K3</a:t>
            </a:r>
          </a:p>
        </p:txBody>
      </p:sp>
      <p:sp>
        <p:nvSpPr>
          <p:cNvPr id="27" name="TextBox 26"/>
          <p:cNvSpPr txBox="1"/>
          <p:nvPr/>
        </p:nvSpPr>
        <p:spPr>
          <a:xfrm>
            <a:off x="9464040" y="2697480"/>
            <a:ext cx="2148840" cy="822960"/>
          </a:xfrm>
          <a:prstGeom prst="rect">
            <a:avLst/>
          </a:prstGeom>
          <a:noFill/>
        </p:spPr>
        <p:txBody>
          <a:bodyPr wrap="square" anchor="t" lIns="0" rIns="0" tIns="0" bIns="0">
            <a:spAutoFit/>
          </a:bodyPr>
          <a:lstStyle/>
          <a:p>
            <a:pPr algn="l">
              <a:spcAft>
                <a:spcPts val="400"/>
              </a:spcAft>
            </a:pPr>
            <a:r>
              <a:rPr sz="1500">
                <a:solidFill>
                  <a:srgbClr val="1F2328"/>
                </a:solidFill>
                <a:latin typeface="+mj-lt"/>
              </a:rPr>
              <a:t>Domain models beat frontier for our buyers</a:t>
            </a:r>
          </a:p>
        </p:txBody>
      </p:sp>
      <p:sp>
        <p:nvSpPr>
          <p:cNvPr id="28" name="TextBox 27"/>
          <p:cNvSpPr txBox="1"/>
          <p:nvPr/>
        </p:nvSpPr>
        <p:spPr>
          <a:xfrm>
            <a:off x="9464040" y="3657600"/>
            <a:ext cx="2148840" cy="365760"/>
          </a:xfrm>
          <a:prstGeom prst="rect">
            <a:avLst/>
          </a:prstGeom>
          <a:noFill/>
        </p:spPr>
        <p:txBody>
          <a:bodyPr wrap="square" anchor="t" lIns="0" rIns="0" tIns="0" bIns="0">
            <a:spAutoFit/>
          </a:bodyPr>
          <a:lstStyle/>
          <a:p>
            <a:pPr algn="l">
              <a:spcAft>
                <a:spcPts val="400"/>
              </a:spcAft>
            </a:pPr>
            <a:r>
              <a:rPr sz="1200">
                <a:solidFill>
                  <a:srgbClr val="5F6670"/>
                </a:solidFill>
              </a:rPr>
              <a:t>Tested by one fine-tuning experiment</a:t>
            </a:r>
          </a:p>
        </p:txBody>
      </p:sp>
      <p:sp>
        <p:nvSpPr>
          <p:cNvPr id="29" name="TextBox 28"/>
          <p:cNvSpPr txBox="1"/>
          <p:nvPr/>
        </p:nvSpPr>
        <p:spPr>
          <a:xfrm>
            <a:off x="9464040" y="4251960"/>
            <a:ext cx="2148840" cy="1828800"/>
          </a:xfrm>
          <a:prstGeom prst="rect">
            <a:avLst/>
          </a:prstGeom>
          <a:noFill/>
        </p:spPr>
        <p:txBody>
          <a:bodyPr wrap="square" anchor="t" lIns="0" rIns="0" tIns="0" bIns="0">
            <a:spAutoFit/>
          </a:bodyPr>
          <a:lstStyle/>
          <a:p>
            <a:pPr algn="l">
              <a:spcAft>
                <a:spcPts val="400"/>
              </a:spcAft>
            </a:pPr>
            <a:r>
              <a:rPr sz="1300">
                <a:solidFill>
                  <a:srgbClr val="5F6670"/>
                </a:solidFill>
              </a:rPr>
              <a:t>If smaller domain-tuned models can't reach acceptable quality and cost, the wedge is wrong.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Four roadmap decisions </a:t>
            </a:r>
            <a:r>
              <a:rPr sz="3200">
                <a:solidFill>
                  <a:schemeClr val="accent1"/>
                </a:solidFill>
              </a:rPr>
              <a:t>to leave with</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0" name="Rounded Rectangle 9"/>
          <p:cNvSpPr/>
          <p:nvPr/>
        </p:nvSpPr>
        <p:spPr>
          <a:xfrm>
            <a:off x="9464040" y="384048"/>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1" name="Rounded Rectangle 10"/>
          <p:cNvSpPr/>
          <p:nvPr/>
        </p:nvSpPr>
        <p:spPr>
          <a:xfrm>
            <a:off x="10607040" y="384048"/>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2" name="TextBox 11"/>
          <p:cNvSpPr txBox="1"/>
          <p:nvPr/>
        </p:nvSpPr>
        <p:spPr>
          <a:xfrm>
            <a:off x="365760" y="1097280"/>
            <a:ext cx="11430000" cy="365760"/>
          </a:xfrm>
          <a:prstGeom prst="rect">
            <a:avLst/>
          </a:prstGeom>
          <a:noFill/>
        </p:spPr>
        <p:txBody>
          <a:bodyPr wrap="square" anchor="t" lIns="0" rIns="0" tIns="0" bIns="0">
            <a:spAutoFit/>
          </a:bodyPr>
          <a:lstStyle/>
          <a:p>
            <a:pPr algn="l">
              <a:spcAft>
                <a:spcPts val="400"/>
              </a:spcAft>
            </a:pPr>
            <a:r>
              <a:rPr sz="1600">
                <a:solidFill>
                  <a:srgbClr val="5F6670"/>
                </a:solidFill>
              </a:rPr>
              <a:t>Decided in the room, or an owner and a date.</a:t>
            </a:r>
          </a:p>
        </p:txBody>
      </p:sp>
      <p:sp>
        <p:nvSpPr>
          <p:cNvPr id="13" name="Rounded Rectangle 12"/>
          <p:cNvSpPr/>
          <p:nvPr/>
        </p:nvSpPr>
        <p:spPr>
          <a:xfrm>
            <a:off x="365760" y="1737360"/>
            <a:ext cx="2743200" cy="452628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14" name="Picture 13" descr="flag.png"/>
          <p:cNvPicPr>
            <a:picLocks noChangeAspect="1"/>
          </p:cNvPicPr>
          <p:nvPr/>
        </p:nvPicPr>
        <p:blipFill>
          <a:blip r:embed="rId2"/>
          <a:stretch>
            <a:fillRect/>
          </a:stretch>
        </p:blipFill>
        <p:spPr>
          <a:xfrm>
            <a:off x="594360" y="1965960"/>
            <a:ext cx="411480" cy="411480"/>
          </a:xfrm>
          <a:prstGeom prst="rect">
            <a:avLst/>
          </a:prstGeom>
        </p:spPr>
      </p:pic>
      <p:sp>
        <p:nvSpPr>
          <p:cNvPr id="15" name="TextBox 14"/>
          <p:cNvSpPr txBox="1"/>
          <p:nvPr/>
        </p:nvSpPr>
        <p:spPr>
          <a:xfrm>
            <a:off x="1143000" y="2057400"/>
            <a:ext cx="1828800" cy="274320"/>
          </a:xfrm>
          <a:prstGeom prst="rect">
            <a:avLst/>
          </a:prstGeom>
          <a:noFill/>
        </p:spPr>
        <p:txBody>
          <a:bodyPr wrap="square" anchor="t" lIns="0" rIns="0" tIns="0" bIns="0">
            <a:spAutoFit/>
          </a:bodyPr>
          <a:lstStyle/>
          <a:p>
            <a:pPr algn="l">
              <a:spcAft>
                <a:spcPts val="400"/>
              </a:spcAft>
            </a:pPr>
            <a:r>
              <a:rPr sz="1000">
                <a:solidFill>
                  <a:srgbClr val="1F2328"/>
                </a:solidFill>
                <a:latin typeface="+mj-lt"/>
              </a:rPr>
              <a:t>LEADERSHIP · FIRST</a:t>
            </a:r>
          </a:p>
        </p:txBody>
      </p:sp>
      <p:sp>
        <p:nvSpPr>
          <p:cNvPr id="16" name="TextBox 15"/>
          <p:cNvSpPr txBox="1"/>
          <p:nvPr/>
        </p:nvSpPr>
        <p:spPr>
          <a:xfrm>
            <a:off x="594360" y="2606040"/>
            <a:ext cx="2331720" cy="914400"/>
          </a:xfrm>
          <a:prstGeom prst="rect">
            <a:avLst/>
          </a:prstGeom>
          <a:noFill/>
        </p:spPr>
        <p:txBody>
          <a:bodyPr wrap="square" anchor="t" lIns="0" rIns="0" tIns="0" bIns="0">
            <a:spAutoFit/>
          </a:bodyPr>
          <a:lstStyle/>
          <a:p>
            <a:pPr algn="l">
              <a:spcAft>
                <a:spcPts val="400"/>
              </a:spcAft>
            </a:pPr>
            <a:r>
              <a:rPr sz="2000">
                <a:solidFill>
                  <a:srgbClr val="1F2328"/>
                </a:solidFill>
                <a:latin typeface="+mj-lt"/>
              </a:rPr>
              <a:t>Name MOE-0 and the MOE-1 profile</a:t>
            </a:r>
          </a:p>
        </p:txBody>
      </p:sp>
      <p:sp>
        <p:nvSpPr>
          <p:cNvPr id="17" name="TextBox 16"/>
          <p:cNvSpPr txBox="1"/>
          <p:nvPr/>
        </p:nvSpPr>
        <p:spPr>
          <a:xfrm>
            <a:off x="594360" y="3611880"/>
            <a:ext cx="2331720" cy="1463040"/>
          </a:xfrm>
          <a:prstGeom prst="rect">
            <a:avLst/>
          </a:prstGeom>
          <a:noFill/>
        </p:spPr>
        <p:txBody>
          <a:bodyPr wrap="square" anchor="t" lIns="0" rIns="0" tIns="0" bIns="0">
            <a:spAutoFit/>
          </a:bodyPr>
          <a:lstStyle/>
          <a:p>
            <a:pPr algn="l">
              <a:spcAft>
                <a:spcPts val="400"/>
              </a:spcAft>
            </a:pPr>
            <a:r>
              <a:rPr sz="1400">
                <a:solidFill>
                  <a:srgbClr val="5F6670"/>
                </a:solidFill>
              </a:rPr>
              <a:t>Which friendly estate we rehearse on, and what kind of regulated customer counts as the real proof.</a:t>
            </a:r>
          </a:p>
        </p:txBody>
      </p:sp>
      <p:sp>
        <p:nvSpPr>
          <p:cNvPr id="18" name="Rounded Rectangle 17"/>
          <p:cNvSpPr/>
          <p:nvPr/>
        </p:nvSpPr>
        <p:spPr>
          <a:xfrm>
            <a:off x="594360" y="4937760"/>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9" name="TextBox 18"/>
          <p:cNvSpPr txBox="1"/>
          <p:nvPr/>
        </p:nvSpPr>
        <p:spPr>
          <a:xfrm>
            <a:off x="594360" y="534924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Owner</a:t>
            </a:r>
          </a:p>
        </p:txBody>
      </p:sp>
      <p:cxnSp>
        <p:nvCxnSpPr>
          <p:cNvPr id="20" name="Connector 19"/>
          <p:cNvCxnSpPr/>
          <p:nvPr/>
        </p:nvCxnSpPr>
        <p:spPr>
          <a:xfrm>
            <a:off x="1234440" y="5586983"/>
            <a:ext cx="1645920"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571500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Date</a:t>
            </a:r>
          </a:p>
        </p:txBody>
      </p:sp>
      <p:cxnSp>
        <p:nvCxnSpPr>
          <p:cNvPr id="22" name="Connector 21"/>
          <p:cNvCxnSpPr/>
          <p:nvPr/>
        </p:nvCxnSpPr>
        <p:spPr>
          <a:xfrm>
            <a:off x="1234440" y="5952744"/>
            <a:ext cx="1645920"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264408" y="1737360"/>
            <a:ext cx="2743200" cy="452628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24" name="Picture 23" descr="layers.png"/>
          <p:cNvPicPr>
            <a:picLocks noChangeAspect="1"/>
          </p:cNvPicPr>
          <p:nvPr/>
        </p:nvPicPr>
        <p:blipFill>
          <a:blip r:embed="rId3"/>
          <a:stretch>
            <a:fillRect/>
          </a:stretch>
        </p:blipFill>
        <p:spPr>
          <a:xfrm>
            <a:off x="3493008" y="1965960"/>
            <a:ext cx="411480" cy="411480"/>
          </a:xfrm>
          <a:prstGeom prst="rect">
            <a:avLst/>
          </a:prstGeom>
        </p:spPr>
      </p:pic>
      <p:sp>
        <p:nvSpPr>
          <p:cNvPr id="25" name="TextBox 24"/>
          <p:cNvSpPr txBox="1"/>
          <p:nvPr/>
        </p:nvSpPr>
        <p:spPr>
          <a:xfrm>
            <a:off x="4041648" y="2057400"/>
            <a:ext cx="1828800" cy="274320"/>
          </a:xfrm>
          <a:prstGeom prst="rect">
            <a:avLst/>
          </a:prstGeom>
          <a:noFill/>
        </p:spPr>
        <p:txBody>
          <a:bodyPr wrap="square" anchor="t" lIns="0" rIns="0" tIns="0" bIns="0">
            <a:spAutoFit/>
          </a:bodyPr>
          <a:lstStyle/>
          <a:p>
            <a:pPr algn="l">
              <a:spcAft>
                <a:spcPts val="400"/>
              </a:spcAft>
            </a:pPr>
            <a:r>
              <a:rPr sz="1000">
                <a:solidFill>
                  <a:srgbClr val="1F2328"/>
                </a:solidFill>
                <a:latin typeface="+mj-lt"/>
              </a:rPr>
              <a:t>LEADERSHIP + ENGINEERING</a:t>
            </a:r>
          </a:p>
        </p:txBody>
      </p:sp>
      <p:sp>
        <p:nvSpPr>
          <p:cNvPr id="26" name="TextBox 25"/>
          <p:cNvSpPr txBox="1"/>
          <p:nvPr/>
        </p:nvSpPr>
        <p:spPr>
          <a:xfrm>
            <a:off x="3493008" y="2606040"/>
            <a:ext cx="2331720" cy="914400"/>
          </a:xfrm>
          <a:prstGeom prst="rect">
            <a:avLst/>
          </a:prstGeom>
          <a:noFill/>
        </p:spPr>
        <p:txBody>
          <a:bodyPr wrap="square" anchor="t" lIns="0" rIns="0" tIns="0" bIns="0">
            <a:spAutoFit/>
          </a:bodyPr>
          <a:lstStyle/>
          <a:p>
            <a:pPr algn="l">
              <a:spcAft>
                <a:spcPts val="400"/>
              </a:spcAft>
            </a:pPr>
            <a:r>
              <a:rPr sz="2000">
                <a:solidFill>
                  <a:srgbClr val="1F2328"/>
                </a:solidFill>
                <a:latin typeface="+mj-lt"/>
              </a:rPr>
              <a:t>Prioritize and scope the substrate</a:t>
            </a:r>
          </a:p>
        </p:txBody>
      </p:sp>
      <p:sp>
        <p:nvSpPr>
          <p:cNvPr id="27" name="TextBox 26"/>
          <p:cNvSpPr txBox="1"/>
          <p:nvPr/>
        </p:nvSpPr>
        <p:spPr>
          <a:xfrm>
            <a:off x="3493008" y="3611880"/>
            <a:ext cx="2331720" cy="1463040"/>
          </a:xfrm>
          <a:prstGeom prst="rect">
            <a:avLst/>
          </a:prstGeom>
          <a:noFill/>
        </p:spPr>
        <p:txBody>
          <a:bodyPr wrap="square" anchor="t" lIns="0" rIns="0" tIns="0" bIns="0">
            <a:spAutoFit/>
          </a:bodyPr>
          <a:lstStyle/>
          <a:p>
            <a:pPr algn="l">
              <a:spcAft>
                <a:spcPts val="400"/>
              </a:spcAft>
            </a:pPr>
            <a:r>
              <a:rPr sz="1400">
                <a:solidFill>
                  <a:srgbClr val="5F6670"/>
                </a:solidFill>
              </a:rPr>
              <a:t>Cost model, supply interface and the load-bearing Empirical Map. Owners return with capacity and tradeoffs.</a:t>
            </a:r>
          </a:p>
        </p:txBody>
      </p:sp>
      <p:sp>
        <p:nvSpPr>
          <p:cNvPr id="28" name="Rounded Rectangle 27"/>
          <p:cNvSpPr/>
          <p:nvPr/>
        </p:nvSpPr>
        <p:spPr>
          <a:xfrm>
            <a:off x="3493008" y="4937760"/>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29" name="TextBox 28"/>
          <p:cNvSpPr txBox="1"/>
          <p:nvPr/>
        </p:nvSpPr>
        <p:spPr>
          <a:xfrm>
            <a:off x="3493008" y="534924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Owner</a:t>
            </a:r>
          </a:p>
        </p:txBody>
      </p:sp>
      <p:cxnSp>
        <p:nvCxnSpPr>
          <p:cNvPr id="30" name="Connector 29"/>
          <p:cNvCxnSpPr/>
          <p:nvPr/>
        </p:nvCxnSpPr>
        <p:spPr>
          <a:xfrm>
            <a:off x="4133087" y="5586983"/>
            <a:ext cx="1645921"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493008" y="571500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Date</a:t>
            </a:r>
          </a:p>
        </p:txBody>
      </p:sp>
      <p:cxnSp>
        <p:nvCxnSpPr>
          <p:cNvPr id="32" name="Connector 31"/>
          <p:cNvCxnSpPr/>
          <p:nvPr/>
        </p:nvCxnSpPr>
        <p:spPr>
          <a:xfrm>
            <a:off x="4133087" y="5952744"/>
            <a:ext cx="1645921"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163056" y="1737360"/>
            <a:ext cx="2743200" cy="452628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34" name="Picture 33" descr="shield.png"/>
          <p:cNvPicPr>
            <a:picLocks noChangeAspect="1"/>
          </p:cNvPicPr>
          <p:nvPr/>
        </p:nvPicPr>
        <p:blipFill>
          <a:blip r:embed="rId4"/>
          <a:stretch>
            <a:fillRect/>
          </a:stretch>
        </p:blipFill>
        <p:spPr>
          <a:xfrm>
            <a:off x="6391656" y="1965960"/>
            <a:ext cx="411480" cy="411480"/>
          </a:xfrm>
          <a:prstGeom prst="rect">
            <a:avLst/>
          </a:prstGeom>
        </p:spPr>
      </p:pic>
      <p:sp>
        <p:nvSpPr>
          <p:cNvPr id="35" name="TextBox 34"/>
          <p:cNvSpPr txBox="1"/>
          <p:nvPr/>
        </p:nvSpPr>
        <p:spPr>
          <a:xfrm>
            <a:off x="6940296" y="2057400"/>
            <a:ext cx="1828800" cy="274320"/>
          </a:xfrm>
          <a:prstGeom prst="rect">
            <a:avLst/>
          </a:prstGeom>
          <a:noFill/>
        </p:spPr>
        <p:txBody>
          <a:bodyPr wrap="square" anchor="t" lIns="0" rIns="0" tIns="0" bIns="0">
            <a:spAutoFit/>
          </a:bodyPr>
          <a:lstStyle/>
          <a:p>
            <a:pPr algn="l">
              <a:spcAft>
                <a:spcPts val="400"/>
              </a:spcAft>
            </a:pPr>
            <a:r>
              <a:rPr sz="1000">
                <a:solidFill>
                  <a:srgbClr val="1F2328"/>
                </a:solidFill>
                <a:latin typeface="+mj-lt"/>
              </a:rPr>
              <a:t>GOVERNANCE + ENGINEERING</a:t>
            </a:r>
          </a:p>
        </p:txBody>
      </p:sp>
      <p:sp>
        <p:nvSpPr>
          <p:cNvPr id="36" name="TextBox 35"/>
          <p:cNvSpPr txBox="1"/>
          <p:nvPr/>
        </p:nvSpPr>
        <p:spPr>
          <a:xfrm>
            <a:off x="6391656" y="2606040"/>
            <a:ext cx="2331720" cy="914400"/>
          </a:xfrm>
          <a:prstGeom prst="rect">
            <a:avLst/>
          </a:prstGeom>
          <a:noFill/>
        </p:spPr>
        <p:txBody>
          <a:bodyPr wrap="square" anchor="t" lIns="0" rIns="0" tIns="0" bIns="0">
            <a:spAutoFit/>
          </a:bodyPr>
          <a:lstStyle/>
          <a:p>
            <a:pPr algn="l">
              <a:spcAft>
                <a:spcPts val="400"/>
              </a:spcAft>
            </a:pPr>
            <a:r>
              <a:rPr sz="2000">
                <a:solidFill>
                  <a:srgbClr val="1F2328"/>
                </a:solidFill>
                <a:latin typeface="+mj-lt"/>
              </a:rPr>
              <a:t>Set the minimum control envelope</a:t>
            </a:r>
          </a:p>
        </p:txBody>
      </p:sp>
      <p:sp>
        <p:nvSpPr>
          <p:cNvPr id="37" name="TextBox 36"/>
          <p:cNvSpPr txBox="1"/>
          <p:nvPr/>
        </p:nvSpPr>
        <p:spPr>
          <a:xfrm>
            <a:off x="6391656" y="3611880"/>
            <a:ext cx="2331720" cy="1463040"/>
          </a:xfrm>
          <a:prstGeom prst="rect">
            <a:avLst/>
          </a:prstGeom>
          <a:noFill/>
        </p:spPr>
        <p:txBody>
          <a:bodyPr wrap="square" anchor="t" lIns="0" rIns="0" tIns="0" bIns="0">
            <a:spAutoFit/>
          </a:bodyPr>
          <a:lstStyle/>
          <a:p>
            <a:pPr algn="l">
              <a:spcAft>
                <a:spcPts val="400"/>
              </a:spcAft>
            </a:pPr>
            <a:r>
              <a:rPr sz="1400">
                <a:solidFill>
                  <a:srgbClr val="5F6670"/>
                </a:solidFill>
              </a:rPr>
              <a:t>What the MOE-1 customer actually needs for identity, policy, audit, isolation and compliance.</a:t>
            </a:r>
          </a:p>
        </p:txBody>
      </p:sp>
      <p:sp>
        <p:nvSpPr>
          <p:cNvPr id="38" name="Rounded Rectangle 37"/>
          <p:cNvSpPr/>
          <p:nvPr/>
        </p:nvSpPr>
        <p:spPr>
          <a:xfrm>
            <a:off x="6391656" y="4937760"/>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39" name="TextBox 38"/>
          <p:cNvSpPr txBox="1"/>
          <p:nvPr/>
        </p:nvSpPr>
        <p:spPr>
          <a:xfrm>
            <a:off x="6391656" y="534924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Owner</a:t>
            </a:r>
          </a:p>
        </p:txBody>
      </p:sp>
      <p:cxnSp>
        <p:nvCxnSpPr>
          <p:cNvPr id="40" name="Connector 39"/>
          <p:cNvCxnSpPr/>
          <p:nvPr/>
        </p:nvCxnSpPr>
        <p:spPr>
          <a:xfrm>
            <a:off x="7031736" y="5586983"/>
            <a:ext cx="1645920"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391656" y="571500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Date</a:t>
            </a:r>
          </a:p>
        </p:txBody>
      </p:sp>
      <p:cxnSp>
        <p:nvCxnSpPr>
          <p:cNvPr id="42" name="Connector 41"/>
          <p:cNvCxnSpPr/>
          <p:nvPr/>
        </p:nvCxnSpPr>
        <p:spPr>
          <a:xfrm>
            <a:off x="7031736" y="5952744"/>
            <a:ext cx="1645920"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061704" y="1737360"/>
            <a:ext cx="2743200" cy="452628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44" name="Picture 43" descr="target.png"/>
          <p:cNvPicPr>
            <a:picLocks noChangeAspect="1"/>
          </p:cNvPicPr>
          <p:nvPr/>
        </p:nvPicPr>
        <p:blipFill>
          <a:blip r:embed="rId5"/>
          <a:stretch>
            <a:fillRect/>
          </a:stretch>
        </p:blipFill>
        <p:spPr>
          <a:xfrm>
            <a:off x="9290304" y="1965960"/>
            <a:ext cx="411480" cy="411480"/>
          </a:xfrm>
          <a:prstGeom prst="rect">
            <a:avLst/>
          </a:prstGeom>
        </p:spPr>
      </p:pic>
      <p:sp>
        <p:nvSpPr>
          <p:cNvPr id="45" name="TextBox 44"/>
          <p:cNvSpPr txBox="1"/>
          <p:nvPr/>
        </p:nvSpPr>
        <p:spPr>
          <a:xfrm>
            <a:off x="9838944" y="2057400"/>
            <a:ext cx="1828800" cy="274320"/>
          </a:xfrm>
          <a:prstGeom prst="rect">
            <a:avLst/>
          </a:prstGeom>
          <a:noFill/>
        </p:spPr>
        <p:txBody>
          <a:bodyPr wrap="square" anchor="t" lIns="0" rIns="0" tIns="0" bIns="0">
            <a:spAutoFit/>
          </a:bodyPr>
          <a:lstStyle/>
          <a:p>
            <a:pPr algn="l">
              <a:spcAft>
                <a:spcPts val="400"/>
              </a:spcAft>
            </a:pPr>
            <a:r>
              <a:rPr sz="1000">
                <a:solidFill>
                  <a:srgbClr val="1F2328"/>
                </a:solidFill>
                <a:latin typeface="+mj-lt"/>
              </a:rPr>
              <a:t>LEADERSHIP</a:t>
            </a:r>
          </a:p>
        </p:txBody>
      </p:sp>
      <p:sp>
        <p:nvSpPr>
          <p:cNvPr id="46" name="TextBox 45"/>
          <p:cNvSpPr txBox="1"/>
          <p:nvPr/>
        </p:nvSpPr>
        <p:spPr>
          <a:xfrm>
            <a:off x="9290304" y="2606040"/>
            <a:ext cx="2331720" cy="914400"/>
          </a:xfrm>
          <a:prstGeom prst="rect">
            <a:avLst/>
          </a:prstGeom>
          <a:noFill/>
        </p:spPr>
        <p:txBody>
          <a:bodyPr wrap="square" anchor="t" lIns="0" rIns="0" tIns="0" bIns="0">
            <a:spAutoFit/>
          </a:bodyPr>
          <a:lstStyle/>
          <a:p>
            <a:pPr algn="l">
              <a:spcAft>
                <a:spcPts val="400"/>
              </a:spcAft>
            </a:pPr>
            <a:r>
              <a:rPr sz="2000">
                <a:solidFill>
                  <a:srgbClr val="1F2328"/>
                </a:solidFill>
                <a:latin typeface="+mj-lt"/>
              </a:rPr>
              <a:t>Narrow where we differentiate</a:t>
            </a:r>
          </a:p>
        </p:txBody>
      </p:sp>
      <p:sp>
        <p:nvSpPr>
          <p:cNvPr id="47" name="TextBox 46"/>
          <p:cNvSpPr txBox="1"/>
          <p:nvPr/>
        </p:nvSpPr>
        <p:spPr>
          <a:xfrm>
            <a:off x="9290304" y="3611880"/>
            <a:ext cx="2331720" cy="1463040"/>
          </a:xfrm>
          <a:prstGeom prst="rect">
            <a:avLst/>
          </a:prstGeom>
          <a:noFill/>
        </p:spPr>
        <p:txBody>
          <a:bodyPr wrap="square" anchor="t" lIns="0" rIns="0" tIns="0" bIns="0">
            <a:spAutoFit/>
          </a:bodyPr>
          <a:lstStyle/>
          <a:p>
            <a:pPr algn="l">
              <a:spcAft>
                <a:spcPts val="400"/>
              </a:spcAft>
            </a:pPr>
            <a:r>
              <a:rPr sz="1400">
                <a:solidFill>
                  <a:srgbClr val="5F6670"/>
                </a:solidFill>
              </a:rPr>
              <a:t>Partner for fine-tuning delivery; we own serving it. Don't build scale-out machinery yet.</a:t>
            </a:r>
          </a:p>
        </p:txBody>
      </p:sp>
      <p:sp>
        <p:nvSpPr>
          <p:cNvPr id="48" name="Rounded Rectangle 47"/>
          <p:cNvSpPr/>
          <p:nvPr/>
        </p:nvSpPr>
        <p:spPr>
          <a:xfrm>
            <a:off x="9290304" y="4937760"/>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49" name="TextBox 48"/>
          <p:cNvSpPr txBox="1"/>
          <p:nvPr/>
        </p:nvSpPr>
        <p:spPr>
          <a:xfrm>
            <a:off x="9290304" y="534924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Owner</a:t>
            </a:r>
          </a:p>
        </p:txBody>
      </p:sp>
      <p:cxnSp>
        <p:nvCxnSpPr>
          <p:cNvPr id="50" name="Connector 49"/>
          <p:cNvCxnSpPr/>
          <p:nvPr/>
        </p:nvCxnSpPr>
        <p:spPr>
          <a:xfrm>
            <a:off x="9930384" y="5586983"/>
            <a:ext cx="1645920"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9290304" y="571500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Date</a:t>
            </a:r>
          </a:p>
        </p:txBody>
      </p:sp>
      <p:cxnSp>
        <p:nvCxnSpPr>
          <p:cNvPr id="52" name="Connector 51"/>
          <p:cNvCxnSpPr/>
          <p:nvPr/>
        </p:nvCxnSpPr>
        <p:spPr>
          <a:xfrm>
            <a:off x="9930384" y="5952744"/>
            <a:ext cx="1645920"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10" name="Picture 9" descr="cpu.png"/>
          <p:cNvPicPr>
            <a:picLocks noChangeAspect="1"/>
          </p:cNvPicPr>
          <p:nvPr/>
        </p:nvPicPr>
        <p:blipFill>
          <a:blip r:embed="rId2"/>
          <a:stretch>
            <a:fillRect/>
          </a:stretch>
        </p:blipFill>
        <p:spPr>
          <a:xfrm>
            <a:off x="822960" y="1737360"/>
            <a:ext cx="640080" cy="640080"/>
          </a:xfrm>
          <a:prstGeom prst="rect">
            <a:avLst/>
          </a:prstGeom>
        </p:spPr>
      </p:pic>
      <p:sp>
        <p:nvSpPr>
          <p:cNvPr id="11" name="TextBox 10"/>
          <p:cNvSpPr txBox="1"/>
          <p:nvPr/>
        </p:nvSpPr>
        <p:spPr>
          <a:xfrm>
            <a:off x="822960" y="2606040"/>
            <a:ext cx="10058400" cy="365760"/>
          </a:xfrm>
          <a:prstGeom prst="rect">
            <a:avLst/>
          </a:prstGeom>
          <a:noFill/>
        </p:spPr>
        <p:txBody>
          <a:bodyPr wrap="square" anchor="t" lIns="0" rIns="0" tIns="0" bIns="0">
            <a:spAutoFit/>
          </a:bodyPr>
          <a:lstStyle/>
          <a:p>
            <a:pPr algn="l">
              <a:spcAft>
                <a:spcPts val="400"/>
              </a:spcAft>
            </a:pPr>
            <a:r>
              <a:rPr sz="1600">
                <a:solidFill>
                  <a:schemeClr val="accent1"/>
                </a:solidFill>
                <a:latin typeface="+mj-lt"/>
              </a:rPr>
              <a:t>PART 2 · THE SOVEREIGN PROVIDER</a:t>
            </a:r>
          </a:p>
        </p:txBody>
      </p:sp>
      <p:sp>
        <p:nvSpPr>
          <p:cNvPr id="12" name="TextBox 11"/>
          <p:cNvSpPr txBox="1"/>
          <p:nvPr/>
        </p:nvSpPr>
        <p:spPr>
          <a:xfrm>
            <a:off x="822960" y="3017520"/>
            <a:ext cx="10515600" cy="1463040"/>
          </a:xfrm>
          <a:prstGeom prst="rect">
            <a:avLst/>
          </a:prstGeom>
          <a:noFill/>
        </p:spPr>
        <p:txBody>
          <a:bodyPr wrap="square" anchor="t" lIns="0" rIns="0" tIns="0" bIns="0">
            <a:spAutoFit/>
          </a:bodyPr>
          <a:lstStyle/>
          <a:p>
            <a:pPr algn="l">
              <a:spcAft>
                <a:spcPts val="400"/>
              </a:spcAft>
            </a:pPr>
            <a:r>
              <a:rPr sz="3800">
                <a:solidFill>
                  <a:srgbClr val="1F2328"/>
                </a:solidFill>
                <a:latin typeface="+mj-lt"/>
              </a:rPr>
              <a:t>Can we prove the performance and the boundaries of the capacity we run?</a:t>
            </a:r>
          </a:p>
        </p:txBody>
      </p:sp>
      <p:sp>
        <p:nvSpPr>
          <p:cNvPr id="13" name="TextBox 12"/>
          <p:cNvSpPr txBox="1"/>
          <p:nvPr/>
        </p:nvSpPr>
        <p:spPr>
          <a:xfrm>
            <a:off x="822960" y="4709160"/>
            <a:ext cx="10515600" cy="548640"/>
          </a:xfrm>
          <a:prstGeom prst="rect">
            <a:avLst/>
          </a:prstGeom>
          <a:noFill/>
        </p:spPr>
        <p:txBody>
          <a:bodyPr wrap="square" anchor="t" lIns="0" rIns="0" tIns="0" bIns="0">
            <a:spAutoFit/>
          </a:bodyPr>
          <a:lstStyle/>
          <a:p>
            <a:pPr algn="l">
              <a:spcAft>
                <a:spcPts val="400"/>
              </a:spcAft>
            </a:pPr>
            <a:r>
              <a:rPr sz="2000">
                <a:solidFill>
                  <a:srgbClr val="5F6670"/>
                </a:solidFill>
              </a:rPr>
              <a:t>MI350P qualification proves one part of the sovereign promise. The control envelope and MOE-1 prove the rest.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pPr algn="l">
              <a:spcAft>
                <a:spcPts val="400"/>
              </a:spcAft>
            </a:pPr>
            <a:r>
              <a:rPr sz="1600"/>
              <a:t>And what minimum evidence would make us comfortable standing behind it?</a:t>
            </a:r>
          </a:p>
        </p:txBody>
      </p:sp>
      <p:sp>
        <p:nvSpPr>
          <p:cNvPr id="4" name="Title 3"/>
          <p:cNvSpPr>
            <a:spLocks noGrp="1"/>
          </p:cNvSpPr>
          <p:nvPr>
            <p:ph type="title"/>
          </p:nvPr>
        </p:nvSpPr>
        <p:spPr/>
        <p:txBody>
          <a:bodyPr/>
          <a:lstStyle/>
          <a:p>
            <a:r>
              <a:rPr sz="3600"/>
              <a:t>Decision zero</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4" name="Rounded Rectangle 13"/>
          <p:cNvSpPr/>
          <p:nvPr/>
        </p:nvSpPr>
        <p:spPr>
          <a:xfrm>
            <a:off x="365760" y="6217920"/>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5" name="Rounded Rectangle 14"/>
          <p:cNvSpPr/>
          <p:nvPr/>
        </p:nvSpPr>
        <p:spPr>
          <a:xfrm>
            <a:off x="1645920" y="6217920"/>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6" name="TextBox 15"/>
          <p:cNvSpPr txBox="1"/>
          <p:nvPr/>
        </p:nvSpPr>
        <p:spPr>
          <a:xfrm>
            <a:off x="3611880" y="502920"/>
            <a:ext cx="8183879" cy="1188720"/>
          </a:xfrm>
          <a:prstGeom prst="rect">
            <a:avLst/>
          </a:prstGeom>
          <a:noFill/>
        </p:spPr>
        <p:txBody>
          <a:bodyPr wrap="square" anchor="t" lIns="0" rIns="0" tIns="0" bIns="0">
            <a:spAutoFit/>
          </a:bodyPr>
          <a:lstStyle/>
          <a:p>
            <a:pPr algn="l">
              <a:spcAft>
                <a:spcPts val="400"/>
              </a:spcAft>
            </a:pPr>
            <a:r>
              <a:rPr sz="2800">
                <a:solidFill>
                  <a:srgbClr val="1F2328"/>
                </a:solidFill>
                <a:latin typeface="+mj-lt"/>
              </a:rPr>
              <a:t>What customer claim are we trying to earn with MI350P?</a:t>
            </a:r>
          </a:p>
        </p:txBody>
      </p:sp>
      <p:sp>
        <p:nvSpPr>
          <p:cNvPr id="17" name="Rounded Rectangle 16"/>
          <p:cNvSpPr/>
          <p:nvPr/>
        </p:nvSpPr>
        <p:spPr>
          <a:xfrm>
            <a:off x="3611880" y="1691640"/>
            <a:ext cx="2606040" cy="3611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18" name="Picture 17" descr="check_k.png"/>
          <p:cNvPicPr>
            <a:picLocks noChangeAspect="1"/>
          </p:cNvPicPr>
          <p:nvPr/>
        </p:nvPicPr>
        <p:blipFill>
          <a:blip r:embed="rId2"/>
          <a:stretch>
            <a:fillRect/>
          </a:stretch>
        </p:blipFill>
        <p:spPr>
          <a:xfrm>
            <a:off x="3840480" y="1920240"/>
            <a:ext cx="411480" cy="411480"/>
          </a:xfrm>
          <a:prstGeom prst="rect">
            <a:avLst/>
          </a:prstGeom>
        </p:spPr>
      </p:pic>
      <p:sp>
        <p:nvSpPr>
          <p:cNvPr id="19" name="TextBox 18"/>
          <p:cNvSpPr txBox="1"/>
          <p:nvPr/>
        </p:nvSpPr>
        <p:spPr>
          <a:xfrm>
            <a:off x="4389120" y="2011680"/>
            <a:ext cx="164592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BASELINE</a:t>
            </a:r>
          </a:p>
        </p:txBody>
      </p:sp>
      <p:sp>
        <p:nvSpPr>
          <p:cNvPr id="20" name="TextBox 19"/>
          <p:cNvSpPr txBox="1"/>
          <p:nvPr/>
        </p:nvSpPr>
        <p:spPr>
          <a:xfrm>
            <a:off x="3840480" y="2514600"/>
            <a:ext cx="2194560" cy="685800"/>
          </a:xfrm>
          <a:prstGeom prst="rect">
            <a:avLst/>
          </a:prstGeom>
          <a:noFill/>
        </p:spPr>
        <p:txBody>
          <a:bodyPr wrap="square" anchor="t" lIns="0" rIns="0" tIns="0" bIns="0">
            <a:spAutoFit/>
          </a:bodyPr>
          <a:lstStyle/>
          <a:p>
            <a:pPr algn="l">
              <a:spcAft>
                <a:spcPts val="400"/>
              </a:spcAft>
            </a:pPr>
            <a:r>
              <a:rPr sz="1900">
                <a:solidFill>
                  <a:srgbClr val="1F2328"/>
                </a:solidFill>
                <a:latin typeface="+mj-lt"/>
              </a:rPr>
              <a:t>Technically validated</a:t>
            </a:r>
          </a:p>
        </p:txBody>
      </p:sp>
      <p:sp>
        <p:nvSpPr>
          <p:cNvPr id="21" name="TextBox 20"/>
          <p:cNvSpPr txBox="1"/>
          <p:nvPr/>
        </p:nvSpPr>
        <p:spPr>
          <a:xfrm>
            <a:off x="3840480" y="3246120"/>
            <a:ext cx="2194560" cy="1143000"/>
          </a:xfrm>
          <a:prstGeom prst="rect">
            <a:avLst/>
          </a:prstGeom>
          <a:noFill/>
        </p:spPr>
        <p:txBody>
          <a:bodyPr wrap="square" anchor="t" lIns="0" rIns="0" tIns="0" bIns="0">
            <a:spAutoFit/>
          </a:bodyPr>
          <a:lstStyle/>
          <a:p>
            <a:pPr algn="l">
              <a:spcAft>
                <a:spcPts val="400"/>
              </a:spcAft>
            </a:pPr>
            <a:r>
              <a:rPr sz="1300">
                <a:solidFill>
                  <a:srgbClr val="1F2328"/>
                </a:solidFill>
              </a:rPr>
              <a:t>Performs consistently against reproducible vendor and industry reference workloads.</a:t>
            </a:r>
          </a:p>
        </p:txBody>
      </p:sp>
      <p:sp>
        <p:nvSpPr>
          <p:cNvPr id="22" name="TextBox 21"/>
          <p:cNvSpPr txBox="1"/>
          <p:nvPr/>
        </p:nvSpPr>
        <p:spPr>
          <a:xfrm>
            <a:off x="3840480" y="4480560"/>
            <a:ext cx="2194560" cy="777240"/>
          </a:xfrm>
          <a:prstGeom prst="rect">
            <a:avLst/>
          </a:prstGeom>
          <a:noFill/>
        </p:spPr>
        <p:txBody>
          <a:bodyPr wrap="square" anchor="t" lIns="0" rIns="0" tIns="0" bIns="0">
            <a:spAutoFit/>
          </a:bodyPr>
          <a:lstStyle/>
          <a:p>
            <a:pPr algn="l">
              <a:spcAft>
                <a:spcPts val="400"/>
              </a:spcAft>
            </a:pPr>
            <a:r>
              <a:rPr sz="1200">
                <a:solidFill>
                  <a:srgbClr val="5F6670"/>
                </a:solidFill>
                <a:latin typeface="+mj-lt"/>
              </a:rPr>
              <a:t>Sales can say: </a:t>
            </a:r>
            <a:r>
              <a:rPr sz="1200">
                <a:solidFill>
                  <a:srgbClr val="5F6670"/>
                </a:solidFill>
              </a:rPr>
              <a:t>Throughput and latency on the tested workload</a:t>
            </a:r>
          </a:p>
        </p:txBody>
      </p:sp>
      <p:sp>
        <p:nvSpPr>
          <p:cNvPr id="23" name="Rounded Rectangle 22"/>
          <p:cNvSpPr/>
          <p:nvPr/>
        </p:nvSpPr>
        <p:spPr>
          <a:xfrm>
            <a:off x="6400800" y="1691640"/>
            <a:ext cx="2606040" cy="3611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24" name="Picture 23" descr="shield_k.png"/>
          <p:cNvPicPr>
            <a:picLocks noChangeAspect="1"/>
          </p:cNvPicPr>
          <p:nvPr/>
        </p:nvPicPr>
        <p:blipFill>
          <a:blip r:embed="rId3"/>
          <a:stretch>
            <a:fillRect/>
          </a:stretch>
        </p:blipFill>
        <p:spPr>
          <a:xfrm>
            <a:off x="6629400" y="1920240"/>
            <a:ext cx="411480" cy="411480"/>
          </a:xfrm>
          <a:prstGeom prst="rect">
            <a:avLst/>
          </a:prstGeom>
        </p:spPr>
      </p:pic>
      <p:sp>
        <p:nvSpPr>
          <p:cNvPr id="25" name="TextBox 24"/>
          <p:cNvSpPr txBox="1"/>
          <p:nvPr/>
        </p:nvSpPr>
        <p:spPr>
          <a:xfrm>
            <a:off x="7178040" y="2011680"/>
            <a:ext cx="164592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SERVICE</a:t>
            </a:r>
          </a:p>
        </p:txBody>
      </p:sp>
      <p:sp>
        <p:nvSpPr>
          <p:cNvPr id="26" name="TextBox 25"/>
          <p:cNvSpPr txBox="1"/>
          <p:nvPr/>
        </p:nvSpPr>
        <p:spPr>
          <a:xfrm>
            <a:off x="6629400" y="2514600"/>
            <a:ext cx="2194560" cy="685800"/>
          </a:xfrm>
          <a:prstGeom prst="rect">
            <a:avLst/>
          </a:prstGeom>
          <a:noFill/>
        </p:spPr>
        <p:txBody>
          <a:bodyPr wrap="square" anchor="t" lIns="0" rIns="0" tIns="0" bIns="0">
            <a:spAutoFit/>
          </a:bodyPr>
          <a:lstStyle/>
          <a:p>
            <a:pPr algn="l">
              <a:spcAft>
                <a:spcPts val="400"/>
              </a:spcAft>
            </a:pPr>
            <a:r>
              <a:rPr sz="1900">
                <a:solidFill>
                  <a:srgbClr val="1F2328"/>
                </a:solidFill>
                <a:latin typeface="+mj-lt"/>
              </a:rPr>
              <a:t>Enterprise production-ready</a:t>
            </a:r>
          </a:p>
        </p:txBody>
      </p:sp>
      <p:sp>
        <p:nvSpPr>
          <p:cNvPr id="27" name="TextBox 26"/>
          <p:cNvSpPr txBox="1"/>
          <p:nvPr/>
        </p:nvSpPr>
        <p:spPr>
          <a:xfrm>
            <a:off x="6629400" y="3246120"/>
            <a:ext cx="2194560" cy="1143000"/>
          </a:xfrm>
          <a:prstGeom prst="rect">
            <a:avLst/>
          </a:prstGeom>
          <a:noFill/>
        </p:spPr>
        <p:txBody>
          <a:bodyPr wrap="square" anchor="t" lIns="0" rIns="0" tIns="0" bIns="0">
            <a:spAutoFit/>
          </a:bodyPr>
          <a:lstStyle/>
          <a:p>
            <a:pPr algn="l">
              <a:spcAft>
                <a:spcPts val="400"/>
              </a:spcAft>
            </a:pPr>
            <a:r>
              <a:rPr sz="1300">
                <a:solidFill>
                  <a:srgbClr val="1F2328"/>
                </a:solidFill>
              </a:rPr>
              <a:t>Sustains defined SLOs under realistic load, tenant interference and failure.</a:t>
            </a:r>
          </a:p>
        </p:txBody>
      </p:sp>
      <p:sp>
        <p:nvSpPr>
          <p:cNvPr id="28" name="TextBox 27"/>
          <p:cNvSpPr txBox="1"/>
          <p:nvPr/>
        </p:nvSpPr>
        <p:spPr>
          <a:xfrm>
            <a:off x="6629400" y="4480560"/>
            <a:ext cx="2194560" cy="777240"/>
          </a:xfrm>
          <a:prstGeom prst="rect">
            <a:avLst/>
          </a:prstGeom>
          <a:noFill/>
        </p:spPr>
        <p:txBody>
          <a:bodyPr wrap="square" anchor="t" lIns="0" rIns="0" tIns="0" bIns="0">
            <a:spAutoFit/>
          </a:bodyPr>
          <a:lstStyle/>
          <a:p>
            <a:pPr algn="l">
              <a:spcAft>
                <a:spcPts val="400"/>
              </a:spcAft>
            </a:pPr>
            <a:r>
              <a:rPr sz="1200">
                <a:solidFill>
                  <a:srgbClr val="5F6670"/>
                </a:solidFill>
                <a:latin typeface="+mj-lt"/>
              </a:rPr>
              <a:t>Sales can say: </a:t>
            </a:r>
            <a:r>
              <a:rPr sz="1200">
                <a:solidFill>
                  <a:srgbClr val="5F6670"/>
                </a:solidFill>
              </a:rPr>
              <a:t>Sustains agreed SLOs in realistic operation</a:t>
            </a:r>
          </a:p>
        </p:txBody>
      </p:sp>
      <p:sp>
        <p:nvSpPr>
          <p:cNvPr id="29" name="Rounded Rectangle 28"/>
          <p:cNvSpPr/>
          <p:nvPr/>
        </p:nvSpPr>
        <p:spPr>
          <a:xfrm>
            <a:off x="9189720" y="1691640"/>
            <a:ext cx="2606040" cy="3611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30" name="Picture 29" descr="dollar_k.png"/>
          <p:cNvPicPr>
            <a:picLocks noChangeAspect="1"/>
          </p:cNvPicPr>
          <p:nvPr/>
        </p:nvPicPr>
        <p:blipFill>
          <a:blip r:embed="rId4"/>
          <a:stretch>
            <a:fillRect/>
          </a:stretch>
        </p:blipFill>
        <p:spPr>
          <a:xfrm>
            <a:off x="9418320" y="1920240"/>
            <a:ext cx="411480" cy="411480"/>
          </a:xfrm>
          <a:prstGeom prst="rect">
            <a:avLst/>
          </a:prstGeom>
        </p:spPr>
      </p:pic>
      <p:sp>
        <p:nvSpPr>
          <p:cNvPr id="31" name="TextBox 30"/>
          <p:cNvSpPr txBox="1"/>
          <p:nvPr/>
        </p:nvSpPr>
        <p:spPr>
          <a:xfrm>
            <a:off x="9966960" y="2011680"/>
            <a:ext cx="164592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ECONOMICS</a:t>
            </a:r>
          </a:p>
        </p:txBody>
      </p:sp>
      <p:sp>
        <p:nvSpPr>
          <p:cNvPr id="32" name="TextBox 31"/>
          <p:cNvSpPr txBox="1"/>
          <p:nvPr/>
        </p:nvSpPr>
        <p:spPr>
          <a:xfrm>
            <a:off x="9418320" y="2514600"/>
            <a:ext cx="2194560" cy="685800"/>
          </a:xfrm>
          <a:prstGeom prst="rect">
            <a:avLst/>
          </a:prstGeom>
          <a:noFill/>
        </p:spPr>
        <p:txBody>
          <a:bodyPr wrap="square" anchor="t" lIns="0" rIns="0" tIns="0" bIns="0">
            <a:spAutoFit/>
          </a:bodyPr>
          <a:lstStyle/>
          <a:p>
            <a:pPr algn="l">
              <a:spcAft>
                <a:spcPts val="400"/>
              </a:spcAft>
            </a:pPr>
            <a:r>
              <a:rPr sz="1900">
                <a:solidFill>
                  <a:srgbClr val="1F2328"/>
                </a:solidFill>
                <a:latin typeface="+mj-lt"/>
              </a:rPr>
              <a:t>Commercially differentiated</a:t>
            </a:r>
          </a:p>
        </p:txBody>
      </p:sp>
      <p:sp>
        <p:nvSpPr>
          <p:cNvPr id="33" name="TextBox 32"/>
          <p:cNvSpPr txBox="1"/>
          <p:nvPr/>
        </p:nvSpPr>
        <p:spPr>
          <a:xfrm>
            <a:off x="9418320" y="3246120"/>
            <a:ext cx="2194560" cy="1143000"/>
          </a:xfrm>
          <a:prstGeom prst="rect">
            <a:avLst/>
          </a:prstGeom>
          <a:noFill/>
        </p:spPr>
        <p:txBody>
          <a:bodyPr wrap="square" anchor="t" lIns="0" rIns="0" tIns="0" bIns="0">
            <a:spAutoFit/>
          </a:bodyPr>
          <a:lstStyle/>
          <a:p>
            <a:pPr algn="l">
              <a:spcAft>
                <a:spcPts val="400"/>
              </a:spcAft>
            </a:pPr>
            <a:r>
              <a:rPr sz="1300">
                <a:solidFill>
                  <a:srgbClr val="1F2328"/>
                </a:solidFill>
              </a:rPr>
              <a:t>For which workloads we offer better economics at equal quality, latency and reliability.</a:t>
            </a:r>
          </a:p>
        </p:txBody>
      </p:sp>
      <p:sp>
        <p:nvSpPr>
          <p:cNvPr id="34" name="TextBox 33"/>
          <p:cNvSpPr txBox="1"/>
          <p:nvPr/>
        </p:nvSpPr>
        <p:spPr>
          <a:xfrm>
            <a:off x="9418320" y="4480560"/>
            <a:ext cx="2194560" cy="777240"/>
          </a:xfrm>
          <a:prstGeom prst="rect">
            <a:avLst/>
          </a:prstGeom>
          <a:noFill/>
        </p:spPr>
        <p:txBody>
          <a:bodyPr wrap="square" anchor="t" lIns="0" rIns="0" tIns="0" bIns="0">
            <a:spAutoFit/>
          </a:bodyPr>
          <a:lstStyle/>
          <a:p>
            <a:pPr algn="l">
              <a:spcAft>
                <a:spcPts val="400"/>
              </a:spcAft>
            </a:pPr>
            <a:r>
              <a:rPr sz="1200">
                <a:solidFill>
                  <a:srgbClr val="5F6670"/>
                </a:solidFill>
                <a:latin typeface="+mj-lt"/>
              </a:rPr>
              <a:t>Sales can say: </a:t>
            </a:r>
            <a:r>
              <a:rPr sz="1200">
                <a:solidFill>
                  <a:srgbClr val="5F6670"/>
                </a:solidFill>
              </a:rPr>
              <a:t>Lower cost per successful token at equal SLO</a:t>
            </a:r>
          </a:p>
        </p:txBody>
      </p:sp>
      <p:sp>
        <p:nvSpPr>
          <p:cNvPr id="35" name="Rounded Rectangle 34"/>
          <p:cNvSpPr/>
          <p:nvPr/>
        </p:nvSpPr>
        <p:spPr>
          <a:xfrm>
            <a:off x="3611880" y="5486400"/>
            <a:ext cx="8183879" cy="73152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400"/>
              </a:spcAft>
            </a:pPr>
            <a:r>
              <a:rPr sz="1400">
                <a:solidFill>
                  <a:schemeClr val="accent1"/>
                </a:solidFill>
                <a:latin typeface="+mj-lt"/>
              </a:rPr>
              <a:t>Decision: </a:t>
            </a:r>
            <a:r>
              <a:rPr sz="1400">
                <a:solidFill>
                  <a:srgbClr val="1F2328"/>
                </a:solidFill>
              </a:rPr>
              <a:t>pick one to go first. </a:t>
            </a:r>
            <a:r>
              <a:rPr sz="1400">
                <a:solidFill>
                  <a:srgbClr val="5F6670"/>
                </a:solidFill>
              </a:rPr>
              <a:t>Cross-vendor comparisons support these; they don't define success. H100 stays an internal reference only.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Five links, </a:t>
            </a:r>
            <a:r>
              <a:rPr sz="3200">
                <a:solidFill>
                  <a:schemeClr val="accent1"/>
                </a:solidFill>
              </a:rPr>
              <a:t>one chain of evidence</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0" name="Rounded Rectangle 9"/>
          <p:cNvSpPr/>
          <p:nvPr/>
        </p:nvSpPr>
        <p:spPr>
          <a:xfrm>
            <a:off x="9464040" y="384048"/>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1" name="Rounded Rectangle 10"/>
          <p:cNvSpPr/>
          <p:nvPr/>
        </p:nvSpPr>
        <p:spPr>
          <a:xfrm>
            <a:off x="10744200" y="384048"/>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2" name="Rounded Rectangle 11"/>
          <p:cNvSpPr/>
          <p:nvPr/>
        </p:nvSpPr>
        <p:spPr>
          <a:xfrm>
            <a:off x="365760" y="1143000"/>
            <a:ext cx="11430000" cy="3108960"/>
          </a:xfrm>
          <a:prstGeom prst="roundRect">
            <a:avLst>
              <a:gd name="adj" fmla="val 4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3" name="TextBox 12"/>
          <p:cNvSpPr txBox="1"/>
          <p:nvPr/>
        </p:nvSpPr>
        <p:spPr>
          <a:xfrm rot="16200000">
            <a:off x="-777239" y="2313432"/>
            <a:ext cx="3108960" cy="768096"/>
          </a:xfrm>
          <a:prstGeom prst="rect">
            <a:avLst/>
          </a:prstGeom>
          <a:noFill/>
        </p:spPr>
        <p:txBody>
          <a:bodyPr wrap="square" anchor="ctr" lIns="0" rIns="0" tIns="0" bIns="0">
            <a:spAutoFit/>
          </a:bodyPr>
          <a:lstStyle/>
          <a:p>
            <a:pPr algn="ctr">
              <a:spcAft>
                <a:spcPts val="0"/>
              </a:spcAft>
            </a:pPr>
            <a:r>
              <a:rPr sz="2400">
                <a:solidFill>
                  <a:schemeClr val="accent3"/>
                </a:solidFill>
                <a:latin typeface="+mj-lt"/>
              </a:rPr>
              <a:t>RACKAI</a:t>
            </a:r>
          </a:p>
        </p:txBody>
      </p:sp>
      <p:sp>
        <p:nvSpPr>
          <p:cNvPr id="14" name="Rounded Rectangle 13"/>
          <p:cNvSpPr/>
          <p:nvPr/>
        </p:nvSpPr>
        <p:spPr>
          <a:xfrm>
            <a:off x="365760" y="4709160"/>
            <a:ext cx="11430000" cy="182880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5" name="TextBox 14"/>
          <p:cNvSpPr txBox="1"/>
          <p:nvPr/>
        </p:nvSpPr>
        <p:spPr>
          <a:xfrm rot="16200000">
            <a:off x="-137159" y="5239512"/>
            <a:ext cx="1828800" cy="768096"/>
          </a:xfrm>
          <a:prstGeom prst="rect">
            <a:avLst/>
          </a:prstGeom>
          <a:noFill/>
        </p:spPr>
        <p:txBody>
          <a:bodyPr wrap="square" anchor="ctr" lIns="0" rIns="0" tIns="0" bIns="0">
            <a:spAutoFit/>
          </a:bodyPr>
          <a:lstStyle/>
          <a:p>
            <a:pPr algn="ctr">
              <a:spcAft>
                <a:spcPts val="0"/>
              </a:spcAft>
            </a:pPr>
            <a:r>
              <a:rPr sz="2400">
                <a:solidFill>
                  <a:srgbClr val="1F2328"/>
                </a:solidFill>
                <a:latin typeface="+mj-lt"/>
              </a:rPr>
              <a:t>INFRA</a:t>
            </a:r>
          </a:p>
        </p:txBody>
      </p:sp>
      <p:cxnSp>
        <p:nvCxnSpPr>
          <p:cNvPr id="16" name="Connector 15"/>
          <p:cNvCxnSpPr/>
          <p:nvPr/>
        </p:nvCxnSpPr>
        <p:spPr>
          <a:xfrm>
            <a:off x="365760" y="4480560"/>
            <a:ext cx="11430000" cy="0"/>
          </a:xfrm>
          <a:prstGeom prst="line">
            <a:avLst/>
          </a:prstGeom>
          <a:ln w="25400">
            <a:solidFill>
              <a:srgbClr val="EB0000"/>
            </a:solidFill>
            <a:prstDash val="dash"/>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434840" y="4334256"/>
            <a:ext cx="3291840" cy="292608"/>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400"/>
              </a:spcAft>
            </a:pPr>
            <a:r>
              <a:rPr sz="1100">
                <a:solidFill>
                  <a:schemeClr val="accent1"/>
                </a:solidFill>
                <a:latin typeface="+mj-lt"/>
              </a:rPr>
              <a:t>THE KUBERNETES LINE</a:t>
            </a:r>
          </a:p>
        </p:txBody>
      </p:sp>
      <p:sp>
        <p:nvSpPr>
          <p:cNvPr id="18" name="TextBox 17"/>
          <p:cNvSpPr txBox="1"/>
          <p:nvPr/>
        </p:nvSpPr>
        <p:spPr>
          <a:xfrm>
            <a:off x="1325880" y="1280160"/>
            <a:ext cx="685800" cy="896112"/>
          </a:xfrm>
          <a:prstGeom prst="rect">
            <a:avLst/>
          </a:prstGeom>
          <a:noFill/>
        </p:spPr>
        <p:txBody>
          <a:bodyPr wrap="square" anchor="ctr" lIns="0" rIns="0" tIns="0" bIns="0">
            <a:spAutoFit/>
          </a:bodyPr>
          <a:lstStyle/>
          <a:p>
            <a:pPr algn="l">
              <a:spcAft>
                <a:spcPts val="400"/>
              </a:spcAft>
            </a:pPr>
            <a:r>
              <a:rPr sz="2600">
                <a:solidFill>
                  <a:srgbClr val="1F2328"/>
                </a:solidFill>
                <a:latin typeface="+mj-lt"/>
              </a:rPr>
              <a:t>B5</a:t>
            </a:r>
          </a:p>
        </p:txBody>
      </p:sp>
      <p:sp>
        <p:nvSpPr>
          <p:cNvPr id="19" name="TextBox 18"/>
          <p:cNvSpPr txBox="1"/>
          <p:nvPr/>
        </p:nvSpPr>
        <p:spPr>
          <a:xfrm>
            <a:off x="2057400" y="1280160"/>
            <a:ext cx="2606040" cy="896112"/>
          </a:xfrm>
          <a:prstGeom prst="rect">
            <a:avLst/>
          </a:prstGeom>
          <a:noFill/>
        </p:spPr>
        <p:txBody>
          <a:bodyPr wrap="square" anchor="ctr" lIns="0" rIns="0" tIns="0" bIns="0">
            <a:spAutoFit/>
          </a:bodyPr>
          <a:lstStyle/>
          <a:p>
            <a:pPr algn="l">
              <a:spcAft>
                <a:spcPts val="0"/>
              </a:spcAft>
            </a:pPr>
            <a:r>
              <a:rPr sz="1600">
                <a:solidFill>
                  <a:srgbClr val="1F2328"/>
                </a:solidFill>
                <a:latin typeface="+mj-lt"/>
              </a:rPr>
              <a:t>Economics</a:t>
            </a:r>
          </a:p>
          <a:p>
            <a:pPr algn="l">
              <a:spcAft>
                <a:spcPts val="400"/>
              </a:spcAft>
            </a:pPr>
            <a:r>
              <a:rPr sz="1200">
                <a:solidFill>
                  <a:srgbClr val="5F6670"/>
                </a:solidFill>
              </a:rPr>
              <a:t>FinOps</a:t>
            </a:r>
          </a:p>
        </p:txBody>
      </p:sp>
      <p:sp>
        <p:nvSpPr>
          <p:cNvPr id="20" name="Rounded Rectangle 19"/>
          <p:cNvSpPr/>
          <p:nvPr/>
        </p:nvSpPr>
        <p:spPr>
          <a:xfrm>
            <a:off x="4754880" y="1389888"/>
            <a:ext cx="2788920" cy="676656"/>
          </a:xfrm>
          <a:prstGeom prst="roundRect">
            <a:avLst>
              <a:gd name="adj" fmla="val 20000"/>
            </a:avLst>
          </a:prstGeom>
          <a:solidFill>
            <a:schemeClr val="bg1"/>
          </a:solidFill>
          <a:ln w="12700">
            <a:solidFill>
              <a:srgbClr val="C4C9D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400"/>
              </a:spcAft>
            </a:pPr>
            <a:r>
              <a:rPr sz="1300">
                <a:solidFill>
                  <a:srgbClr val="1F2328"/>
                </a:solidFill>
                <a:latin typeface="+mj-lt"/>
              </a:rPr>
              <a:t>Economics Sheet</a:t>
            </a:r>
          </a:p>
        </p:txBody>
      </p:sp>
      <p:sp>
        <p:nvSpPr>
          <p:cNvPr id="21" name="Right Arrow 20"/>
          <p:cNvSpPr/>
          <p:nvPr/>
        </p:nvSpPr>
        <p:spPr>
          <a:xfrm>
            <a:off x="7607808" y="1636775"/>
            <a:ext cx="201168" cy="182880"/>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1280160"/>
            <a:ext cx="3749039" cy="896112"/>
          </a:xfrm>
          <a:prstGeom prst="rect">
            <a:avLst/>
          </a:prstGeom>
          <a:noFill/>
        </p:spPr>
        <p:txBody>
          <a:bodyPr wrap="square" anchor="ctr" lIns="0" rIns="0" tIns="0" bIns="0">
            <a:spAutoFit/>
          </a:bodyPr>
          <a:lstStyle/>
          <a:p>
            <a:pPr algn="l">
              <a:spcAft>
                <a:spcPts val="400"/>
              </a:spcAft>
            </a:pPr>
            <a:r>
              <a:rPr sz="1400">
                <a:solidFill>
                  <a:srgbClr val="1F2328"/>
                </a:solidFill>
              </a:rPr>
              <a:t>$ per 1M successful tokens, at stated confidence</a:t>
            </a:r>
          </a:p>
        </p:txBody>
      </p:sp>
      <p:sp>
        <p:nvSpPr>
          <p:cNvPr id="23" name="TextBox 22"/>
          <p:cNvSpPr txBox="1"/>
          <p:nvPr/>
        </p:nvSpPr>
        <p:spPr>
          <a:xfrm>
            <a:off x="1325880" y="2240280"/>
            <a:ext cx="685800" cy="896112"/>
          </a:xfrm>
          <a:prstGeom prst="rect">
            <a:avLst/>
          </a:prstGeom>
          <a:noFill/>
        </p:spPr>
        <p:txBody>
          <a:bodyPr wrap="square" anchor="ctr" lIns="0" rIns="0" tIns="0" bIns="0">
            <a:spAutoFit/>
          </a:bodyPr>
          <a:lstStyle/>
          <a:p>
            <a:pPr algn="l">
              <a:spcAft>
                <a:spcPts val="400"/>
              </a:spcAft>
            </a:pPr>
            <a:r>
              <a:rPr sz="2600">
                <a:solidFill>
                  <a:srgbClr val="1F2328"/>
                </a:solidFill>
                <a:latin typeface="+mj-lt"/>
              </a:rPr>
              <a:t>B4</a:t>
            </a:r>
          </a:p>
        </p:txBody>
      </p:sp>
      <p:sp>
        <p:nvSpPr>
          <p:cNvPr id="24" name="TextBox 23"/>
          <p:cNvSpPr txBox="1"/>
          <p:nvPr/>
        </p:nvSpPr>
        <p:spPr>
          <a:xfrm>
            <a:off x="2057400" y="2240280"/>
            <a:ext cx="2606040" cy="896112"/>
          </a:xfrm>
          <a:prstGeom prst="rect">
            <a:avLst/>
          </a:prstGeom>
          <a:noFill/>
        </p:spPr>
        <p:txBody>
          <a:bodyPr wrap="square" anchor="ctr" lIns="0" rIns="0" tIns="0" bIns="0">
            <a:spAutoFit/>
          </a:bodyPr>
          <a:lstStyle/>
          <a:p>
            <a:pPr algn="l">
              <a:spcAft>
                <a:spcPts val="0"/>
              </a:spcAft>
            </a:pPr>
            <a:r>
              <a:rPr sz="1600">
                <a:solidFill>
                  <a:srgbClr val="1F2328"/>
                </a:solidFill>
                <a:latin typeface="+mj-lt"/>
              </a:rPr>
              <a:t>Enterprise service</a:t>
            </a:r>
          </a:p>
          <a:p>
            <a:pPr algn="l">
              <a:spcAft>
                <a:spcPts val="400"/>
              </a:spcAft>
            </a:pPr>
            <a:r>
              <a:rPr sz="1200">
                <a:solidFill>
                  <a:srgbClr val="5F6670"/>
                </a:solidFill>
              </a:rPr>
              <a:t>Serving + Governance</a:t>
            </a:r>
          </a:p>
        </p:txBody>
      </p:sp>
      <p:sp>
        <p:nvSpPr>
          <p:cNvPr id="25" name="Rounded Rectangle 24"/>
          <p:cNvSpPr/>
          <p:nvPr/>
        </p:nvSpPr>
        <p:spPr>
          <a:xfrm>
            <a:off x="4754880" y="2350008"/>
            <a:ext cx="2788920" cy="676656"/>
          </a:xfrm>
          <a:prstGeom prst="roundRect">
            <a:avLst>
              <a:gd name="adj" fmla="val 20000"/>
            </a:avLst>
          </a:prstGeom>
          <a:solidFill>
            <a:schemeClr val="bg1"/>
          </a:solidFill>
          <a:ln w="12700">
            <a:solidFill>
              <a:srgbClr val="C4C9D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400"/>
              </a:spcAft>
            </a:pPr>
            <a:r>
              <a:rPr sz="1300">
                <a:solidFill>
                  <a:srgbClr val="1F2328"/>
                </a:solidFill>
                <a:latin typeface="+mj-lt"/>
              </a:rPr>
              <a:t>Service Qualification Record</a:t>
            </a:r>
          </a:p>
        </p:txBody>
      </p:sp>
      <p:sp>
        <p:nvSpPr>
          <p:cNvPr id="26" name="Right Arrow 25"/>
          <p:cNvSpPr/>
          <p:nvPr/>
        </p:nvSpPr>
        <p:spPr>
          <a:xfrm>
            <a:off x="7607808" y="2596896"/>
            <a:ext cx="201168" cy="182880"/>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9560" y="2240280"/>
            <a:ext cx="3749039" cy="896112"/>
          </a:xfrm>
          <a:prstGeom prst="rect">
            <a:avLst/>
          </a:prstGeom>
          <a:noFill/>
        </p:spPr>
        <p:txBody>
          <a:bodyPr wrap="square" anchor="ctr" lIns="0" rIns="0" tIns="0" bIns="0">
            <a:spAutoFit/>
          </a:bodyPr>
          <a:lstStyle/>
          <a:p>
            <a:pPr algn="l">
              <a:spcAft>
                <a:spcPts val="400"/>
              </a:spcAft>
            </a:pPr>
            <a:r>
              <a:rPr sz="1400">
                <a:solidFill>
                  <a:srgbClr val="1F2328"/>
                </a:solidFill>
              </a:rPr>
              <a:t>SLO-qualified for a named workload</a:t>
            </a:r>
          </a:p>
        </p:txBody>
      </p:sp>
      <p:sp>
        <p:nvSpPr>
          <p:cNvPr id="28" name="TextBox 27"/>
          <p:cNvSpPr txBox="1"/>
          <p:nvPr/>
        </p:nvSpPr>
        <p:spPr>
          <a:xfrm>
            <a:off x="1325880" y="3200400"/>
            <a:ext cx="685800" cy="896112"/>
          </a:xfrm>
          <a:prstGeom prst="rect">
            <a:avLst/>
          </a:prstGeom>
          <a:noFill/>
        </p:spPr>
        <p:txBody>
          <a:bodyPr wrap="square" anchor="ctr" lIns="0" rIns="0" tIns="0" bIns="0">
            <a:spAutoFit/>
          </a:bodyPr>
          <a:lstStyle/>
          <a:p>
            <a:pPr algn="l">
              <a:spcAft>
                <a:spcPts val="400"/>
              </a:spcAft>
            </a:pPr>
            <a:r>
              <a:rPr sz="2600">
                <a:solidFill>
                  <a:srgbClr val="1F2328"/>
                </a:solidFill>
                <a:latin typeface="+mj-lt"/>
              </a:rPr>
              <a:t>B3</a:t>
            </a:r>
          </a:p>
        </p:txBody>
      </p:sp>
      <p:sp>
        <p:nvSpPr>
          <p:cNvPr id="29" name="TextBox 28"/>
          <p:cNvSpPr txBox="1"/>
          <p:nvPr/>
        </p:nvSpPr>
        <p:spPr>
          <a:xfrm>
            <a:off x="2057400" y="3200400"/>
            <a:ext cx="2606040" cy="896112"/>
          </a:xfrm>
          <a:prstGeom prst="rect">
            <a:avLst/>
          </a:prstGeom>
          <a:noFill/>
        </p:spPr>
        <p:txBody>
          <a:bodyPr wrap="square" anchor="ctr" lIns="0" rIns="0" tIns="0" bIns="0">
            <a:spAutoFit/>
          </a:bodyPr>
          <a:lstStyle/>
          <a:p>
            <a:pPr algn="l">
              <a:spcAft>
                <a:spcPts val="0"/>
              </a:spcAft>
            </a:pPr>
            <a:r>
              <a:rPr sz="1600">
                <a:solidFill>
                  <a:srgbClr val="1F2328"/>
                </a:solidFill>
                <a:latin typeface="+mj-lt"/>
              </a:rPr>
              <a:t>Model serving</a:t>
            </a:r>
          </a:p>
          <a:p>
            <a:pPr algn="l">
              <a:spcAft>
                <a:spcPts val="400"/>
              </a:spcAft>
            </a:pPr>
            <a:r>
              <a:rPr sz="1200">
                <a:solidFill>
                  <a:srgbClr val="5F6670"/>
                </a:solidFill>
              </a:rPr>
              <a:t>Inference Optimization</a:t>
            </a:r>
          </a:p>
        </p:txBody>
      </p:sp>
      <p:sp>
        <p:nvSpPr>
          <p:cNvPr id="30" name="Rounded Rectangle 29"/>
          <p:cNvSpPr/>
          <p:nvPr/>
        </p:nvSpPr>
        <p:spPr>
          <a:xfrm>
            <a:off x="4754880" y="3310128"/>
            <a:ext cx="2788920" cy="676656"/>
          </a:xfrm>
          <a:prstGeom prst="roundRect">
            <a:avLst>
              <a:gd name="adj" fmla="val 20000"/>
            </a:avLst>
          </a:prstGeom>
          <a:solidFill>
            <a:schemeClr val="bg1"/>
          </a:solidFill>
          <a:ln w="12700">
            <a:solidFill>
              <a:srgbClr val="C4C9D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400"/>
              </a:spcAft>
            </a:pPr>
            <a:r>
              <a:rPr sz="1300">
                <a:solidFill>
                  <a:srgbClr val="1F2328"/>
                </a:solidFill>
                <a:latin typeface="+mj-lt"/>
              </a:rPr>
              <a:t>Benchmark Card</a:t>
            </a:r>
          </a:p>
        </p:txBody>
      </p:sp>
      <p:sp>
        <p:nvSpPr>
          <p:cNvPr id="31" name="Right Arrow 30"/>
          <p:cNvSpPr/>
          <p:nvPr/>
        </p:nvSpPr>
        <p:spPr>
          <a:xfrm>
            <a:off x="7607808" y="3557016"/>
            <a:ext cx="201168" cy="182880"/>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09560" y="3200400"/>
            <a:ext cx="3749039" cy="896112"/>
          </a:xfrm>
          <a:prstGeom prst="rect">
            <a:avLst/>
          </a:prstGeom>
          <a:noFill/>
        </p:spPr>
        <p:txBody>
          <a:bodyPr wrap="square" anchor="ctr" lIns="0" rIns="0" tIns="0" bIns="0">
            <a:spAutoFit/>
          </a:bodyPr>
          <a:lstStyle/>
          <a:p>
            <a:pPr algn="l">
              <a:spcAft>
                <a:spcPts val="400"/>
              </a:spcAft>
            </a:pPr>
            <a:r>
              <a:rPr sz="1400">
                <a:solidFill>
                  <a:srgbClr val="1F2328"/>
                </a:solidFill>
              </a:rPr>
              <a:t>Latency and throughput for the exact configuration</a:t>
            </a:r>
          </a:p>
        </p:txBody>
      </p:sp>
      <p:sp>
        <p:nvSpPr>
          <p:cNvPr id="33" name="TextBox 32"/>
          <p:cNvSpPr txBox="1"/>
          <p:nvPr/>
        </p:nvSpPr>
        <p:spPr>
          <a:xfrm>
            <a:off x="1325880" y="4846320"/>
            <a:ext cx="685800" cy="777240"/>
          </a:xfrm>
          <a:prstGeom prst="rect">
            <a:avLst/>
          </a:prstGeom>
          <a:noFill/>
        </p:spPr>
        <p:txBody>
          <a:bodyPr wrap="square" anchor="ctr" lIns="0" rIns="0" tIns="0" bIns="0">
            <a:spAutoFit/>
          </a:bodyPr>
          <a:lstStyle/>
          <a:p>
            <a:pPr algn="l">
              <a:spcAft>
                <a:spcPts val="400"/>
              </a:spcAft>
            </a:pPr>
            <a:r>
              <a:rPr sz="2600">
                <a:solidFill>
                  <a:srgbClr val="1F2328"/>
                </a:solidFill>
                <a:latin typeface="+mj-lt"/>
              </a:rPr>
              <a:t>B2</a:t>
            </a:r>
          </a:p>
        </p:txBody>
      </p:sp>
      <p:sp>
        <p:nvSpPr>
          <p:cNvPr id="34" name="TextBox 33"/>
          <p:cNvSpPr txBox="1"/>
          <p:nvPr/>
        </p:nvSpPr>
        <p:spPr>
          <a:xfrm>
            <a:off x="2057400" y="4846320"/>
            <a:ext cx="2606040" cy="777240"/>
          </a:xfrm>
          <a:prstGeom prst="rect">
            <a:avLst/>
          </a:prstGeom>
          <a:noFill/>
        </p:spPr>
        <p:txBody>
          <a:bodyPr wrap="square" anchor="ctr" lIns="0" rIns="0" tIns="0" bIns="0">
            <a:spAutoFit/>
          </a:bodyPr>
          <a:lstStyle/>
          <a:p>
            <a:pPr algn="l">
              <a:spcAft>
                <a:spcPts val="0"/>
              </a:spcAft>
            </a:pPr>
            <a:r>
              <a:rPr sz="1600">
                <a:solidFill>
                  <a:srgbClr val="1F2328"/>
                </a:solidFill>
                <a:latin typeface="+mj-lt"/>
              </a:rPr>
              <a:t>Cluster &amp; AI infrastructure</a:t>
            </a:r>
          </a:p>
          <a:p>
            <a:pPr algn="l">
              <a:spcAft>
                <a:spcPts val="400"/>
              </a:spcAft>
            </a:pPr>
            <a:r>
              <a:rPr sz="1200">
                <a:solidFill>
                  <a:srgbClr val="5F6670"/>
                </a:solidFill>
              </a:rPr>
              <a:t>Infra</a:t>
            </a:r>
          </a:p>
        </p:txBody>
      </p:sp>
      <p:sp>
        <p:nvSpPr>
          <p:cNvPr id="35" name="Rounded Rectangle 34"/>
          <p:cNvSpPr/>
          <p:nvPr/>
        </p:nvSpPr>
        <p:spPr>
          <a:xfrm>
            <a:off x="4754880" y="4956048"/>
            <a:ext cx="2788920" cy="557784"/>
          </a:xfrm>
          <a:prstGeom prst="roundRect">
            <a:avLst>
              <a:gd name="adj" fmla="val 20000"/>
            </a:avLst>
          </a:prstGeom>
          <a:solidFill>
            <a:schemeClr val="bg1"/>
          </a:solidFill>
          <a:ln w="12700">
            <a:solidFill>
              <a:srgbClr val="C4C9D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400"/>
              </a:spcAft>
            </a:pPr>
            <a:r>
              <a:rPr sz="1300">
                <a:solidFill>
                  <a:srgbClr val="1F2328"/>
                </a:solidFill>
                <a:latin typeface="+mj-lt"/>
              </a:rPr>
              <a:t>Validated Cluster Profile</a:t>
            </a:r>
          </a:p>
        </p:txBody>
      </p:sp>
      <p:sp>
        <p:nvSpPr>
          <p:cNvPr id="36" name="Right Arrow 35"/>
          <p:cNvSpPr/>
          <p:nvPr/>
        </p:nvSpPr>
        <p:spPr>
          <a:xfrm>
            <a:off x="7607808" y="5143500"/>
            <a:ext cx="201168" cy="182880"/>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09560" y="4846320"/>
            <a:ext cx="3749039" cy="777240"/>
          </a:xfrm>
          <a:prstGeom prst="rect">
            <a:avLst/>
          </a:prstGeom>
          <a:noFill/>
        </p:spPr>
        <p:txBody>
          <a:bodyPr wrap="square" anchor="ctr" lIns="0" rIns="0" tIns="0" bIns="0">
            <a:spAutoFit/>
          </a:bodyPr>
          <a:lstStyle/>
          <a:p>
            <a:pPr algn="l">
              <a:spcAft>
                <a:spcPts val="400"/>
              </a:spcAft>
            </a:pPr>
            <a:r>
              <a:rPr sz="1400">
                <a:solidFill>
                  <a:srgbClr val="1F2328"/>
                </a:solidFill>
              </a:rPr>
              <a:t>Deployed and validated</a:t>
            </a:r>
          </a:p>
        </p:txBody>
      </p:sp>
      <p:sp>
        <p:nvSpPr>
          <p:cNvPr id="38" name="TextBox 37"/>
          <p:cNvSpPr txBox="1"/>
          <p:nvPr/>
        </p:nvSpPr>
        <p:spPr>
          <a:xfrm>
            <a:off x="1325880" y="5669280"/>
            <a:ext cx="685800" cy="777240"/>
          </a:xfrm>
          <a:prstGeom prst="rect">
            <a:avLst/>
          </a:prstGeom>
          <a:noFill/>
        </p:spPr>
        <p:txBody>
          <a:bodyPr wrap="square" anchor="ctr" lIns="0" rIns="0" tIns="0" bIns="0">
            <a:spAutoFit/>
          </a:bodyPr>
          <a:lstStyle/>
          <a:p>
            <a:pPr algn="l">
              <a:spcAft>
                <a:spcPts val="400"/>
              </a:spcAft>
            </a:pPr>
            <a:r>
              <a:rPr sz="2600">
                <a:solidFill>
                  <a:srgbClr val="1F2328"/>
                </a:solidFill>
                <a:latin typeface="+mj-lt"/>
              </a:rPr>
              <a:t>B1</a:t>
            </a:r>
          </a:p>
        </p:txBody>
      </p:sp>
      <p:sp>
        <p:nvSpPr>
          <p:cNvPr id="39" name="TextBox 38"/>
          <p:cNvSpPr txBox="1"/>
          <p:nvPr/>
        </p:nvSpPr>
        <p:spPr>
          <a:xfrm>
            <a:off x="2057400" y="5669280"/>
            <a:ext cx="2606040" cy="777240"/>
          </a:xfrm>
          <a:prstGeom prst="rect">
            <a:avLst/>
          </a:prstGeom>
          <a:noFill/>
        </p:spPr>
        <p:txBody>
          <a:bodyPr wrap="square" anchor="ctr" lIns="0" rIns="0" tIns="0" bIns="0">
            <a:spAutoFit/>
          </a:bodyPr>
          <a:lstStyle/>
          <a:p>
            <a:pPr algn="l">
              <a:spcAft>
                <a:spcPts val="0"/>
              </a:spcAft>
            </a:pPr>
            <a:r>
              <a:rPr sz="1600">
                <a:solidFill>
                  <a:srgbClr val="1F2328"/>
                </a:solidFill>
                <a:latin typeface="+mj-lt"/>
              </a:rPr>
              <a:t>Silicon &amp; node</a:t>
            </a:r>
          </a:p>
          <a:p>
            <a:pPr algn="l">
              <a:spcAft>
                <a:spcPts val="400"/>
              </a:spcAft>
            </a:pPr>
            <a:r>
              <a:rPr sz="1200">
                <a:solidFill>
                  <a:srgbClr val="5F6670"/>
                </a:solidFill>
              </a:rPr>
              <a:t>Infra</a:t>
            </a:r>
          </a:p>
        </p:txBody>
      </p:sp>
      <p:sp>
        <p:nvSpPr>
          <p:cNvPr id="40" name="Rounded Rectangle 39"/>
          <p:cNvSpPr/>
          <p:nvPr/>
        </p:nvSpPr>
        <p:spPr>
          <a:xfrm>
            <a:off x="4754880" y="5779008"/>
            <a:ext cx="2788920" cy="557784"/>
          </a:xfrm>
          <a:prstGeom prst="roundRect">
            <a:avLst>
              <a:gd name="adj" fmla="val 20000"/>
            </a:avLst>
          </a:prstGeom>
          <a:solidFill>
            <a:schemeClr val="bg1"/>
          </a:solidFill>
          <a:ln w="12700">
            <a:solidFill>
              <a:srgbClr val="C4C9D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400"/>
              </a:spcAft>
            </a:pPr>
            <a:r>
              <a:rPr sz="1300">
                <a:solidFill>
                  <a:srgbClr val="1F2328"/>
                </a:solidFill>
                <a:latin typeface="+mj-lt"/>
              </a:rPr>
              <a:t>Node Acceptance Record</a:t>
            </a:r>
          </a:p>
        </p:txBody>
      </p:sp>
      <p:sp>
        <p:nvSpPr>
          <p:cNvPr id="41" name="Right Arrow 40"/>
          <p:cNvSpPr/>
          <p:nvPr/>
        </p:nvSpPr>
        <p:spPr>
          <a:xfrm>
            <a:off x="7607808" y="5966460"/>
            <a:ext cx="201168" cy="182880"/>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09560" y="5669280"/>
            <a:ext cx="3749039" cy="777240"/>
          </a:xfrm>
          <a:prstGeom prst="rect">
            <a:avLst/>
          </a:prstGeom>
          <a:noFill/>
        </p:spPr>
        <p:txBody>
          <a:bodyPr wrap="square" anchor="ctr" lIns="0" rIns="0" tIns="0" bIns="0">
            <a:spAutoFit/>
          </a:bodyPr>
          <a:lstStyle/>
          <a:p>
            <a:pPr algn="l">
              <a:spcAft>
                <a:spcPts val="400"/>
              </a:spcAft>
            </a:pPr>
            <a:r>
              <a:rPr sz="1400">
                <a:solidFill>
                  <a:srgbClr val="1F2328"/>
                </a:solidFill>
              </a:rPr>
              <a:t>Internal only: nodes accepted to spec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Start small, and widen </a:t>
            </a:r>
            <a:r>
              <a:rPr sz="3200">
                <a:solidFill>
                  <a:schemeClr val="accent1"/>
                </a:solidFill>
              </a:rPr>
              <a:t>only when it matters</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0" name="Rounded Rectangle 9"/>
          <p:cNvSpPr/>
          <p:nvPr/>
        </p:nvSpPr>
        <p:spPr>
          <a:xfrm>
            <a:off x="10607040" y="384048"/>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1" name="Rounded Rectangle 10"/>
          <p:cNvSpPr/>
          <p:nvPr/>
        </p:nvSpPr>
        <p:spPr>
          <a:xfrm>
            <a:off x="365760" y="1188720"/>
            <a:ext cx="2743200" cy="4754880"/>
          </a:xfrm>
          <a:prstGeom prst="roundRect">
            <a:avLst>
              <a:gd name="adj" fmla="val 6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2" name="TextBox 11"/>
          <p:cNvSpPr txBox="1"/>
          <p:nvPr/>
        </p:nvSpPr>
        <p:spPr>
          <a:xfrm>
            <a:off x="594360" y="1371600"/>
            <a:ext cx="228600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PASS 0</a:t>
            </a:r>
          </a:p>
        </p:txBody>
      </p:sp>
      <p:sp>
        <p:nvSpPr>
          <p:cNvPr id="13" name="TextBox 12"/>
          <p:cNvSpPr txBox="1"/>
          <p:nvPr/>
        </p:nvSpPr>
        <p:spPr>
          <a:xfrm>
            <a:off x="594360" y="1691640"/>
            <a:ext cx="2331720" cy="548640"/>
          </a:xfrm>
          <a:prstGeom prst="rect">
            <a:avLst/>
          </a:prstGeom>
          <a:noFill/>
        </p:spPr>
        <p:txBody>
          <a:bodyPr wrap="square" anchor="t" lIns="0" rIns="0" tIns="0" bIns="0">
            <a:spAutoFit/>
          </a:bodyPr>
          <a:lstStyle/>
          <a:p>
            <a:pPr algn="l">
              <a:spcAft>
                <a:spcPts val="400"/>
              </a:spcAft>
            </a:pPr>
            <a:r>
              <a:rPr sz="1700">
                <a:solidFill>
                  <a:srgbClr val="1F2328"/>
                </a:solidFill>
                <a:latin typeface="+mj-lt"/>
              </a:rPr>
              <a:t>Confirm</a:t>
            </a:r>
          </a:p>
        </p:txBody>
      </p:sp>
      <p:sp>
        <p:nvSpPr>
          <p:cNvPr id="14" name="TextBox 13"/>
          <p:cNvSpPr txBox="1"/>
          <p:nvPr/>
        </p:nvSpPr>
        <p:spPr>
          <a:xfrm>
            <a:off x="594360" y="2423160"/>
            <a:ext cx="2286000" cy="274320"/>
          </a:xfrm>
          <a:prstGeom prst="rect">
            <a:avLst/>
          </a:prstGeom>
          <a:noFill/>
        </p:spPr>
        <p:txBody>
          <a:bodyPr wrap="square" anchor="t" lIns="0" rIns="0" tIns="0" bIns="0">
            <a:spAutoFit/>
          </a:bodyPr>
          <a:lstStyle/>
          <a:p>
            <a:pPr algn="l">
              <a:spcAft>
                <a:spcPts val="400"/>
              </a:spcAft>
            </a:pPr>
            <a:r>
              <a:rPr sz="1000">
                <a:solidFill>
                  <a:schemeClr val="accent1"/>
                </a:solidFill>
                <a:latin typeface="+mj-lt"/>
              </a:rPr>
              <a:t>DECISION IT UNLOCKS</a:t>
            </a:r>
          </a:p>
        </p:txBody>
      </p:sp>
      <p:sp>
        <p:nvSpPr>
          <p:cNvPr id="15" name="TextBox 14"/>
          <p:cNvSpPr txBox="1"/>
          <p:nvPr/>
        </p:nvSpPr>
        <p:spPr>
          <a:xfrm>
            <a:off x="594360" y="2697480"/>
            <a:ext cx="2331720" cy="1188720"/>
          </a:xfrm>
          <a:prstGeom prst="rect">
            <a:avLst/>
          </a:prstGeom>
          <a:noFill/>
        </p:spPr>
        <p:txBody>
          <a:bodyPr wrap="square" anchor="t" lIns="0" rIns="0" tIns="0" bIns="0">
            <a:spAutoFit/>
          </a:bodyPr>
          <a:lstStyle/>
          <a:p>
            <a:pPr algn="l">
              <a:spcAft>
                <a:spcPts val="400"/>
              </a:spcAft>
            </a:pPr>
            <a:r>
              <a:rPr sz="2300">
                <a:solidFill>
                  <a:srgbClr val="1F2328"/>
                </a:solidFill>
                <a:latin typeface="+mj-lt"/>
              </a:rPr>
              <a:t>Unblocks the test matrix</a:t>
            </a:r>
          </a:p>
        </p:txBody>
      </p:sp>
      <p:sp>
        <p:nvSpPr>
          <p:cNvPr id="16" name="TextBox 15"/>
          <p:cNvSpPr txBox="1"/>
          <p:nvPr/>
        </p:nvSpPr>
        <p:spPr>
          <a:xfrm>
            <a:off x="594360" y="4114800"/>
            <a:ext cx="2331720" cy="1188720"/>
          </a:xfrm>
          <a:prstGeom prst="rect">
            <a:avLst/>
          </a:prstGeom>
          <a:noFill/>
        </p:spPr>
        <p:txBody>
          <a:bodyPr wrap="square" anchor="t" lIns="0" rIns="0" tIns="0" bIns="0">
            <a:spAutoFit/>
          </a:bodyPr>
          <a:lstStyle/>
          <a:p>
            <a:pPr algn="l">
              <a:spcAft>
                <a:spcPts val="400"/>
              </a:spcAft>
            </a:pPr>
            <a:r>
              <a:rPr sz="1200">
                <a:solidFill>
                  <a:srgbClr val="5F6670"/>
                </a:solidFill>
              </a:rPr>
              <a:t>Topology and memory · runtime compatibility · GPUs per replica</a:t>
            </a:r>
          </a:p>
        </p:txBody>
      </p:sp>
      <p:sp>
        <p:nvSpPr>
          <p:cNvPr id="17" name="Rounded Rectangle 16"/>
          <p:cNvSpPr/>
          <p:nvPr/>
        </p:nvSpPr>
        <p:spPr>
          <a:xfrm>
            <a:off x="594360" y="5440680"/>
            <a:ext cx="1920240" cy="292608"/>
          </a:xfrm>
          <a:prstGeom prst="roundRect">
            <a:avLst>
              <a:gd name="adj" fmla="val 50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accent1"/>
                </a:solidFill>
                <a:latin typeface="+mj-lt"/>
              </a:rPr>
              <a:t>Blocked on topology</a:t>
            </a:r>
          </a:p>
        </p:txBody>
      </p:sp>
      <p:sp>
        <p:nvSpPr>
          <p:cNvPr id="18" name="Right Arrow 17"/>
          <p:cNvSpPr/>
          <p:nvPr/>
        </p:nvSpPr>
        <p:spPr>
          <a:xfrm>
            <a:off x="3108960" y="3017520"/>
            <a:ext cx="155448" cy="274320"/>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264408" y="1188720"/>
            <a:ext cx="2743200" cy="4754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20" name="TextBox 19"/>
          <p:cNvSpPr txBox="1"/>
          <p:nvPr/>
        </p:nvSpPr>
        <p:spPr>
          <a:xfrm>
            <a:off x="3493008" y="1371600"/>
            <a:ext cx="228600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PASS 1 · B1–B2</a:t>
            </a:r>
          </a:p>
        </p:txBody>
      </p:sp>
      <p:sp>
        <p:nvSpPr>
          <p:cNvPr id="21" name="TextBox 20"/>
          <p:cNvSpPr txBox="1"/>
          <p:nvPr/>
        </p:nvSpPr>
        <p:spPr>
          <a:xfrm>
            <a:off x="3493008" y="1691640"/>
            <a:ext cx="2331720" cy="548640"/>
          </a:xfrm>
          <a:prstGeom prst="rect">
            <a:avLst/>
          </a:prstGeom>
          <a:noFill/>
        </p:spPr>
        <p:txBody>
          <a:bodyPr wrap="square" anchor="t" lIns="0" rIns="0" tIns="0" bIns="0">
            <a:spAutoFit/>
          </a:bodyPr>
          <a:lstStyle/>
          <a:p>
            <a:pPr algn="l">
              <a:spcAft>
                <a:spcPts val="400"/>
              </a:spcAft>
            </a:pPr>
            <a:r>
              <a:rPr sz="1700">
                <a:solidFill>
                  <a:srgbClr val="1F2328"/>
                </a:solidFill>
                <a:latin typeface="+mj-lt"/>
              </a:rPr>
              <a:t>Baseline</a:t>
            </a:r>
          </a:p>
        </p:txBody>
      </p:sp>
      <p:sp>
        <p:nvSpPr>
          <p:cNvPr id="22" name="TextBox 21"/>
          <p:cNvSpPr txBox="1"/>
          <p:nvPr/>
        </p:nvSpPr>
        <p:spPr>
          <a:xfrm>
            <a:off x="3493008" y="2423160"/>
            <a:ext cx="2286000" cy="274320"/>
          </a:xfrm>
          <a:prstGeom prst="rect">
            <a:avLst/>
          </a:prstGeom>
          <a:noFill/>
        </p:spPr>
        <p:txBody>
          <a:bodyPr wrap="square" anchor="t" lIns="0" rIns="0" tIns="0" bIns="0">
            <a:spAutoFit/>
          </a:bodyPr>
          <a:lstStyle/>
          <a:p>
            <a:pPr algn="l">
              <a:spcAft>
                <a:spcPts val="400"/>
              </a:spcAft>
            </a:pPr>
            <a:r>
              <a:rPr sz="1000">
                <a:solidFill>
                  <a:schemeClr val="accent1"/>
                </a:solidFill>
                <a:latin typeface="+mj-lt"/>
              </a:rPr>
              <a:t>DECISION IT UNLOCKS</a:t>
            </a:r>
          </a:p>
        </p:txBody>
      </p:sp>
      <p:sp>
        <p:nvSpPr>
          <p:cNvPr id="23" name="TextBox 22"/>
          <p:cNvSpPr txBox="1"/>
          <p:nvPr/>
        </p:nvSpPr>
        <p:spPr>
          <a:xfrm>
            <a:off x="3493008" y="2697480"/>
            <a:ext cx="2331720" cy="1188720"/>
          </a:xfrm>
          <a:prstGeom prst="rect">
            <a:avLst/>
          </a:prstGeom>
          <a:noFill/>
        </p:spPr>
        <p:txBody>
          <a:bodyPr wrap="square" anchor="t" lIns="0" rIns="0" tIns="0" bIns="0">
            <a:spAutoFit/>
          </a:bodyPr>
          <a:lstStyle/>
          <a:p>
            <a:pPr algn="l">
              <a:spcAft>
                <a:spcPts val="400"/>
              </a:spcAft>
            </a:pPr>
            <a:r>
              <a:rPr sz="2300">
                <a:solidFill>
                  <a:srgbClr val="1F2328"/>
                </a:solidFill>
                <a:latin typeface="+mj-lt"/>
              </a:rPr>
              <a:t>Hardware acceptance</a:t>
            </a:r>
          </a:p>
        </p:txBody>
      </p:sp>
      <p:sp>
        <p:nvSpPr>
          <p:cNvPr id="24" name="TextBox 23"/>
          <p:cNvSpPr txBox="1"/>
          <p:nvPr/>
        </p:nvSpPr>
        <p:spPr>
          <a:xfrm>
            <a:off x="3493008" y="4114800"/>
            <a:ext cx="2331720" cy="1188720"/>
          </a:xfrm>
          <a:prstGeom prst="rect">
            <a:avLst/>
          </a:prstGeom>
          <a:noFill/>
        </p:spPr>
        <p:txBody>
          <a:bodyPr wrap="square" anchor="t" lIns="0" rIns="0" tIns="0" bIns="0">
            <a:spAutoFit/>
          </a:bodyPr>
          <a:lstStyle/>
          <a:p>
            <a:pPr algn="l">
              <a:spcAft>
                <a:spcPts val="400"/>
              </a:spcAft>
            </a:pPr>
            <a:r>
              <a:rPr sz="1200">
                <a:solidFill>
                  <a:srgbClr val="5F6670"/>
                </a:solidFill>
              </a:rPr>
              <a:t>Node acceptance · collectives · AMD reference comparison</a:t>
            </a:r>
          </a:p>
        </p:txBody>
      </p:sp>
      <p:sp>
        <p:nvSpPr>
          <p:cNvPr id="25" name="Right Arrow 24"/>
          <p:cNvSpPr/>
          <p:nvPr/>
        </p:nvSpPr>
        <p:spPr>
          <a:xfrm>
            <a:off x="6007608" y="3017520"/>
            <a:ext cx="155448" cy="274320"/>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163056" y="1188720"/>
            <a:ext cx="2743200" cy="4754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27" name="TextBox 26"/>
          <p:cNvSpPr txBox="1"/>
          <p:nvPr/>
        </p:nvSpPr>
        <p:spPr>
          <a:xfrm>
            <a:off x="6391656" y="1371600"/>
            <a:ext cx="228600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PASS 2 · B3</a:t>
            </a:r>
          </a:p>
        </p:txBody>
      </p:sp>
      <p:sp>
        <p:nvSpPr>
          <p:cNvPr id="28" name="TextBox 27"/>
          <p:cNvSpPr txBox="1"/>
          <p:nvPr/>
        </p:nvSpPr>
        <p:spPr>
          <a:xfrm>
            <a:off x="6391656" y="1691640"/>
            <a:ext cx="2331720" cy="548640"/>
          </a:xfrm>
          <a:prstGeom prst="rect">
            <a:avLst/>
          </a:prstGeom>
          <a:noFill/>
        </p:spPr>
        <p:txBody>
          <a:bodyPr wrap="square" anchor="t" lIns="0" rIns="0" tIns="0" bIns="0">
            <a:spAutoFit/>
          </a:bodyPr>
          <a:lstStyle/>
          <a:p>
            <a:pPr algn="l">
              <a:spcAft>
                <a:spcPts val="400"/>
              </a:spcAft>
            </a:pPr>
            <a:r>
              <a:rPr sz="1700">
                <a:solidFill>
                  <a:srgbClr val="1F2328"/>
                </a:solidFill>
                <a:latin typeface="+mj-lt"/>
              </a:rPr>
              <a:t>Best serving configuration</a:t>
            </a:r>
          </a:p>
        </p:txBody>
      </p:sp>
      <p:sp>
        <p:nvSpPr>
          <p:cNvPr id="29" name="TextBox 28"/>
          <p:cNvSpPr txBox="1"/>
          <p:nvPr/>
        </p:nvSpPr>
        <p:spPr>
          <a:xfrm>
            <a:off x="6391656" y="2423160"/>
            <a:ext cx="2286000" cy="274320"/>
          </a:xfrm>
          <a:prstGeom prst="rect">
            <a:avLst/>
          </a:prstGeom>
          <a:noFill/>
        </p:spPr>
        <p:txBody>
          <a:bodyPr wrap="square" anchor="t" lIns="0" rIns="0" tIns="0" bIns="0">
            <a:spAutoFit/>
          </a:bodyPr>
          <a:lstStyle/>
          <a:p>
            <a:pPr algn="l">
              <a:spcAft>
                <a:spcPts val="400"/>
              </a:spcAft>
            </a:pPr>
            <a:r>
              <a:rPr sz="1000">
                <a:solidFill>
                  <a:schemeClr val="accent1"/>
                </a:solidFill>
                <a:latin typeface="+mj-lt"/>
              </a:rPr>
              <a:t>DECISION IT UNLOCKS</a:t>
            </a:r>
          </a:p>
        </p:txBody>
      </p:sp>
      <p:sp>
        <p:nvSpPr>
          <p:cNvPr id="30" name="TextBox 29"/>
          <p:cNvSpPr txBox="1"/>
          <p:nvPr/>
        </p:nvSpPr>
        <p:spPr>
          <a:xfrm>
            <a:off x="6391656" y="2697480"/>
            <a:ext cx="2331720" cy="1188720"/>
          </a:xfrm>
          <a:prstGeom prst="rect">
            <a:avLst/>
          </a:prstGeom>
          <a:noFill/>
        </p:spPr>
        <p:txBody>
          <a:bodyPr wrap="square" anchor="t" lIns="0" rIns="0" tIns="0" bIns="0">
            <a:spAutoFit/>
          </a:bodyPr>
          <a:lstStyle/>
          <a:p>
            <a:pPr algn="l">
              <a:spcAft>
                <a:spcPts val="400"/>
              </a:spcAft>
            </a:pPr>
            <a:r>
              <a:rPr sz="2300">
                <a:solidFill>
                  <a:srgbClr val="1F2328"/>
                </a:solidFill>
                <a:latin typeface="+mj-lt"/>
              </a:rPr>
              <a:t>Default serving configuration</a:t>
            </a:r>
          </a:p>
        </p:txBody>
      </p:sp>
      <p:sp>
        <p:nvSpPr>
          <p:cNvPr id="31" name="TextBox 30"/>
          <p:cNvSpPr txBox="1"/>
          <p:nvPr/>
        </p:nvSpPr>
        <p:spPr>
          <a:xfrm>
            <a:off x="6391656" y="4114800"/>
            <a:ext cx="2331720" cy="1188720"/>
          </a:xfrm>
          <a:prstGeom prst="rect">
            <a:avLst/>
          </a:prstGeom>
          <a:noFill/>
        </p:spPr>
        <p:txBody>
          <a:bodyPr wrap="square" anchor="t" lIns="0" rIns="0" tIns="0" bIns="0">
            <a:spAutoFit/>
          </a:bodyPr>
          <a:lstStyle/>
          <a:p>
            <a:pPr algn="l">
              <a:spcAft>
                <a:spcPts val="400"/>
              </a:spcAft>
            </a:pPr>
            <a:r>
              <a:rPr sz="1200">
                <a:solidFill>
                  <a:srgbClr val="5F6670"/>
                </a:solidFill>
              </a:rPr>
              <a:t>GLM 5.3 Flash · Interactive + Throughput · best parallelism</a:t>
            </a:r>
          </a:p>
        </p:txBody>
      </p:sp>
      <p:sp>
        <p:nvSpPr>
          <p:cNvPr id="32" name="Right Arrow 31"/>
          <p:cNvSpPr/>
          <p:nvPr/>
        </p:nvSpPr>
        <p:spPr>
          <a:xfrm>
            <a:off x="8906256" y="3017520"/>
            <a:ext cx="155448" cy="274320"/>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061704" y="1188720"/>
            <a:ext cx="2743200" cy="47548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34" name="TextBox 33"/>
          <p:cNvSpPr txBox="1"/>
          <p:nvPr/>
        </p:nvSpPr>
        <p:spPr>
          <a:xfrm>
            <a:off x="9290304" y="1371600"/>
            <a:ext cx="228600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PASS 3 · B4–B5</a:t>
            </a:r>
          </a:p>
        </p:txBody>
      </p:sp>
      <p:sp>
        <p:nvSpPr>
          <p:cNvPr id="35" name="TextBox 34"/>
          <p:cNvSpPr txBox="1"/>
          <p:nvPr/>
        </p:nvSpPr>
        <p:spPr>
          <a:xfrm>
            <a:off x="9290304" y="1691640"/>
            <a:ext cx="2331720" cy="548640"/>
          </a:xfrm>
          <a:prstGeom prst="rect">
            <a:avLst/>
          </a:prstGeom>
          <a:noFill/>
        </p:spPr>
        <p:txBody>
          <a:bodyPr wrap="square" anchor="t" lIns="0" rIns="0" tIns="0" bIns="0">
            <a:spAutoFit/>
          </a:bodyPr>
          <a:lstStyle/>
          <a:p>
            <a:pPr algn="l">
              <a:spcAft>
                <a:spcPts val="400"/>
              </a:spcAft>
            </a:pPr>
            <a:r>
              <a:rPr sz="1700">
                <a:solidFill>
                  <a:srgbClr val="1F2328"/>
                </a:solidFill>
                <a:latin typeface="+mj-lt"/>
              </a:rPr>
              <a:t>Enterprise readiness</a:t>
            </a:r>
          </a:p>
        </p:txBody>
      </p:sp>
      <p:sp>
        <p:nvSpPr>
          <p:cNvPr id="36" name="TextBox 35"/>
          <p:cNvSpPr txBox="1"/>
          <p:nvPr/>
        </p:nvSpPr>
        <p:spPr>
          <a:xfrm>
            <a:off x="9290304" y="2423160"/>
            <a:ext cx="2286000" cy="274320"/>
          </a:xfrm>
          <a:prstGeom prst="rect">
            <a:avLst/>
          </a:prstGeom>
          <a:noFill/>
        </p:spPr>
        <p:txBody>
          <a:bodyPr wrap="square" anchor="t" lIns="0" rIns="0" tIns="0" bIns="0">
            <a:spAutoFit/>
          </a:bodyPr>
          <a:lstStyle/>
          <a:p>
            <a:pPr algn="l">
              <a:spcAft>
                <a:spcPts val="400"/>
              </a:spcAft>
            </a:pPr>
            <a:r>
              <a:rPr sz="1000">
                <a:solidFill>
                  <a:schemeClr val="accent1"/>
                </a:solidFill>
                <a:latin typeface="+mj-lt"/>
              </a:rPr>
              <a:t>DECISION IT UNLOCKS</a:t>
            </a:r>
          </a:p>
        </p:txBody>
      </p:sp>
      <p:sp>
        <p:nvSpPr>
          <p:cNvPr id="37" name="TextBox 36"/>
          <p:cNvSpPr txBox="1"/>
          <p:nvPr/>
        </p:nvSpPr>
        <p:spPr>
          <a:xfrm>
            <a:off x="9290304" y="2697480"/>
            <a:ext cx="2331720" cy="1188720"/>
          </a:xfrm>
          <a:prstGeom prst="rect">
            <a:avLst/>
          </a:prstGeom>
          <a:noFill/>
        </p:spPr>
        <p:txBody>
          <a:bodyPr wrap="square" anchor="t" lIns="0" rIns="0" tIns="0" bIns="0">
            <a:spAutoFit/>
          </a:bodyPr>
          <a:lstStyle/>
          <a:p>
            <a:pPr algn="l">
              <a:spcAft>
                <a:spcPts val="400"/>
              </a:spcAft>
            </a:pPr>
            <a:r>
              <a:rPr sz="2300">
                <a:solidFill>
                  <a:srgbClr val="1F2328"/>
                </a:solidFill>
                <a:latin typeface="+mj-lt"/>
              </a:rPr>
              <a:t>Launch gate, then pricing</a:t>
            </a:r>
          </a:p>
        </p:txBody>
      </p:sp>
      <p:sp>
        <p:nvSpPr>
          <p:cNvPr id="38" name="TextBox 37"/>
          <p:cNvSpPr txBox="1"/>
          <p:nvPr/>
        </p:nvSpPr>
        <p:spPr>
          <a:xfrm>
            <a:off x="9290304" y="4114800"/>
            <a:ext cx="2331720" cy="1188720"/>
          </a:xfrm>
          <a:prstGeom prst="rect">
            <a:avLst/>
          </a:prstGeom>
          <a:noFill/>
        </p:spPr>
        <p:txBody>
          <a:bodyPr wrap="square" anchor="t" lIns="0" rIns="0" tIns="0" bIns="0">
            <a:spAutoFit/>
          </a:bodyPr>
          <a:lstStyle/>
          <a:p>
            <a:pPr algn="l">
              <a:spcAft>
                <a:spcPts val="400"/>
              </a:spcAft>
            </a:pPr>
            <a:r>
              <a:rPr sz="1200">
                <a:solidFill>
                  <a:srgbClr val="5F6670"/>
                </a:solidFill>
              </a:rPr>
              <a:t>Isolation · failover · soak · no uncontrolled egress · cost</a:t>
            </a:r>
          </a:p>
        </p:txBody>
      </p:sp>
      <p:sp>
        <p:nvSpPr>
          <p:cNvPr id="39" name="TextBox 38"/>
          <p:cNvSpPr txBox="1"/>
          <p:nvPr/>
        </p:nvSpPr>
        <p:spPr>
          <a:xfrm>
            <a:off x="365760" y="6172200"/>
            <a:ext cx="11430000" cy="365760"/>
          </a:xfrm>
          <a:prstGeom prst="rect">
            <a:avLst/>
          </a:prstGeom>
          <a:noFill/>
        </p:spPr>
        <p:txBody>
          <a:bodyPr wrap="square" anchor="t" lIns="0" rIns="0" tIns="0" bIns="0">
            <a:spAutoFit/>
          </a:bodyPr>
          <a:lstStyle/>
          <a:p>
            <a:pPr algn="l">
              <a:spcAft>
                <a:spcPts val="400"/>
              </a:spcAft>
            </a:pPr>
            <a:r>
              <a:rPr sz="1300">
                <a:solidFill>
                  <a:srgbClr val="5F6670"/>
                </a:solidFill>
              </a:rPr>
              <a:t>One reference model, then GLM 5.3 Flash on two workloads. Not a 160-cell test grid.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Four MI350P decisions </a:t>
            </a:r>
            <a:r>
              <a:rPr sz="3200">
                <a:solidFill>
                  <a:schemeClr val="accent1"/>
                </a:solidFill>
              </a:rPr>
              <a:t>to leave with</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0" name="Rounded Rectangle 9"/>
          <p:cNvSpPr/>
          <p:nvPr/>
        </p:nvSpPr>
        <p:spPr>
          <a:xfrm>
            <a:off x="9464040" y="384048"/>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1" name="Rounded Rectangle 10"/>
          <p:cNvSpPr/>
          <p:nvPr/>
        </p:nvSpPr>
        <p:spPr>
          <a:xfrm>
            <a:off x="10744200" y="384048"/>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2" name="TextBox 11"/>
          <p:cNvSpPr txBox="1"/>
          <p:nvPr/>
        </p:nvSpPr>
        <p:spPr>
          <a:xfrm>
            <a:off x="365760" y="1097280"/>
            <a:ext cx="11430000" cy="365760"/>
          </a:xfrm>
          <a:prstGeom prst="rect">
            <a:avLst/>
          </a:prstGeom>
          <a:noFill/>
        </p:spPr>
        <p:txBody>
          <a:bodyPr wrap="square" anchor="t" lIns="0" rIns="0" tIns="0" bIns="0">
            <a:spAutoFit/>
          </a:bodyPr>
          <a:lstStyle/>
          <a:p>
            <a:pPr algn="l">
              <a:spcAft>
                <a:spcPts val="400"/>
              </a:spcAft>
            </a:pPr>
            <a:r>
              <a:rPr sz="1600">
                <a:solidFill>
                  <a:srgbClr val="5F6670"/>
                </a:solidFill>
              </a:rPr>
              <a:t>Decided in the room, or an owner and a date.</a:t>
            </a:r>
          </a:p>
        </p:txBody>
      </p:sp>
      <p:sp>
        <p:nvSpPr>
          <p:cNvPr id="13" name="Rounded Rectangle 12"/>
          <p:cNvSpPr/>
          <p:nvPr/>
        </p:nvSpPr>
        <p:spPr>
          <a:xfrm>
            <a:off x="365760" y="1737360"/>
            <a:ext cx="2743200" cy="452628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14" name="Picture 13" descr="server.png"/>
          <p:cNvPicPr>
            <a:picLocks noChangeAspect="1"/>
          </p:cNvPicPr>
          <p:nvPr/>
        </p:nvPicPr>
        <p:blipFill>
          <a:blip r:embed="rId2"/>
          <a:stretch>
            <a:fillRect/>
          </a:stretch>
        </p:blipFill>
        <p:spPr>
          <a:xfrm>
            <a:off x="594360" y="1965960"/>
            <a:ext cx="411480" cy="411480"/>
          </a:xfrm>
          <a:prstGeom prst="rect">
            <a:avLst/>
          </a:prstGeom>
        </p:spPr>
      </p:pic>
      <p:sp>
        <p:nvSpPr>
          <p:cNvPr id="15" name="TextBox 14"/>
          <p:cNvSpPr txBox="1"/>
          <p:nvPr/>
        </p:nvSpPr>
        <p:spPr>
          <a:xfrm>
            <a:off x="1143000" y="2057400"/>
            <a:ext cx="1828800" cy="274320"/>
          </a:xfrm>
          <a:prstGeom prst="rect">
            <a:avLst/>
          </a:prstGeom>
          <a:noFill/>
        </p:spPr>
        <p:txBody>
          <a:bodyPr wrap="square" anchor="t" lIns="0" rIns="0" tIns="0" bIns="0">
            <a:spAutoFit/>
          </a:bodyPr>
          <a:lstStyle/>
          <a:p>
            <a:pPr algn="l">
              <a:spcAft>
                <a:spcPts val="400"/>
              </a:spcAft>
            </a:pPr>
            <a:r>
              <a:rPr sz="1000">
                <a:solidFill>
                  <a:srgbClr val="1F2328"/>
                </a:solidFill>
                <a:latin typeface="+mj-lt"/>
              </a:rPr>
              <a:t>INFRA · FIRST</a:t>
            </a:r>
          </a:p>
        </p:txBody>
      </p:sp>
      <p:sp>
        <p:nvSpPr>
          <p:cNvPr id="16" name="TextBox 15"/>
          <p:cNvSpPr txBox="1"/>
          <p:nvPr/>
        </p:nvSpPr>
        <p:spPr>
          <a:xfrm>
            <a:off x="594360" y="2606040"/>
            <a:ext cx="2331720" cy="914400"/>
          </a:xfrm>
          <a:prstGeom prst="rect">
            <a:avLst/>
          </a:prstGeom>
          <a:noFill/>
        </p:spPr>
        <p:txBody>
          <a:bodyPr wrap="square" anchor="t" lIns="0" rIns="0" tIns="0" bIns="0">
            <a:spAutoFit/>
          </a:bodyPr>
          <a:lstStyle/>
          <a:p>
            <a:pPr algn="l">
              <a:spcAft>
                <a:spcPts val="400"/>
              </a:spcAft>
            </a:pPr>
            <a:r>
              <a:rPr sz="2000">
                <a:solidFill>
                  <a:srgbClr val="1F2328"/>
                </a:solidFill>
                <a:latin typeface="+mj-lt"/>
              </a:rPr>
              <a:t>Confirm the topology</a:t>
            </a:r>
          </a:p>
        </p:txBody>
      </p:sp>
      <p:sp>
        <p:nvSpPr>
          <p:cNvPr id="17" name="TextBox 16"/>
          <p:cNvSpPr txBox="1"/>
          <p:nvPr/>
        </p:nvSpPr>
        <p:spPr>
          <a:xfrm>
            <a:off x="594360" y="3611880"/>
            <a:ext cx="2331720" cy="1463040"/>
          </a:xfrm>
          <a:prstGeom prst="rect">
            <a:avLst/>
          </a:prstGeom>
          <a:noFill/>
        </p:spPr>
        <p:txBody>
          <a:bodyPr wrap="square" anchor="t" lIns="0" rIns="0" tIns="0" bIns="0">
            <a:spAutoFit/>
          </a:bodyPr>
          <a:lstStyle/>
          <a:p>
            <a:pPr algn="l">
              <a:spcAft>
                <a:spcPts val="400"/>
              </a:spcAft>
            </a:pPr>
            <a:r>
              <a:rPr sz="1400">
                <a:solidFill>
                  <a:srgbClr val="5F6670"/>
                </a:solidFill>
              </a:rPr>
              <a:t>GPUs per node, nodes, interconnect, memory. Everything else depends on it.</a:t>
            </a:r>
          </a:p>
        </p:txBody>
      </p:sp>
      <p:sp>
        <p:nvSpPr>
          <p:cNvPr id="18" name="Rounded Rectangle 17"/>
          <p:cNvSpPr/>
          <p:nvPr/>
        </p:nvSpPr>
        <p:spPr>
          <a:xfrm>
            <a:off x="594360" y="4937760"/>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9" name="TextBox 18"/>
          <p:cNvSpPr txBox="1"/>
          <p:nvPr/>
        </p:nvSpPr>
        <p:spPr>
          <a:xfrm>
            <a:off x="594360" y="534924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Owner</a:t>
            </a:r>
          </a:p>
        </p:txBody>
      </p:sp>
      <p:cxnSp>
        <p:nvCxnSpPr>
          <p:cNvPr id="20" name="Connector 19"/>
          <p:cNvCxnSpPr/>
          <p:nvPr/>
        </p:nvCxnSpPr>
        <p:spPr>
          <a:xfrm>
            <a:off x="1234440" y="5586983"/>
            <a:ext cx="1645920"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571500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Date</a:t>
            </a:r>
          </a:p>
        </p:txBody>
      </p:sp>
      <p:cxnSp>
        <p:nvCxnSpPr>
          <p:cNvPr id="22" name="Connector 21"/>
          <p:cNvCxnSpPr/>
          <p:nvPr/>
        </p:nvCxnSpPr>
        <p:spPr>
          <a:xfrm>
            <a:off x="1234440" y="5952744"/>
            <a:ext cx="1645920"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264408" y="1737360"/>
            <a:ext cx="2743200" cy="452628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24" name="Picture 23" descr="lock.png"/>
          <p:cNvPicPr>
            <a:picLocks noChangeAspect="1"/>
          </p:cNvPicPr>
          <p:nvPr/>
        </p:nvPicPr>
        <p:blipFill>
          <a:blip r:embed="rId3"/>
          <a:stretch>
            <a:fillRect/>
          </a:stretch>
        </p:blipFill>
        <p:spPr>
          <a:xfrm>
            <a:off x="3493008" y="1965960"/>
            <a:ext cx="411480" cy="411480"/>
          </a:xfrm>
          <a:prstGeom prst="rect">
            <a:avLst/>
          </a:prstGeom>
        </p:spPr>
      </p:pic>
      <p:sp>
        <p:nvSpPr>
          <p:cNvPr id="25" name="TextBox 24"/>
          <p:cNvSpPr txBox="1"/>
          <p:nvPr/>
        </p:nvSpPr>
        <p:spPr>
          <a:xfrm>
            <a:off x="4041648" y="2057400"/>
            <a:ext cx="1828800" cy="274320"/>
          </a:xfrm>
          <a:prstGeom prst="rect">
            <a:avLst/>
          </a:prstGeom>
          <a:noFill/>
        </p:spPr>
        <p:txBody>
          <a:bodyPr wrap="square" anchor="t" lIns="0" rIns="0" tIns="0" bIns="0">
            <a:spAutoFit/>
          </a:bodyPr>
          <a:lstStyle/>
          <a:p>
            <a:pPr algn="l">
              <a:spcAft>
                <a:spcPts val="400"/>
              </a:spcAft>
            </a:pPr>
            <a:r>
              <a:rPr sz="1000">
                <a:solidFill>
                  <a:srgbClr val="1F2328"/>
                </a:solidFill>
                <a:latin typeface="+mj-lt"/>
              </a:rPr>
              <a:t>LEADERSHIP</a:t>
            </a:r>
          </a:p>
        </p:txBody>
      </p:sp>
      <p:sp>
        <p:nvSpPr>
          <p:cNvPr id="26" name="TextBox 25"/>
          <p:cNvSpPr txBox="1"/>
          <p:nvPr/>
        </p:nvSpPr>
        <p:spPr>
          <a:xfrm>
            <a:off x="3493008" y="2606040"/>
            <a:ext cx="2331720" cy="914400"/>
          </a:xfrm>
          <a:prstGeom prst="rect">
            <a:avLst/>
          </a:prstGeom>
          <a:noFill/>
        </p:spPr>
        <p:txBody>
          <a:bodyPr wrap="square" anchor="t" lIns="0" rIns="0" tIns="0" bIns="0">
            <a:spAutoFit/>
          </a:bodyPr>
          <a:lstStyle/>
          <a:p>
            <a:pPr algn="l">
              <a:spcAft>
                <a:spcPts val="400"/>
              </a:spcAft>
            </a:pPr>
            <a:r>
              <a:rPr sz="2000">
                <a:solidFill>
                  <a:srgbClr val="1F2328"/>
                </a:solidFill>
                <a:latin typeface="+mj-lt"/>
              </a:rPr>
              <a:t>Adopt the claim rule</a:t>
            </a:r>
          </a:p>
        </p:txBody>
      </p:sp>
      <p:sp>
        <p:nvSpPr>
          <p:cNvPr id="27" name="TextBox 26"/>
          <p:cNvSpPr txBox="1"/>
          <p:nvPr/>
        </p:nvSpPr>
        <p:spPr>
          <a:xfrm>
            <a:off x="3493008" y="3611880"/>
            <a:ext cx="2331720" cy="1463040"/>
          </a:xfrm>
          <a:prstGeom prst="rect">
            <a:avLst/>
          </a:prstGeom>
          <a:noFill/>
        </p:spPr>
        <p:txBody>
          <a:bodyPr wrap="square" anchor="t" lIns="0" rIns="0" tIns="0" bIns="0">
            <a:spAutoFit/>
          </a:bodyPr>
          <a:lstStyle/>
          <a:p>
            <a:pPr algn="l">
              <a:spcAft>
                <a:spcPts val="400"/>
              </a:spcAft>
            </a:pPr>
            <a:r>
              <a:rPr sz="1400">
                <a:solidFill>
                  <a:srgbClr val="5F6670"/>
                </a:solidFill>
              </a:rPr>
              <a:t>No external MI350P performance claim without a benchmark card.</a:t>
            </a:r>
          </a:p>
        </p:txBody>
      </p:sp>
      <p:sp>
        <p:nvSpPr>
          <p:cNvPr id="28" name="Rounded Rectangle 27"/>
          <p:cNvSpPr/>
          <p:nvPr/>
        </p:nvSpPr>
        <p:spPr>
          <a:xfrm>
            <a:off x="3493008" y="4937760"/>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29" name="TextBox 28"/>
          <p:cNvSpPr txBox="1"/>
          <p:nvPr/>
        </p:nvSpPr>
        <p:spPr>
          <a:xfrm>
            <a:off x="3493008" y="534924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Owner</a:t>
            </a:r>
          </a:p>
        </p:txBody>
      </p:sp>
      <p:cxnSp>
        <p:nvCxnSpPr>
          <p:cNvPr id="30" name="Connector 29"/>
          <p:cNvCxnSpPr/>
          <p:nvPr/>
        </p:nvCxnSpPr>
        <p:spPr>
          <a:xfrm>
            <a:off x="4133087" y="5586983"/>
            <a:ext cx="1645921"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493008" y="571500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Date</a:t>
            </a:r>
          </a:p>
        </p:txBody>
      </p:sp>
      <p:cxnSp>
        <p:nvCxnSpPr>
          <p:cNvPr id="32" name="Connector 31"/>
          <p:cNvCxnSpPr/>
          <p:nvPr/>
        </p:nvCxnSpPr>
        <p:spPr>
          <a:xfrm>
            <a:off x="4133087" y="5952744"/>
            <a:ext cx="1645921"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163056" y="1737360"/>
            <a:ext cx="2743200" cy="452628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34" name="Picture 33" descr="check.png"/>
          <p:cNvPicPr>
            <a:picLocks noChangeAspect="1"/>
          </p:cNvPicPr>
          <p:nvPr/>
        </p:nvPicPr>
        <p:blipFill>
          <a:blip r:embed="rId4"/>
          <a:stretch>
            <a:fillRect/>
          </a:stretch>
        </p:blipFill>
        <p:spPr>
          <a:xfrm>
            <a:off x="6391656" y="1965960"/>
            <a:ext cx="411480" cy="411480"/>
          </a:xfrm>
          <a:prstGeom prst="rect">
            <a:avLst/>
          </a:prstGeom>
        </p:spPr>
      </p:pic>
      <p:sp>
        <p:nvSpPr>
          <p:cNvPr id="35" name="TextBox 34"/>
          <p:cNvSpPr txBox="1"/>
          <p:nvPr/>
        </p:nvSpPr>
        <p:spPr>
          <a:xfrm>
            <a:off x="6940296" y="2057400"/>
            <a:ext cx="1828800" cy="274320"/>
          </a:xfrm>
          <a:prstGeom prst="rect">
            <a:avLst/>
          </a:prstGeom>
          <a:noFill/>
        </p:spPr>
        <p:txBody>
          <a:bodyPr wrap="square" anchor="t" lIns="0" rIns="0" tIns="0" bIns="0">
            <a:spAutoFit/>
          </a:bodyPr>
          <a:lstStyle/>
          <a:p>
            <a:pPr algn="l">
              <a:spcAft>
                <a:spcPts val="400"/>
              </a:spcAft>
            </a:pPr>
            <a:r>
              <a:rPr sz="1000">
                <a:solidFill>
                  <a:srgbClr val="1F2328"/>
                </a:solidFill>
                <a:latin typeface="+mj-lt"/>
              </a:rPr>
              <a:t>INFRA + OPTIMIZATION</a:t>
            </a:r>
          </a:p>
        </p:txBody>
      </p:sp>
      <p:sp>
        <p:nvSpPr>
          <p:cNvPr id="36" name="TextBox 35"/>
          <p:cNvSpPr txBox="1"/>
          <p:nvPr/>
        </p:nvSpPr>
        <p:spPr>
          <a:xfrm>
            <a:off x="6391656" y="2606040"/>
            <a:ext cx="2331720" cy="914400"/>
          </a:xfrm>
          <a:prstGeom prst="rect">
            <a:avLst/>
          </a:prstGeom>
          <a:noFill/>
        </p:spPr>
        <p:txBody>
          <a:bodyPr wrap="square" anchor="t" lIns="0" rIns="0" tIns="0" bIns="0">
            <a:spAutoFit/>
          </a:bodyPr>
          <a:lstStyle/>
          <a:p>
            <a:pPr algn="l">
              <a:spcAft>
                <a:spcPts val="400"/>
              </a:spcAft>
            </a:pPr>
            <a:r>
              <a:rPr sz="2000">
                <a:solidFill>
                  <a:srgbClr val="1F2328"/>
                </a:solidFill>
                <a:latin typeface="+mj-lt"/>
              </a:rPr>
              <a:t>Agree the AMD reference</a:t>
            </a:r>
          </a:p>
        </p:txBody>
      </p:sp>
      <p:sp>
        <p:nvSpPr>
          <p:cNvPr id="37" name="TextBox 36"/>
          <p:cNvSpPr txBox="1"/>
          <p:nvPr/>
        </p:nvSpPr>
        <p:spPr>
          <a:xfrm>
            <a:off x="6391656" y="3611880"/>
            <a:ext cx="2331720" cy="1463040"/>
          </a:xfrm>
          <a:prstGeom prst="rect">
            <a:avLst/>
          </a:prstGeom>
          <a:noFill/>
        </p:spPr>
        <p:txBody>
          <a:bodyPr wrap="square" anchor="t" lIns="0" rIns="0" tIns="0" bIns="0">
            <a:spAutoFit/>
          </a:bodyPr>
          <a:lstStyle/>
          <a:p>
            <a:pPr algn="l">
              <a:spcAft>
                <a:spcPts val="400"/>
              </a:spcAft>
            </a:pPr>
            <a:r>
              <a:rPr sz="1400">
                <a:solidFill>
                  <a:srgbClr val="5F6670"/>
                </a:solidFill>
              </a:rPr>
              <a:t>Which result, what counts as a fair reproduction, and what it gates.</a:t>
            </a:r>
          </a:p>
        </p:txBody>
      </p:sp>
      <p:sp>
        <p:nvSpPr>
          <p:cNvPr id="38" name="Rounded Rectangle 37"/>
          <p:cNvSpPr/>
          <p:nvPr/>
        </p:nvSpPr>
        <p:spPr>
          <a:xfrm>
            <a:off x="6391656" y="4937760"/>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39" name="TextBox 38"/>
          <p:cNvSpPr txBox="1"/>
          <p:nvPr/>
        </p:nvSpPr>
        <p:spPr>
          <a:xfrm>
            <a:off x="6391656" y="534924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Owner</a:t>
            </a:r>
          </a:p>
        </p:txBody>
      </p:sp>
      <p:cxnSp>
        <p:nvCxnSpPr>
          <p:cNvPr id="40" name="Connector 39"/>
          <p:cNvCxnSpPr/>
          <p:nvPr/>
        </p:nvCxnSpPr>
        <p:spPr>
          <a:xfrm>
            <a:off x="7031736" y="5586983"/>
            <a:ext cx="1645920"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391656" y="571500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Date</a:t>
            </a:r>
          </a:p>
        </p:txBody>
      </p:sp>
      <p:cxnSp>
        <p:nvCxnSpPr>
          <p:cNvPr id="42" name="Connector 41"/>
          <p:cNvCxnSpPr/>
          <p:nvPr/>
        </p:nvCxnSpPr>
        <p:spPr>
          <a:xfrm>
            <a:off x="7031736" y="5952744"/>
            <a:ext cx="1645920"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061704" y="1737360"/>
            <a:ext cx="2743200" cy="452628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44" name="Picture 43" descr="clock.png"/>
          <p:cNvPicPr>
            <a:picLocks noChangeAspect="1"/>
          </p:cNvPicPr>
          <p:nvPr/>
        </p:nvPicPr>
        <p:blipFill>
          <a:blip r:embed="rId5"/>
          <a:stretch>
            <a:fillRect/>
          </a:stretch>
        </p:blipFill>
        <p:spPr>
          <a:xfrm>
            <a:off x="9290304" y="1965960"/>
            <a:ext cx="411480" cy="411480"/>
          </a:xfrm>
          <a:prstGeom prst="rect">
            <a:avLst/>
          </a:prstGeom>
        </p:spPr>
      </p:pic>
      <p:sp>
        <p:nvSpPr>
          <p:cNvPr id="45" name="TextBox 44"/>
          <p:cNvSpPr txBox="1"/>
          <p:nvPr/>
        </p:nvSpPr>
        <p:spPr>
          <a:xfrm>
            <a:off x="9838944" y="2057400"/>
            <a:ext cx="1828800" cy="274320"/>
          </a:xfrm>
          <a:prstGeom prst="rect">
            <a:avLst/>
          </a:prstGeom>
          <a:noFill/>
        </p:spPr>
        <p:txBody>
          <a:bodyPr wrap="square" anchor="t" lIns="0" rIns="0" tIns="0" bIns="0">
            <a:spAutoFit/>
          </a:bodyPr>
          <a:lstStyle/>
          <a:p>
            <a:pPr algn="l">
              <a:spcAft>
                <a:spcPts val="400"/>
              </a:spcAft>
            </a:pPr>
            <a:r>
              <a:rPr sz="1000">
                <a:solidFill>
                  <a:srgbClr val="1F2328"/>
                </a:solidFill>
                <a:latin typeface="+mj-lt"/>
              </a:rPr>
              <a:t>PRODUCT + ENGINEERING</a:t>
            </a:r>
          </a:p>
        </p:txBody>
      </p:sp>
      <p:sp>
        <p:nvSpPr>
          <p:cNvPr id="46" name="TextBox 45"/>
          <p:cNvSpPr txBox="1"/>
          <p:nvPr/>
        </p:nvSpPr>
        <p:spPr>
          <a:xfrm>
            <a:off x="9290304" y="2606040"/>
            <a:ext cx="2331720" cy="914400"/>
          </a:xfrm>
          <a:prstGeom prst="rect">
            <a:avLst/>
          </a:prstGeom>
          <a:noFill/>
        </p:spPr>
        <p:txBody>
          <a:bodyPr wrap="square" anchor="t" lIns="0" rIns="0" tIns="0" bIns="0">
            <a:spAutoFit/>
          </a:bodyPr>
          <a:lstStyle/>
          <a:p>
            <a:pPr algn="l">
              <a:spcAft>
                <a:spcPts val="400"/>
              </a:spcAft>
            </a:pPr>
            <a:r>
              <a:rPr sz="2000">
                <a:solidFill>
                  <a:srgbClr val="1F2328"/>
                </a:solidFill>
                <a:latin typeface="+mj-lt"/>
              </a:rPr>
              <a:t>Set the SLO owner and date</a:t>
            </a:r>
          </a:p>
        </p:txBody>
      </p:sp>
      <p:sp>
        <p:nvSpPr>
          <p:cNvPr id="47" name="TextBox 46"/>
          <p:cNvSpPr txBox="1"/>
          <p:nvPr/>
        </p:nvSpPr>
        <p:spPr>
          <a:xfrm>
            <a:off x="9290304" y="3611880"/>
            <a:ext cx="2331720" cy="1463040"/>
          </a:xfrm>
          <a:prstGeom prst="rect">
            <a:avLst/>
          </a:prstGeom>
          <a:noFill/>
        </p:spPr>
        <p:txBody>
          <a:bodyPr wrap="square" anchor="t" lIns="0" rIns="0" tIns="0" bIns="0">
            <a:spAutoFit/>
          </a:bodyPr>
          <a:lstStyle/>
          <a:p>
            <a:pPr algn="l">
              <a:spcAft>
                <a:spcPts val="400"/>
              </a:spcAft>
            </a:pPr>
            <a:r>
              <a:rPr sz="1400">
                <a:solidFill>
                  <a:srgbClr val="5F6670"/>
                </a:solidFill>
              </a:rPr>
              <a:t>Product owns the promise; Engineering says what's achievable.</a:t>
            </a:r>
          </a:p>
        </p:txBody>
      </p:sp>
      <p:sp>
        <p:nvSpPr>
          <p:cNvPr id="48" name="Rounded Rectangle 47"/>
          <p:cNvSpPr/>
          <p:nvPr/>
        </p:nvSpPr>
        <p:spPr>
          <a:xfrm>
            <a:off x="9290304" y="4937760"/>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49" name="TextBox 48"/>
          <p:cNvSpPr txBox="1"/>
          <p:nvPr/>
        </p:nvSpPr>
        <p:spPr>
          <a:xfrm>
            <a:off x="9290304" y="534924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Owner</a:t>
            </a:r>
          </a:p>
        </p:txBody>
      </p:sp>
      <p:cxnSp>
        <p:nvCxnSpPr>
          <p:cNvPr id="50" name="Connector 49"/>
          <p:cNvCxnSpPr/>
          <p:nvPr/>
        </p:nvCxnSpPr>
        <p:spPr>
          <a:xfrm>
            <a:off x="9930384" y="5586983"/>
            <a:ext cx="1645920"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9290304" y="5715000"/>
            <a:ext cx="640080" cy="274320"/>
          </a:xfrm>
          <a:prstGeom prst="rect">
            <a:avLst/>
          </a:prstGeom>
          <a:noFill/>
        </p:spPr>
        <p:txBody>
          <a:bodyPr wrap="square" anchor="t" lIns="0" rIns="0" tIns="0" bIns="0">
            <a:spAutoFit/>
          </a:bodyPr>
          <a:lstStyle/>
          <a:p>
            <a:pPr algn="l">
              <a:spcAft>
                <a:spcPts val="400"/>
              </a:spcAft>
            </a:pPr>
            <a:r>
              <a:rPr sz="1100">
                <a:solidFill>
                  <a:srgbClr val="5F6670"/>
                </a:solidFill>
              </a:rPr>
              <a:t>Date</a:t>
            </a:r>
          </a:p>
        </p:txBody>
      </p:sp>
      <p:cxnSp>
        <p:nvCxnSpPr>
          <p:cNvPr id="52" name="Connector 51"/>
          <p:cNvCxnSpPr/>
          <p:nvPr/>
        </p:nvCxnSpPr>
        <p:spPr>
          <a:xfrm>
            <a:off x="9930384" y="5952744"/>
            <a:ext cx="1645920" cy="0"/>
          </a:xfrm>
          <a:prstGeom prst="line">
            <a:avLst/>
          </a:prstGeom>
          <a:ln w="9525">
            <a:solidFill>
              <a:srgbClr val="C4C9D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In 90 days, </a:t>
            </a:r>
            <a:r>
              <a:rPr sz="3200">
                <a:solidFill>
                  <a:schemeClr val="accent1"/>
                </a:solidFill>
              </a:rPr>
              <a:t>here's what's different</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0" name="Rounded Rectangle 9"/>
          <p:cNvSpPr/>
          <p:nvPr/>
        </p:nvSpPr>
        <p:spPr>
          <a:xfrm>
            <a:off x="9464040" y="384048"/>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1" name="Rounded Rectangle 10"/>
          <p:cNvSpPr/>
          <p:nvPr/>
        </p:nvSpPr>
        <p:spPr>
          <a:xfrm>
            <a:off x="10607040" y="384048"/>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2" name="TextBox 11"/>
          <p:cNvSpPr txBox="1"/>
          <p:nvPr/>
        </p:nvSpPr>
        <p:spPr>
          <a:xfrm>
            <a:off x="365760" y="1051560"/>
            <a:ext cx="11430000" cy="365760"/>
          </a:xfrm>
          <a:prstGeom prst="rect">
            <a:avLst/>
          </a:prstGeom>
          <a:noFill/>
        </p:spPr>
        <p:txBody>
          <a:bodyPr wrap="square" anchor="t" lIns="0" rIns="0" tIns="0" bIns="0">
            <a:spAutoFit/>
          </a:bodyPr>
          <a:lstStyle/>
          <a:p>
            <a:pPr algn="l">
              <a:spcAft>
                <a:spcPts val="400"/>
              </a:spcAft>
            </a:pPr>
            <a:r>
              <a:rPr sz="1600">
                <a:solidFill>
                  <a:srgbClr val="5F6670"/>
                </a:solidFill>
                <a:latin typeface="+mj-lt"/>
              </a:rPr>
              <a:t>Proposed targets </a:t>
            </a:r>
            <a:r>
              <a:rPr sz="1600">
                <a:solidFill>
                  <a:srgbClr val="5F6670"/>
                </a:solidFill>
              </a:rPr>
              <a:t>if we make today's decisions. Not commitments already approved.</a:t>
            </a:r>
          </a:p>
        </p:txBody>
      </p:sp>
      <p:sp>
        <p:nvSpPr>
          <p:cNvPr id="13" name="TextBox 12"/>
          <p:cNvSpPr txBox="1"/>
          <p:nvPr/>
        </p:nvSpPr>
        <p:spPr>
          <a:xfrm>
            <a:off x="2377440" y="1554480"/>
            <a:ext cx="365760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TODAY</a:t>
            </a:r>
          </a:p>
        </p:txBody>
      </p:sp>
      <p:sp>
        <p:nvSpPr>
          <p:cNvPr id="14" name="TextBox 13"/>
          <p:cNvSpPr txBox="1"/>
          <p:nvPr/>
        </p:nvSpPr>
        <p:spPr>
          <a:xfrm>
            <a:off x="7086600" y="1554480"/>
            <a:ext cx="4572000" cy="274320"/>
          </a:xfrm>
          <a:prstGeom prst="rect">
            <a:avLst/>
          </a:prstGeom>
          <a:noFill/>
        </p:spPr>
        <p:txBody>
          <a:bodyPr wrap="square" anchor="t" lIns="0" rIns="0" tIns="0" bIns="0">
            <a:spAutoFit/>
          </a:bodyPr>
          <a:lstStyle/>
          <a:p>
            <a:pPr algn="l">
              <a:spcAft>
                <a:spcPts val="400"/>
              </a:spcAft>
            </a:pPr>
            <a:r>
              <a:rPr sz="1100">
                <a:solidFill>
                  <a:schemeClr val="accent3"/>
                </a:solidFill>
                <a:latin typeface="+mj-lt"/>
              </a:rPr>
              <a:t>PROPOSED IN 90 DAYS</a:t>
            </a:r>
          </a:p>
        </p:txBody>
      </p:sp>
      <p:pic>
        <p:nvPicPr>
          <p:cNvPr id="15" name="Picture 14" descr="users_k.png"/>
          <p:cNvPicPr>
            <a:picLocks noChangeAspect="1"/>
          </p:cNvPicPr>
          <p:nvPr/>
        </p:nvPicPr>
        <p:blipFill>
          <a:blip r:embed="rId2"/>
          <a:stretch>
            <a:fillRect/>
          </a:stretch>
        </p:blipFill>
        <p:spPr>
          <a:xfrm>
            <a:off x="411480" y="2029967"/>
            <a:ext cx="329184" cy="329184"/>
          </a:xfrm>
          <a:prstGeom prst="rect">
            <a:avLst/>
          </a:prstGeom>
        </p:spPr>
      </p:pic>
      <p:sp>
        <p:nvSpPr>
          <p:cNvPr id="16" name="TextBox 15"/>
          <p:cNvSpPr txBox="1"/>
          <p:nvPr/>
        </p:nvSpPr>
        <p:spPr>
          <a:xfrm>
            <a:off x="868680" y="1874519"/>
            <a:ext cx="1463040" cy="640080"/>
          </a:xfrm>
          <a:prstGeom prst="rect">
            <a:avLst/>
          </a:prstGeom>
          <a:noFill/>
        </p:spPr>
        <p:txBody>
          <a:bodyPr wrap="square" anchor="ctr" lIns="0" rIns="0" tIns="0" bIns="0">
            <a:spAutoFit/>
          </a:bodyPr>
          <a:lstStyle/>
          <a:p>
            <a:pPr algn="l">
              <a:spcAft>
                <a:spcPts val="400"/>
              </a:spcAft>
            </a:pPr>
            <a:r>
              <a:rPr sz="1500">
                <a:solidFill>
                  <a:srgbClr val="1F2328"/>
                </a:solidFill>
                <a:latin typeface="+mj-lt"/>
              </a:rPr>
              <a:t>Customer</a:t>
            </a:r>
          </a:p>
        </p:txBody>
      </p:sp>
      <p:sp>
        <p:nvSpPr>
          <p:cNvPr id="17" name="TextBox 16"/>
          <p:cNvSpPr txBox="1"/>
          <p:nvPr/>
        </p:nvSpPr>
        <p:spPr>
          <a:xfrm>
            <a:off x="2377440" y="1874519"/>
            <a:ext cx="4069080" cy="640080"/>
          </a:xfrm>
          <a:prstGeom prst="rect">
            <a:avLst/>
          </a:prstGeom>
          <a:noFill/>
        </p:spPr>
        <p:txBody>
          <a:bodyPr wrap="square" anchor="ctr" lIns="0" rIns="0" tIns="0" bIns="0">
            <a:spAutoFit/>
          </a:bodyPr>
          <a:lstStyle/>
          <a:p>
            <a:pPr algn="l">
              <a:spcAft>
                <a:spcPts val="400"/>
              </a:spcAft>
            </a:pPr>
            <a:r>
              <a:rPr sz="1300">
                <a:solidFill>
                  <a:srgbClr val="5F6670"/>
                </a:solidFill>
              </a:rPr>
              <a:t>No estate named; no paying-customer profile</a:t>
            </a:r>
          </a:p>
        </p:txBody>
      </p:sp>
      <p:sp>
        <p:nvSpPr>
          <p:cNvPr id="18" name="Right Arrow 17"/>
          <p:cNvSpPr/>
          <p:nvPr/>
        </p:nvSpPr>
        <p:spPr>
          <a:xfrm>
            <a:off x="6537960" y="2075688"/>
            <a:ext cx="365760" cy="237744"/>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086600" y="1901951"/>
            <a:ext cx="4709160" cy="603504"/>
          </a:xfrm>
          <a:prstGeom prst="roundRect">
            <a:avLst>
              <a:gd name="adj" fmla="val 15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400">
                <a:solidFill>
                  <a:srgbClr val="1F2328"/>
                </a:solidFill>
                <a:latin typeface="+mj-lt"/>
              </a:rPr>
              <a:t>MOE-0 selected with acceptance criteria; MOE-1 profile and candidate pipeline</a:t>
            </a:r>
          </a:p>
        </p:txBody>
      </p:sp>
      <p:pic>
        <p:nvPicPr>
          <p:cNvPr id="20" name="Picture 19" descr="layers_k.png"/>
          <p:cNvPicPr>
            <a:picLocks noChangeAspect="1"/>
          </p:cNvPicPr>
          <p:nvPr/>
        </p:nvPicPr>
        <p:blipFill>
          <a:blip r:embed="rId3"/>
          <a:stretch>
            <a:fillRect/>
          </a:stretch>
        </p:blipFill>
        <p:spPr>
          <a:xfrm>
            <a:off x="411480" y="2761487"/>
            <a:ext cx="329184" cy="329184"/>
          </a:xfrm>
          <a:prstGeom prst="rect">
            <a:avLst/>
          </a:prstGeom>
        </p:spPr>
      </p:pic>
      <p:sp>
        <p:nvSpPr>
          <p:cNvPr id="21" name="TextBox 20"/>
          <p:cNvSpPr txBox="1"/>
          <p:nvPr/>
        </p:nvSpPr>
        <p:spPr>
          <a:xfrm>
            <a:off x="868680" y="2606039"/>
            <a:ext cx="1463040" cy="640080"/>
          </a:xfrm>
          <a:prstGeom prst="rect">
            <a:avLst/>
          </a:prstGeom>
          <a:noFill/>
        </p:spPr>
        <p:txBody>
          <a:bodyPr wrap="square" anchor="ctr" lIns="0" rIns="0" tIns="0" bIns="0">
            <a:spAutoFit/>
          </a:bodyPr>
          <a:lstStyle/>
          <a:p>
            <a:pPr algn="l">
              <a:spcAft>
                <a:spcPts val="400"/>
              </a:spcAft>
            </a:pPr>
            <a:r>
              <a:rPr sz="1500">
                <a:solidFill>
                  <a:srgbClr val="1F2328"/>
                </a:solidFill>
                <a:latin typeface="+mj-lt"/>
              </a:rPr>
              <a:t>Product</a:t>
            </a:r>
          </a:p>
        </p:txBody>
      </p:sp>
      <p:sp>
        <p:nvSpPr>
          <p:cNvPr id="22" name="TextBox 21"/>
          <p:cNvSpPr txBox="1"/>
          <p:nvPr/>
        </p:nvSpPr>
        <p:spPr>
          <a:xfrm>
            <a:off x="2377440" y="2606039"/>
            <a:ext cx="4069080" cy="640080"/>
          </a:xfrm>
          <a:prstGeom prst="rect">
            <a:avLst/>
          </a:prstGeom>
          <a:noFill/>
        </p:spPr>
        <p:txBody>
          <a:bodyPr wrap="square" anchor="ctr" lIns="0" rIns="0" tIns="0" bIns="0">
            <a:spAutoFit/>
          </a:bodyPr>
          <a:lstStyle/>
          <a:p>
            <a:pPr algn="l">
              <a:spcAft>
                <a:spcPts val="400"/>
              </a:spcAft>
            </a:pPr>
            <a:r>
              <a:rPr sz="1300">
                <a:solidFill>
                  <a:srgbClr val="5F6670"/>
                </a:solidFill>
              </a:rPr>
              <a:t>Empirical Map not started</a:t>
            </a:r>
          </a:p>
        </p:txBody>
      </p:sp>
      <p:sp>
        <p:nvSpPr>
          <p:cNvPr id="23" name="Right Arrow 22"/>
          <p:cNvSpPr/>
          <p:nvPr/>
        </p:nvSpPr>
        <p:spPr>
          <a:xfrm>
            <a:off x="6537960" y="2807208"/>
            <a:ext cx="365760" cy="237744"/>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086600" y="2633471"/>
            <a:ext cx="4709160" cy="603504"/>
          </a:xfrm>
          <a:prstGeom prst="roundRect">
            <a:avLst>
              <a:gd name="adj" fmla="val 15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400">
                <a:solidFill>
                  <a:srgbClr val="1F2328"/>
                </a:solidFill>
                <a:latin typeface="+mj-lt"/>
              </a:rPr>
              <a:t>Map v1 scoped; first evidence-informed decision experiment running</a:t>
            </a:r>
          </a:p>
        </p:txBody>
      </p:sp>
      <p:pic>
        <p:nvPicPr>
          <p:cNvPr id="25" name="Picture 24" descr="server_k.png"/>
          <p:cNvPicPr>
            <a:picLocks noChangeAspect="1"/>
          </p:cNvPicPr>
          <p:nvPr/>
        </p:nvPicPr>
        <p:blipFill>
          <a:blip r:embed="rId4"/>
          <a:stretch>
            <a:fillRect/>
          </a:stretch>
        </p:blipFill>
        <p:spPr>
          <a:xfrm>
            <a:off x="411480" y="3493008"/>
            <a:ext cx="329184" cy="329184"/>
          </a:xfrm>
          <a:prstGeom prst="rect">
            <a:avLst/>
          </a:prstGeom>
        </p:spPr>
      </p:pic>
      <p:sp>
        <p:nvSpPr>
          <p:cNvPr id="26" name="TextBox 25"/>
          <p:cNvSpPr txBox="1"/>
          <p:nvPr/>
        </p:nvSpPr>
        <p:spPr>
          <a:xfrm>
            <a:off x="868680" y="3337560"/>
            <a:ext cx="1463040" cy="640080"/>
          </a:xfrm>
          <a:prstGeom prst="rect">
            <a:avLst/>
          </a:prstGeom>
          <a:noFill/>
        </p:spPr>
        <p:txBody>
          <a:bodyPr wrap="square" anchor="ctr" lIns="0" rIns="0" tIns="0" bIns="0">
            <a:spAutoFit/>
          </a:bodyPr>
          <a:lstStyle/>
          <a:p>
            <a:pPr algn="l">
              <a:spcAft>
                <a:spcPts val="400"/>
              </a:spcAft>
            </a:pPr>
            <a:r>
              <a:rPr sz="1500">
                <a:solidFill>
                  <a:srgbClr val="1F2328"/>
                </a:solidFill>
                <a:latin typeface="+mj-lt"/>
              </a:rPr>
              <a:t>Infrastructure</a:t>
            </a:r>
          </a:p>
        </p:txBody>
      </p:sp>
      <p:sp>
        <p:nvSpPr>
          <p:cNvPr id="27" name="TextBox 26"/>
          <p:cNvSpPr txBox="1"/>
          <p:nvPr/>
        </p:nvSpPr>
        <p:spPr>
          <a:xfrm>
            <a:off x="2377440" y="3337560"/>
            <a:ext cx="4069080" cy="640080"/>
          </a:xfrm>
          <a:prstGeom prst="rect">
            <a:avLst/>
          </a:prstGeom>
          <a:noFill/>
        </p:spPr>
        <p:txBody>
          <a:bodyPr wrap="square" anchor="ctr" lIns="0" rIns="0" tIns="0" bIns="0">
            <a:spAutoFit/>
          </a:bodyPr>
          <a:lstStyle/>
          <a:p>
            <a:pPr algn="l">
              <a:spcAft>
                <a:spcPts val="400"/>
              </a:spcAft>
            </a:pPr>
            <a:r>
              <a:rPr sz="1300">
                <a:solidFill>
                  <a:srgbClr val="5F6670"/>
                </a:solidFill>
              </a:rPr>
              <a:t>MI350P deployed but unqualified</a:t>
            </a:r>
          </a:p>
        </p:txBody>
      </p:sp>
      <p:sp>
        <p:nvSpPr>
          <p:cNvPr id="28" name="Right Arrow 27"/>
          <p:cNvSpPr/>
          <p:nvPr/>
        </p:nvSpPr>
        <p:spPr>
          <a:xfrm>
            <a:off x="6537960" y="3538728"/>
            <a:ext cx="365760" cy="237744"/>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086600" y="3364991"/>
            <a:ext cx="4709160" cy="603504"/>
          </a:xfrm>
          <a:prstGeom prst="roundRect">
            <a:avLst>
              <a:gd name="adj" fmla="val 15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400">
                <a:solidFill>
                  <a:srgbClr val="1F2328"/>
                </a:solidFill>
                <a:latin typeface="+mj-lt"/>
              </a:rPr>
              <a:t>Topology confirmed; B1/B2 baseline complete; first benchmark cards</a:t>
            </a:r>
          </a:p>
        </p:txBody>
      </p:sp>
      <p:pic>
        <p:nvPicPr>
          <p:cNvPr id="30" name="Picture 29" descr="activity_k.png"/>
          <p:cNvPicPr>
            <a:picLocks noChangeAspect="1"/>
          </p:cNvPicPr>
          <p:nvPr/>
        </p:nvPicPr>
        <p:blipFill>
          <a:blip r:embed="rId5"/>
          <a:stretch>
            <a:fillRect/>
          </a:stretch>
        </p:blipFill>
        <p:spPr>
          <a:xfrm>
            <a:off x="411480" y="4224528"/>
            <a:ext cx="329184" cy="329184"/>
          </a:xfrm>
          <a:prstGeom prst="rect">
            <a:avLst/>
          </a:prstGeom>
        </p:spPr>
      </p:pic>
      <p:sp>
        <p:nvSpPr>
          <p:cNvPr id="31" name="TextBox 30"/>
          <p:cNvSpPr txBox="1"/>
          <p:nvPr/>
        </p:nvSpPr>
        <p:spPr>
          <a:xfrm>
            <a:off x="868680" y="4069080"/>
            <a:ext cx="1463040" cy="640080"/>
          </a:xfrm>
          <a:prstGeom prst="rect">
            <a:avLst/>
          </a:prstGeom>
          <a:noFill/>
        </p:spPr>
        <p:txBody>
          <a:bodyPr wrap="square" anchor="ctr" lIns="0" rIns="0" tIns="0" bIns="0">
            <a:spAutoFit/>
          </a:bodyPr>
          <a:lstStyle/>
          <a:p>
            <a:pPr algn="l">
              <a:spcAft>
                <a:spcPts val="400"/>
              </a:spcAft>
            </a:pPr>
            <a:r>
              <a:rPr sz="1500">
                <a:solidFill>
                  <a:srgbClr val="1F2328"/>
                </a:solidFill>
                <a:latin typeface="+mj-lt"/>
              </a:rPr>
              <a:t>Operations</a:t>
            </a:r>
          </a:p>
        </p:txBody>
      </p:sp>
      <p:sp>
        <p:nvSpPr>
          <p:cNvPr id="32" name="TextBox 31"/>
          <p:cNvSpPr txBox="1"/>
          <p:nvPr/>
        </p:nvSpPr>
        <p:spPr>
          <a:xfrm>
            <a:off x="2377440" y="4069080"/>
            <a:ext cx="4069080" cy="640080"/>
          </a:xfrm>
          <a:prstGeom prst="rect">
            <a:avLst/>
          </a:prstGeom>
          <a:noFill/>
        </p:spPr>
        <p:txBody>
          <a:bodyPr wrap="square" anchor="ctr" lIns="0" rIns="0" tIns="0" bIns="0">
            <a:spAutoFit/>
          </a:bodyPr>
          <a:lstStyle/>
          <a:p>
            <a:pPr algn="l">
              <a:spcAft>
                <a:spcPts val="400"/>
              </a:spcAft>
            </a:pPr>
            <a:r>
              <a:rPr sz="1300">
                <a:solidFill>
                  <a:srgbClr val="5F6670"/>
                </a:solidFill>
              </a:rPr>
              <a:t>No production ownership model</a:t>
            </a:r>
          </a:p>
        </p:txBody>
      </p:sp>
      <p:sp>
        <p:nvSpPr>
          <p:cNvPr id="33" name="Right Arrow 32"/>
          <p:cNvSpPr/>
          <p:nvPr/>
        </p:nvSpPr>
        <p:spPr>
          <a:xfrm>
            <a:off x="6537960" y="4270248"/>
            <a:ext cx="365760" cy="237744"/>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086600" y="4096512"/>
            <a:ext cx="4709160" cy="603504"/>
          </a:xfrm>
          <a:prstGeom prst="roundRect">
            <a:avLst>
              <a:gd name="adj" fmla="val 15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400">
                <a:solidFill>
                  <a:srgbClr val="1F2328"/>
                </a:solidFill>
                <a:latin typeface="+mj-lt"/>
              </a:rPr>
              <a:t>Draft ownership model, incident path and service qualification criteria</a:t>
            </a:r>
          </a:p>
        </p:txBody>
      </p:sp>
      <p:pic>
        <p:nvPicPr>
          <p:cNvPr id="35" name="Picture 34" descr="dollar_k.png"/>
          <p:cNvPicPr>
            <a:picLocks noChangeAspect="1"/>
          </p:cNvPicPr>
          <p:nvPr/>
        </p:nvPicPr>
        <p:blipFill>
          <a:blip r:embed="rId6"/>
          <a:stretch>
            <a:fillRect/>
          </a:stretch>
        </p:blipFill>
        <p:spPr>
          <a:xfrm>
            <a:off x="411480" y="4956048"/>
            <a:ext cx="329184" cy="329184"/>
          </a:xfrm>
          <a:prstGeom prst="rect">
            <a:avLst/>
          </a:prstGeom>
        </p:spPr>
      </p:pic>
      <p:sp>
        <p:nvSpPr>
          <p:cNvPr id="36" name="TextBox 35"/>
          <p:cNvSpPr txBox="1"/>
          <p:nvPr/>
        </p:nvSpPr>
        <p:spPr>
          <a:xfrm>
            <a:off x="868680" y="4800600"/>
            <a:ext cx="1463040" cy="640080"/>
          </a:xfrm>
          <a:prstGeom prst="rect">
            <a:avLst/>
          </a:prstGeom>
          <a:noFill/>
        </p:spPr>
        <p:txBody>
          <a:bodyPr wrap="square" anchor="ctr" lIns="0" rIns="0" tIns="0" bIns="0">
            <a:spAutoFit/>
          </a:bodyPr>
          <a:lstStyle/>
          <a:p>
            <a:pPr algn="l">
              <a:spcAft>
                <a:spcPts val="400"/>
              </a:spcAft>
            </a:pPr>
            <a:r>
              <a:rPr sz="1500">
                <a:solidFill>
                  <a:srgbClr val="1F2328"/>
                </a:solidFill>
                <a:latin typeface="+mj-lt"/>
              </a:rPr>
              <a:t>Economics</a:t>
            </a:r>
          </a:p>
        </p:txBody>
      </p:sp>
      <p:sp>
        <p:nvSpPr>
          <p:cNvPr id="37" name="TextBox 36"/>
          <p:cNvSpPr txBox="1"/>
          <p:nvPr/>
        </p:nvSpPr>
        <p:spPr>
          <a:xfrm>
            <a:off x="2377440" y="4800600"/>
            <a:ext cx="4069080" cy="640080"/>
          </a:xfrm>
          <a:prstGeom prst="rect">
            <a:avLst/>
          </a:prstGeom>
          <a:noFill/>
        </p:spPr>
        <p:txBody>
          <a:bodyPr wrap="square" anchor="ctr" lIns="0" rIns="0" tIns="0" bIns="0">
            <a:spAutoFit/>
          </a:bodyPr>
          <a:lstStyle/>
          <a:p>
            <a:pPr algn="l">
              <a:spcAft>
                <a:spcPts val="400"/>
              </a:spcAft>
            </a:pPr>
            <a:r>
              <a:rPr sz="1300">
                <a:solidFill>
                  <a:srgbClr val="5F6670"/>
                </a:solidFill>
              </a:rPr>
              <a:t>Cost per GPU-hour unknown</a:t>
            </a:r>
          </a:p>
        </p:txBody>
      </p:sp>
      <p:sp>
        <p:nvSpPr>
          <p:cNvPr id="38" name="Right Arrow 37"/>
          <p:cNvSpPr/>
          <p:nvPr/>
        </p:nvSpPr>
        <p:spPr>
          <a:xfrm>
            <a:off x="6537960" y="5001768"/>
            <a:ext cx="365760" cy="237744"/>
          </a:xfrm>
          <a:prstGeom prst="rightArrow">
            <a:avLst/>
          </a:prstGeom>
          <a:solidFill>
            <a:srgbClr val="5F66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086600" y="4828032"/>
            <a:ext cx="4709160" cy="603504"/>
          </a:xfrm>
          <a:prstGeom prst="roundRect">
            <a:avLst>
              <a:gd name="adj" fmla="val 15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400">
                <a:solidFill>
                  <a:srgbClr val="1F2328"/>
                </a:solidFill>
                <a:latin typeface="+mj-lt"/>
              </a:rPr>
              <a:t>Initial cost model with explicit assumptions and confidence</a:t>
            </a:r>
          </a:p>
        </p:txBody>
      </p:sp>
      <p:sp>
        <p:nvSpPr>
          <p:cNvPr id="40" name="Rounded Rectangle 39"/>
          <p:cNvSpPr/>
          <p:nvPr/>
        </p:nvSpPr>
        <p:spPr>
          <a:xfrm>
            <a:off x="365760" y="5623560"/>
            <a:ext cx="11430000" cy="658368"/>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400"/>
              </a:spcAft>
            </a:pPr>
            <a:r>
              <a:rPr sz="1600">
                <a:solidFill>
                  <a:schemeClr val="accent1"/>
                </a:solidFill>
                <a:latin typeface="+mj-lt"/>
              </a:rPr>
              <a:t>Decision: </a:t>
            </a:r>
            <a:r>
              <a:rPr sz="1600">
                <a:solidFill>
                  <a:srgbClr val="1F2328"/>
                </a:solidFill>
              </a:rPr>
              <a:t>who validates the dates and resources behind these targets, and by when?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200"/>
              <a:t>Two outcomes, </a:t>
            </a:r>
            <a:r>
              <a:rPr sz="3200">
                <a:solidFill>
                  <a:schemeClr val="accent1"/>
                </a:solidFill>
              </a:rPr>
              <a:t>and the next actions</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49"/>
            <a:ext cx="617403" cy="107723"/>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10" name="Rounded Rectangle 9"/>
          <p:cNvSpPr/>
          <p:nvPr/>
        </p:nvSpPr>
        <p:spPr>
          <a:xfrm>
            <a:off x="365760" y="1188720"/>
            <a:ext cx="5623560" cy="393192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1" name="Oval 10"/>
          <p:cNvSpPr/>
          <p:nvPr/>
        </p:nvSpPr>
        <p:spPr>
          <a:xfrm>
            <a:off x="640080" y="1463040"/>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400"/>
              </a:spcAft>
            </a:pPr>
            <a:r>
              <a:rPr sz="2400">
                <a:solidFill>
                  <a:schemeClr val="bg1"/>
                </a:solidFill>
                <a:latin typeface="+mj-lt"/>
              </a:rPr>
              <a:t>1</a:t>
            </a:r>
          </a:p>
        </p:txBody>
      </p:sp>
      <p:sp>
        <p:nvSpPr>
          <p:cNvPr id="12" name="Rounded Rectangle 11"/>
          <p:cNvSpPr/>
          <p:nvPr/>
        </p:nvSpPr>
        <p:spPr>
          <a:xfrm>
            <a:off x="1463040" y="1645920"/>
            <a:ext cx="1051560" cy="256032"/>
          </a:xfrm>
          <a:prstGeom prst="roundRect">
            <a:avLst>
              <a:gd name="adj" fmla="val 50000"/>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Operator</a:t>
            </a:r>
          </a:p>
        </p:txBody>
      </p:sp>
      <p:sp>
        <p:nvSpPr>
          <p:cNvPr id="13" name="TextBox 12"/>
          <p:cNvSpPr txBox="1"/>
          <p:nvPr/>
        </p:nvSpPr>
        <p:spPr>
          <a:xfrm>
            <a:off x="640080" y="2286000"/>
            <a:ext cx="5029200" cy="914400"/>
          </a:xfrm>
          <a:prstGeom prst="rect">
            <a:avLst/>
          </a:prstGeom>
          <a:noFill/>
        </p:spPr>
        <p:txBody>
          <a:bodyPr wrap="square" anchor="t" lIns="0" rIns="0" tIns="0" bIns="0">
            <a:spAutoFit/>
          </a:bodyPr>
          <a:lstStyle/>
          <a:p>
            <a:pPr algn="l">
              <a:spcAft>
                <a:spcPts val="400"/>
              </a:spcAft>
            </a:pPr>
            <a:r>
              <a:rPr sz="2400">
                <a:solidFill>
                  <a:srgbClr val="1F2328"/>
                </a:solidFill>
                <a:latin typeface="+mj-lt"/>
              </a:rPr>
              <a:t>Manage RackAI toward MOE-0, then MOE-1</a:t>
            </a:r>
          </a:p>
        </p:txBody>
      </p:sp>
      <p:sp>
        <p:nvSpPr>
          <p:cNvPr id="14" name="TextBox 13"/>
          <p:cNvSpPr txBox="1"/>
          <p:nvPr/>
        </p:nvSpPr>
        <p:spPr>
          <a:xfrm>
            <a:off x="640080" y="3337560"/>
            <a:ext cx="502920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NEXT ACTIONS</a:t>
            </a:r>
          </a:p>
        </p:txBody>
      </p:sp>
      <p:sp>
        <p:nvSpPr>
          <p:cNvPr id="15" name="TextBox 14"/>
          <p:cNvSpPr txBox="1"/>
          <p:nvPr/>
        </p:nvSpPr>
        <p:spPr>
          <a:xfrm>
            <a:off x="640080" y="3657600"/>
            <a:ext cx="5029200" cy="1371600"/>
          </a:xfrm>
          <a:prstGeom prst="rect">
            <a:avLst/>
          </a:prstGeom>
          <a:noFill/>
        </p:spPr>
        <p:txBody>
          <a:bodyPr wrap="square" anchor="t" lIns="0" rIns="0" tIns="0" bIns="0">
            <a:spAutoFit/>
          </a:bodyPr>
          <a:lstStyle/>
          <a:p>
            <a:pPr algn="l">
              <a:spcAft>
                <a:spcPts val="600"/>
              </a:spcAft>
            </a:pPr>
            <a:r>
              <a:rPr sz="1600">
                <a:solidFill>
                  <a:srgbClr val="1F2328"/>
                </a:solidFill>
              </a:rPr>
              <a:t>– Name MOE-0 and its date</a:t>
            </a:r>
          </a:p>
          <a:p>
            <a:pPr algn="l">
              <a:spcAft>
                <a:spcPts val="600"/>
              </a:spcAft>
            </a:pPr>
            <a:r>
              <a:rPr sz="1600">
                <a:solidFill>
                  <a:srgbClr val="1F2328"/>
                </a:solidFill>
              </a:rPr>
              <a:t>– Draft the MOE-1 customer profile</a:t>
            </a:r>
          </a:p>
          <a:p>
            <a:pPr algn="l">
              <a:spcAft>
                <a:spcPts val="600"/>
              </a:spcAft>
            </a:pPr>
            <a:r>
              <a:rPr sz="1600">
                <a:solidFill>
                  <a:srgbClr val="1F2328"/>
                </a:solidFill>
              </a:rPr>
              <a:t>– Owners for the cost model and supply interface</a:t>
            </a:r>
          </a:p>
        </p:txBody>
      </p:sp>
      <p:sp>
        <p:nvSpPr>
          <p:cNvPr id="16" name="Rounded Rectangle 15"/>
          <p:cNvSpPr/>
          <p:nvPr/>
        </p:nvSpPr>
        <p:spPr>
          <a:xfrm>
            <a:off x="6172200" y="1188720"/>
            <a:ext cx="5623560" cy="3931920"/>
          </a:xfrm>
          <a:prstGeom prst="roundRect">
            <a:avLst>
              <a:gd name="adj" fmla="val 6000"/>
            </a:avLst>
          </a:prstGeom>
          <a:solidFill>
            <a:schemeClr val="bg1"/>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sp>
        <p:nvSpPr>
          <p:cNvPr id="17" name="Oval 16"/>
          <p:cNvSpPr/>
          <p:nvPr/>
        </p:nvSpPr>
        <p:spPr>
          <a:xfrm>
            <a:off x="6446520" y="1463040"/>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400"/>
              </a:spcAft>
            </a:pPr>
            <a:r>
              <a:rPr sz="2400">
                <a:solidFill>
                  <a:schemeClr val="bg1"/>
                </a:solidFill>
                <a:latin typeface="+mj-lt"/>
              </a:rPr>
              <a:t>2</a:t>
            </a:r>
          </a:p>
        </p:txBody>
      </p:sp>
      <p:sp>
        <p:nvSpPr>
          <p:cNvPr id="18" name="Rounded Rectangle 17"/>
          <p:cNvSpPr/>
          <p:nvPr/>
        </p:nvSpPr>
        <p:spPr>
          <a:xfrm>
            <a:off x="7269480" y="1645920"/>
            <a:ext cx="1188720" cy="256032"/>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400"/>
              </a:spcAft>
            </a:pPr>
            <a:r>
              <a:rPr sz="1000">
                <a:solidFill>
                  <a:schemeClr val="bg1"/>
                </a:solidFill>
                <a:latin typeface="+mj-lt"/>
              </a:rPr>
              <a:t>Sovereign</a:t>
            </a:r>
          </a:p>
        </p:txBody>
      </p:sp>
      <p:sp>
        <p:nvSpPr>
          <p:cNvPr id="19" name="TextBox 18"/>
          <p:cNvSpPr txBox="1"/>
          <p:nvPr/>
        </p:nvSpPr>
        <p:spPr>
          <a:xfrm>
            <a:off x="6446520" y="2286000"/>
            <a:ext cx="5029200" cy="914400"/>
          </a:xfrm>
          <a:prstGeom prst="rect">
            <a:avLst/>
          </a:prstGeom>
          <a:noFill/>
        </p:spPr>
        <p:txBody>
          <a:bodyPr wrap="square" anchor="t" lIns="0" rIns="0" tIns="0" bIns="0">
            <a:spAutoFit/>
          </a:bodyPr>
          <a:lstStyle/>
          <a:p>
            <a:pPr algn="l">
              <a:spcAft>
                <a:spcPts val="400"/>
              </a:spcAft>
            </a:pPr>
            <a:r>
              <a:rPr sz="2400">
                <a:solidFill>
                  <a:srgbClr val="1F2328"/>
                </a:solidFill>
                <a:latin typeface="+mj-lt"/>
              </a:rPr>
              <a:t>Agree what MI350P proves first, and who owns each link</a:t>
            </a:r>
          </a:p>
        </p:txBody>
      </p:sp>
      <p:sp>
        <p:nvSpPr>
          <p:cNvPr id="20" name="TextBox 19"/>
          <p:cNvSpPr txBox="1"/>
          <p:nvPr/>
        </p:nvSpPr>
        <p:spPr>
          <a:xfrm>
            <a:off x="6446520" y="3337560"/>
            <a:ext cx="5029200" cy="274320"/>
          </a:xfrm>
          <a:prstGeom prst="rect">
            <a:avLst/>
          </a:prstGeom>
          <a:noFill/>
        </p:spPr>
        <p:txBody>
          <a:bodyPr wrap="square" anchor="t" lIns="0" rIns="0" tIns="0" bIns="0">
            <a:spAutoFit/>
          </a:bodyPr>
          <a:lstStyle/>
          <a:p>
            <a:pPr algn="l">
              <a:spcAft>
                <a:spcPts val="400"/>
              </a:spcAft>
            </a:pPr>
            <a:r>
              <a:rPr sz="1100">
                <a:solidFill>
                  <a:srgbClr val="5F6670"/>
                </a:solidFill>
                <a:latin typeface="+mj-lt"/>
              </a:rPr>
              <a:t>NEXT ACTIONS</a:t>
            </a:r>
          </a:p>
        </p:txBody>
      </p:sp>
      <p:sp>
        <p:nvSpPr>
          <p:cNvPr id="21" name="TextBox 20"/>
          <p:cNvSpPr txBox="1"/>
          <p:nvPr/>
        </p:nvSpPr>
        <p:spPr>
          <a:xfrm>
            <a:off x="6446520" y="3657600"/>
            <a:ext cx="5029200" cy="1371600"/>
          </a:xfrm>
          <a:prstGeom prst="rect">
            <a:avLst/>
          </a:prstGeom>
          <a:noFill/>
        </p:spPr>
        <p:txBody>
          <a:bodyPr wrap="square" anchor="t" lIns="0" rIns="0" tIns="0" bIns="0">
            <a:spAutoFit/>
          </a:bodyPr>
          <a:lstStyle/>
          <a:p>
            <a:pPr algn="l">
              <a:spcAft>
                <a:spcPts val="600"/>
              </a:spcAft>
            </a:pPr>
            <a:r>
              <a:rPr sz="1600">
                <a:solidFill>
                  <a:srgbClr val="1F2328"/>
                </a:solidFill>
              </a:rPr>
              <a:t>– Infra confirms the topology</a:t>
            </a:r>
          </a:p>
          <a:p>
            <a:pPr algn="l">
              <a:spcAft>
                <a:spcPts val="600"/>
              </a:spcAft>
            </a:pPr>
            <a:r>
              <a:rPr sz="1600">
                <a:solidFill>
                  <a:srgbClr val="1F2328"/>
                </a:solidFill>
              </a:rPr>
              <a:t>– Agree the AMD reference</a:t>
            </a:r>
          </a:p>
          <a:p>
            <a:pPr algn="l">
              <a:spcAft>
                <a:spcPts val="600"/>
              </a:spcAft>
            </a:pPr>
            <a:r>
              <a:rPr sz="1600">
                <a:solidFill>
                  <a:srgbClr val="1F2328"/>
                </a:solidFill>
              </a:rPr>
              <a:t>– Set the SLO owner and date</a:t>
            </a:r>
          </a:p>
        </p:txBody>
      </p:sp>
      <p:sp>
        <p:nvSpPr>
          <p:cNvPr id="22" name="Rounded Rectangle 21"/>
          <p:cNvSpPr/>
          <p:nvPr/>
        </p:nvSpPr>
        <p:spPr>
          <a:xfrm>
            <a:off x="365760" y="5394960"/>
            <a:ext cx="11430000" cy="822960"/>
          </a:xfrm>
          <a:prstGeom prst="roundRect">
            <a:avLst>
              <a:gd name="adj" fmla="val 12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ctr"/>
          </a:p>
        </p:txBody>
      </p:sp>
      <p:pic>
        <p:nvPicPr>
          <p:cNvPr id="23" name="Picture 22" descr="link_k.png"/>
          <p:cNvPicPr>
            <a:picLocks noChangeAspect="1"/>
          </p:cNvPicPr>
          <p:nvPr/>
        </p:nvPicPr>
        <p:blipFill>
          <a:blip r:embed="rId2"/>
          <a:stretch>
            <a:fillRect/>
          </a:stretch>
        </p:blipFill>
        <p:spPr>
          <a:xfrm>
            <a:off x="640080" y="5596128"/>
            <a:ext cx="411480" cy="411480"/>
          </a:xfrm>
          <a:prstGeom prst="rect">
            <a:avLst/>
          </a:prstGeom>
        </p:spPr>
      </p:pic>
      <p:sp>
        <p:nvSpPr>
          <p:cNvPr id="24" name="TextBox 23"/>
          <p:cNvSpPr txBox="1"/>
          <p:nvPr/>
        </p:nvSpPr>
        <p:spPr>
          <a:xfrm>
            <a:off x="1234440" y="5440680"/>
            <a:ext cx="10332720" cy="731520"/>
          </a:xfrm>
          <a:prstGeom prst="rect">
            <a:avLst/>
          </a:prstGeom>
          <a:noFill/>
        </p:spPr>
        <p:txBody>
          <a:bodyPr wrap="square" anchor="ctr" lIns="0" rIns="0" tIns="0" bIns="0">
            <a:spAutoFit/>
          </a:bodyPr>
          <a:lstStyle/>
          <a:p>
            <a:pPr algn="l">
              <a:spcAft>
                <a:spcPts val="400"/>
              </a:spcAft>
            </a:pPr>
            <a:r>
              <a:rPr sz="1600">
                <a:solidFill>
                  <a:srgbClr val="1F2328"/>
                </a:solidFill>
                <a:latin typeface="+mj-lt"/>
              </a:rPr>
              <a:t>One shared dependency: the cost model. </a:t>
            </a:r>
            <a:r>
              <a:rPr sz="1600">
                <a:solidFill>
                  <a:srgbClr val="1F2328"/>
                </a:solidFill>
              </a:rPr>
              <a:t>Until it exists, MI350P economics and every margin figure stay labelled "assumed".</a:t>
            </a:r>
          </a:p>
        </p:txBody>
      </p:sp>
    </p:spTree>
  </p:cSld>
  <p:clrMapOvr>
    <a:masterClrMapping/>
  </p:clrMapOvr>
</p:sld>
</file>

<file path=ppt/theme/theme1.xml><?xml version="1.0" encoding="utf-8"?>
<a:theme xmlns:a="http://schemas.openxmlformats.org/drawingml/2006/main" name="Content Slides">
  <a:themeElements>
    <a:clrScheme name="Rackspace 2026 ">
      <a:dk1>
        <a:srgbClr val="000000"/>
      </a:dk1>
      <a:lt1>
        <a:srgbClr val="FFFFFF"/>
      </a:lt1>
      <a:dk2>
        <a:srgbClr val="000000"/>
      </a:dk2>
      <a:lt2>
        <a:srgbClr val="F1F1F1"/>
      </a:lt2>
      <a:accent1>
        <a:srgbClr val="EB0000"/>
      </a:accent1>
      <a:accent2>
        <a:srgbClr val="95098A"/>
      </a:accent2>
      <a:accent3>
        <a:srgbClr val="0059C8"/>
      </a:accent3>
      <a:accent4>
        <a:srgbClr val="FEE8ED"/>
      </a:accent4>
      <a:accent5>
        <a:srgbClr val="E1F0FA"/>
      </a:accent5>
      <a:accent6>
        <a:srgbClr val="F9E6F8"/>
      </a:accent6>
      <a:hlink>
        <a:srgbClr val="EB0000"/>
      </a:hlink>
      <a:folHlink>
        <a:srgbClr val="EB0000"/>
      </a:folHlink>
    </a:clrScheme>
    <a:fontScheme name="Rackspace Aptos">
      <a:majorFont>
        <a:latin typeface="Aptos SemiBold"/>
        <a:ea typeface=""/>
        <a:cs typeface=""/>
      </a:majorFont>
      <a:minorFont>
        <a:latin typeface="Apto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1_Titles and Breakers">
  <a:themeElements>
    <a:clrScheme name="Custom 64">
      <a:dk1>
        <a:srgbClr val="000000"/>
      </a:dk1>
      <a:lt1>
        <a:srgbClr val="FFFFFF"/>
      </a:lt1>
      <a:dk2>
        <a:srgbClr val="EB0000"/>
      </a:dk2>
      <a:lt2>
        <a:srgbClr val="EB0000"/>
      </a:lt2>
      <a:accent1>
        <a:srgbClr val="E6E6E6"/>
      </a:accent1>
      <a:accent2>
        <a:srgbClr val="95008A"/>
      </a:accent2>
      <a:accent3>
        <a:srgbClr val="F6D7F4"/>
      </a:accent3>
      <a:accent4>
        <a:srgbClr val="0058C8"/>
      </a:accent4>
      <a:accent5>
        <a:srgbClr val="E8F2FD"/>
      </a:accent5>
      <a:accent6>
        <a:srgbClr val="00C8BC"/>
      </a:accent6>
      <a:hlink>
        <a:srgbClr val="EB0000"/>
      </a:hlink>
      <a:folHlink>
        <a:srgbClr val="EA0001"/>
      </a:folHlink>
    </a:clrScheme>
    <a:fontScheme name="Rackspace Aptos">
      <a:majorFont>
        <a:latin typeface="Aptos SemiBold"/>
        <a:ea typeface=""/>
        <a:cs typeface=""/>
      </a:majorFont>
      <a:minorFont>
        <a:latin typeface="Apto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FD326D73C67344A8C29105EB432AD6C" ma:contentTypeVersion="1" ma:contentTypeDescription="Create a new document." ma:contentTypeScope="" ma:versionID="23b714b96cd8928c66384d6071089a24">
  <xsd:schema xmlns:xsd="http://www.w3.org/2001/XMLSchema" xmlns:xs="http://www.w3.org/2001/XMLSchema" xmlns:p="http://schemas.microsoft.com/office/2006/metadata/properties" xmlns:ns1="http://schemas.microsoft.com/sharepoint/v3" targetNamespace="http://schemas.microsoft.com/office/2006/metadata/properties" ma:root="true" ma:fieldsID="48c5b5cd9b8d25ff6dd15848836f4270"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AAEEFA-AAF2-4C9B-A431-2549B0747BF4}">
  <ds:schemaRefs>
    <ds:schemaRef ds:uri="http://schemas.microsoft.com/sharepoint/v3/contenttype/forms"/>
  </ds:schemaRefs>
</ds:datastoreItem>
</file>

<file path=customXml/itemProps2.xml><?xml version="1.0" encoding="utf-8"?>
<ds:datastoreItem xmlns:ds="http://schemas.openxmlformats.org/officeDocument/2006/customXml" ds:itemID="{B89F961D-86E7-463C-B09D-E3314B2C6EB5}">
  <ds:schemaRef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schemas.microsoft.com/office/2006/documentManagement/types"/>
    <ds:schemaRef ds:uri="http://www.w3.org/XML/1998/namespace"/>
    <ds:schemaRef ds:uri="http://purl.org/dc/terms/"/>
    <ds:schemaRef ds:uri="http://schemas.microsoft.com/sharepoint/v3"/>
    <ds:schemaRef ds:uri="http://purl.org/dc/dcmitype/"/>
  </ds:schemaRefs>
</ds:datastoreItem>
</file>

<file path=customXml/itemProps3.xml><?xml version="1.0" encoding="utf-8"?>
<ds:datastoreItem xmlns:ds="http://schemas.openxmlformats.org/officeDocument/2006/customXml" ds:itemID="{AFA8E9E6-19B7-4925-9E3E-DD685C683B0B}">
  <ds:schemaRefs>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7f09a8f-df31-4464-b100-d09a5dbff5c8}" enabled="1" method="Privileged" siteId="{570057f4-73ef-41c8-bcbb-08db2fc15c2b}" removed="0"/>
</clbl:labelList>
</file>

<file path=docProps/app.xml><?xml version="1.0" encoding="utf-8"?>
<Properties xmlns="http://schemas.openxmlformats.org/officeDocument/2006/extended-properties" xmlns:vt="http://schemas.openxmlformats.org/officeDocument/2006/docPropsVTypes">
  <Template>Content Slides</Template>
  <TotalTime>18123</TotalTime>
  <Words>5079</Words>
  <Application>Microsoft Office PowerPoint</Application>
  <PresentationFormat>Widescreen</PresentationFormat>
  <Paragraphs>508</Paragraphs>
  <Slides>26</Slides>
  <Notes>23</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26</vt:i4>
      </vt:variant>
    </vt:vector>
  </HeadingPairs>
  <TitlesOfParts>
    <vt:vector size="35" baseType="lpstr">
      <vt:lpstr>Aptos</vt:lpstr>
      <vt:lpstr>Calibri</vt:lpstr>
      <vt:lpstr>Fira Sans Light</vt:lpstr>
      <vt:lpstr>Fira Sans</vt:lpstr>
      <vt:lpstr>Aptos SemiBold</vt:lpstr>
      <vt:lpstr>Aptos Light</vt:lpstr>
      <vt:lpstr>Arial</vt:lpstr>
      <vt:lpstr>Content Slides</vt:lpstr>
      <vt:lpstr>1_Titles and Breakers</vt:lpstr>
      <vt:lpstr>Rackspace Private Cloud</vt:lpstr>
      <vt:lpstr>25+ years of managed cloud experience built for private cloud operations</vt:lpstr>
      <vt:lpstr>A changing VMware market makes managed private cloud more valuable</vt:lpstr>
      <vt:lpstr>A complete private cloud stack from infrastructure to managed services</vt:lpstr>
      <vt:lpstr>A complete private cloud stack from infrastructure to managed services</vt:lpstr>
      <vt:lpstr>Three purpose-built clouds give workloads the right operating model</vt:lpstr>
      <vt:lpstr>Choose the platform based on workloads, not applications</vt:lpstr>
      <vt:lpstr>Managed services keep the platform current and operational </vt:lpstr>
      <vt:lpstr>Move workloads with a migration path built around your starting point</vt:lpstr>
      <vt:lpstr>Match workload characteristics to the right platform</vt:lpstr>
      <vt:lpstr>PowerPoint Presentation</vt:lpstr>
      <vt:lpstr>PowerPoint Presentation</vt:lpstr>
      <vt:lpstr>Rackspace Cloud: VMware without the wait</vt:lpstr>
      <vt:lpstr>Rackspace Enterprise Cloud:  dedicated infrastructure managed as a service</vt:lpstr>
      <vt:lpstr>Rackspace Edge Cloud:  VMware at every site, managed as one fleet </vt:lpstr>
      <vt:lpstr>Rackspace Cloud gives you predictable, elastic consumption</vt:lpstr>
      <vt:lpstr>VMs and Kubernetes can run side by side on the same platform</vt:lpstr>
      <vt:lpstr>Platform services extend what you can do beyond VMs</vt:lpstr>
      <vt:lpstr>Rackspace Cloud can support specialized industry workloads</vt:lpstr>
      <vt:lpstr>Attach the managed services your environment needs</vt:lpstr>
      <vt:lpstr>The platform is standardized for fleet-scale operations</vt:lpstr>
      <vt:lpstr>Connect to Rackspace Cloud the way your environment requires</vt:lpstr>
      <vt:lpstr>Support and service levels are part of the operating model</vt:lpstr>
      <vt:lpstr>Rackspace differentiates on managed operations and accountability</vt:lpstr>
      <vt:lpstr>Legacy Rackspace platforms have a defined succession path</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Rackspace Technology template</dc:title>
  <dc:subject/>
  <dc:creator>Diane Kramer</dc:creator>
  <cp:keywords/>
  <dc:description/>
  <cp:lastModifiedBy>Edward Kerr</cp:lastModifiedBy>
  <cp:revision>180</cp:revision>
  <dcterms:created xsi:type="dcterms:W3CDTF">2022-08-11T21:20:29Z</dcterms:created>
  <dcterms:modified xsi:type="dcterms:W3CDTF">2026-10-08T03:44:13Z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0x0101002FD326D73C67344A8C29105EB432AD6C</vt:lpwstr>
  </property>
</Properties>
</file>